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3"/>
  </p:notesMasterIdLst>
  <p:sldIdLst>
    <p:sldId id="295" r:id="rId2"/>
    <p:sldId id="294" r:id="rId3"/>
    <p:sldId id="257" r:id="rId4"/>
    <p:sldId id="258" r:id="rId5"/>
    <p:sldId id="264" r:id="rId6"/>
    <p:sldId id="290" r:id="rId7"/>
    <p:sldId id="296" r:id="rId8"/>
    <p:sldId id="291" r:id="rId9"/>
    <p:sldId id="293" r:id="rId10"/>
    <p:sldId id="277" r:id="rId11"/>
    <p:sldId id="263" r:id="rId1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4" roundtripDataSignature="AMtx7mg3/yEUrFg+T1cuKXwJ1UZK9y6yA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99" autoAdjust="0"/>
    <p:restoredTop sz="94703"/>
  </p:normalViewPr>
  <p:slideViewPr>
    <p:cSldViewPr snapToGrid="0">
      <p:cViewPr varScale="1">
        <p:scale>
          <a:sx n="83" d="100"/>
          <a:sy n="83" d="100"/>
        </p:scale>
        <p:origin x="840" y="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9" Type="http://schemas.microsoft.com/office/2016/11/relationships/changesInfo" Target="changesInfos/changesInfo1.xml"/><Relationship Id="rId3" Type="http://schemas.openxmlformats.org/officeDocument/2006/relationships/slide" Target="slides/slide2.xml"/><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38"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7" Type="http://schemas.openxmlformats.org/officeDocument/2006/relationships/theme" Target="theme/theme1.xml"/><Relationship Id="rId5" Type="http://schemas.openxmlformats.org/officeDocument/2006/relationships/slide" Target="slides/slide4.xml"/><Relationship Id="rId36"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35"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shan preet" userId="5d993f95d0221c34" providerId="LiveId" clId="{FB4480D6-6E15-43EB-B810-42EC1AB31657}"/>
    <pc:docChg chg="modSld">
      <pc:chgData name="jashan preet" userId="5d993f95d0221c34" providerId="LiveId" clId="{FB4480D6-6E15-43EB-B810-42EC1AB31657}" dt="2025-11-16T16:35:55.142" v="8" actId="20577"/>
      <pc:docMkLst>
        <pc:docMk/>
      </pc:docMkLst>
      <pc:sldChg chg="modSp mod">
        <pc:chgData name="jashan preet" userId="5d993f95d0221c34" providerId="LiveId" clId="{FB4480D6-6E15-43EB-B810-42EC1AB31657}" dt="2025-11-16T16:35:55.142" v="8" actId="20577"/>
        <pc:sldMkLst>
          <pc:docMk/>
          <pc:sldMk cId="3601245663" sldId="291"/>
        </pc:sldMkLst>
        <pc:spChg chg="mod">
          <ac:chgData name="jashan preet" userId="5d993f95d0221c34" providerId="LiveId" clId="{FB4480D6-6E15-43EB-B810-42EC1AB31657}" dt="2025-11-16T16:35:55.142" v="8" actId="20577"/>
          <ac:spMkLst>
            <pc:docMk/>
            <pc:sldMk cId="3601245663" sldId="291"/>
            <ac:spMk id="6" creationId="{8E50E2F5-0707-2371-6F6F-FB593F809616}"/>
          </ac:spMkLst>
        </pc:spChg>
      </pc:sldChg>
      <pc:sldChg chg="modSp mod">
        <pc:chgData name="jashan preet" userId="5d993f95d0221c34" providerId="LiveId" clId="{FB4480D6-6E15-43EB-B810-42EC1AB31657}" dt="2025-11-16T16:35:35.402" v="2" actId="20577"/>
        <pc:sldMkLst>
          <pc:docMk/>
          <pc:sldMk cId="3139965764" sldId="295"/>
        </pc:sldMkLst>
        <pc:spChg chg="mod">
          <ac:chgData name="jashan preet" userId="5d993f95d0221c34" providerId="LiveId" clId="{FB4480D6-6E15-43EB-B810-42EC1AB31657}" dt="2025-11-16T16:35:35.402" v="2" actId="20577"/>
          <ac:spMkLst>
            <pc:docMk/>
            <pc:sldMk cId="3139965764" sldId="295"/>
            <ac:spMk id="3" creationId="{697500CF-63E0-2918-F936-87F130CA4E7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rgbClr val="000000"/>
                </a:buClr>
                <a:buSzPts val="1200"/>
                <a:buFont typeface="Arial"/>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50" name="Google Shape;50;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58" name="Google Shape;5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66" name="Google Shape;66;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66" name="Google Shape;66;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654423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2c78129218a_0_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98" name="Google Shape;98;g2c78129218a_0_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pic>
        <p:nvPicPr>
          <p:cNvPr id="25" name="Google Shape;25;p8" descr="LOGO.gif"/>
          <p:cNvPicPr preferRelativeResize="0"/>
          <p:nvPr/>
        </p:nvPicPr>
        <p:blipFill rotWithShape="1">
          <a:blip r:embed="rId2">
            <a:alphaModFix/>
          </a:blip>
          <a:srcRect b="10713"/>
          <a:stretch/>
        </p:blipFill>
        <p:spPr>
          <a:xfrm>
            <a:off x="6553200" y="228600"/>
            <a:ext cx="2057400" cy="635000"/>
          </a:xfrm>
          <a:prstGeom prst="rect">
            <a:avLst/>
          </a:prstGeom>
          <a:noFill/>
          <a:ln>
            <a:noFill/>
          </a:ln>
        </p:spPr>
      </p:pic>
      <p:grpSp>
        <p:nvGrpSpPr>
          <p:cNvPr id="26" name="Google Shape;26;p8"/>
          <p:cNvGrpSpPr/>
          <p:nvPr/>
        </p:nvGrpSpPr>
        <p:grpSpPr>
          <a:xfrm>
            <a:off x="6146800" y="0"/>
            <a:ext cx="2997200" cy="876300"/>
            <a:chOff x="6096000" y="3924300"/>
            <a:chExt cx="2997200" cy="876300"/>
          </a:xfrm>
        </p:grpSpPr>
        <p:sp>
          <p:nvSpPr>
            <p:cNvPr id="27" name="Google Shape;27;p8"/>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8" name="Google Shape;28;p8" descr="LOGO.gif"/>
            <p:cNvPicPr preferRelativeResize="0"/>
            <p:nvPr/>
          </p:nvPicPr>
          <p:blipFill rotWithShape="1">
            <a:blip r:embed="rId2">
              <a:alphaModFix/>
            </a:blip>
            <a:srcRect b="10713"/>
            <a:stretch/>
          </p:blipFill>
          <p:spPr>
            <a:xfrm>
              <a:off x="6502400" y="4152900"/>
              <a:ext cx="2057400" cy="635000"/>
            </a:xfrm>
            <a:prstGeom prst="rect">
              <a:avLst/>
            </a:prstGeom>
            <a:noFill/>
            <a:ln>
              <a:noFill/>
            </a:ln>
          </p:spPr>
        </p:pic>
        <p:sp>
          <p:nvSpPr>
            <p:cNvPr id="29" name="Google Shape;29;p8"/>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pic>
        <p:nvPicPr>
          <p:cNvPr id="30" name="Google Shape;30;p8" descr="logo.jpg"/>
          <p:cNvPicPr preferRelativeResize="0"/>
          <p:nvPr/>
        </p:nvPicPr>
        <p:blipFill rotWithShape="1">
          <a:blip r:embed="rId3">
            <a:alphaModFix/>
          </a:blip>
          <a:srcRect/>
          <a:stretch/>
        </p:blipFill>
        <p:spPr>
          <a:xfrm>
            <a:off x="6553200" y="228600"/>
            <a:ext cx="1920875" cy="609600"/>
          </a:xfrm>
          <a:prstGeom prst="rect">
            <a:avLst/>
          </a:prstGeom>
          <a:noFill/>
          <a:ln>
            <a:noFill/>
          </a:ln>
        </p:spPr>
      </p:pic>
      <p:sp>
        <p:nvSpPr>
          <p:cNvPr id="31" name="Google Shape;31;p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2" name="Google Shape;32;p8"/>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3" name="Google Shape;33;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8"/>
          <p:cNvSpPr txBox="1">
            <a:spLocks noGrp="1"/>
          </p:cNvSpPr>
          <p:nvPr>
            <p:ph type="ftr" idx="11"/>
          </p:nvPr>
        </p:nvSpPr>
        <p:spPr>
          <a:xfrm>
            <a:off x="3211606" y="6356349"/>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9pPr>
          </a:lstStyle>
          <a:p>
            <a:endParaRPr/>
          </a:p>
        </p:txBody>
      </p:sp>
      <p:sp>
        <p:nvSpPr>
          <p:cNvPr id="11" name="Google Shape;11;p7"/>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15" name="Google Shape;15;p7"/>
          <p:cNvSpPr/>
          <p:nvPr/>
        </p:nvSpPr>
        <p:spPr>
          <a:xfrm>
            <a:off x="0" y="0"/>
            <a:ext cx="91440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 name="Google Shape;16;p7"/>
          <p:cNvSpPr/>
          <p:nvPr/>
        </p:nvSpPr>
        <p:spPr>
          <a:xfrm rot="10800000" flipH="1">
            <a:off x="0" y="6705600"/>
            <a:ext cx="9144000" cy="19811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7" name="Google Shape;17;p7" descr="LOGO.gif"/>
          <p:cNvPicPr preferRelativeResize="0"/>
          <p:nvPr/>
        </p:nvPicPr>
        <p:blipFill rotWithShape="1">
          <a:blip r:embed="rId3">
            <a:alphaModFix/>
          </a:blip>
          <a:srcRect b="10713"/>
          <a:stretch/>
        </p:blipFill>
        <p:spPr>
          <a:xfrm>
            <a:off x="6553200" y="228600"/>
            <a:ext cx="2057400" cy="635000"/>
          </a:xfrm>
          <a:prstGeom prst="rect">
            <a:avLst/>
          </a:prstGeom>
          <a:noFill/>
          <a:ln>
            <a:noFill/>
          </a:ln>
        </p:spPr>
      </p:pic>
      <p:pic>
        <p:nvPicPr>
          <p:cNvPr id="18" name="Google Shape;18;p7" descr="LOGO.gif"/>
          <p:cNvPicPr preferRelativeResize="0"/>
          <p:nvPr/>
        </p:nvPicPr>
        <p:blipFill rotWithShape="1">
          <a:blip r:embed="rId3">
            <a:alphaModFix/>
          </a:blip>
          <a:srcRect b="10713"/>
          <a:stretch/>
        </p:blipFill>
        <p:spPr>
          <a:xfrm>
            <a:off x="6553200" y="228600"/>
            <a:ext cx="2057400" cy="635000"/>
          </a:xfrm>
          <a:prstGeom prst="rect">
            <a:avLst/>
          </a:prstGeom>
          <a:noFill/>
          <a:ln>
            <a:noFill/>
          </a:ln>
        </p:spPr>
      </p:pic>
      <p:grpSp>
        <p:nvGrpSpPr>
          <p:cNvPr id="19" name="Google Shape;19;p7"/>
          <p:cNvGrpSpPr/>
          <p:nvPr/>
        </p:nvGrpSpPr>
        <p:grpSpPr>
          <a:xfrm>
            <a:off x="6146800" y="0"/>
            <a:ext cx="2997200" cy="876300"/>
            <a:chOff x="6096000" y="3924300"/>
            <a:chExt cx="2997200" cy="876300"/>
          </a:xfrm>
        </p:grpSpPr>
        <p:sp>
          <p:nvSpPr>
            <p:cNvPr id="20" name="Google Shape;20;p7"/>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1" name="Google Shape;21;p7" descr="LOGO.gif"/>
            <p:cNvPicPr preferRelativeResize="0"/>
            <p:nvPr/>
          </p:nvPicPr>
          <p:blipFill rotWithShape="1">
            <a:blip r:embed="rId3">
              <a:alphaModFix/>
            </a:blip>
            <a:srcRect b="10713"/>
            <a:stretch/>
          </p:blipFill>
          <p:spPr>
            <a:xfrm>
              <a:off x="6502400" y="4152900"/>
              <a:ext cx="2057400" cy="635000"/>
            </a:xfrm>
            <a:prstGeom prst="rect">
              <a:avLst/>
            </a:prstGeom>
            <a:noFill/>
            <a:ln>
              <a:noFill/>
            </a:ln>
          </p:spPr>
        </p:pic>
        <p:sp>
          <p:nvSpPr>
            <p:cNvPr id="22" name="Google Shape;22;p7"/>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pic>
        <p:nvPicPr>
          <p:cNvPr id="23" name="Google Shape;23;p7" descr="logo.jpg"/>
          <p:cNvPicPr preferRelativeResize="0"/>
          <p:nvPr/>
        </p:nvPicPr>
        <p:blipFill rotWithShape="1">
          <a:blip r:embed="rId4">
            <a:alphaModFix/>
          </a:blip>
          <a:srcRect/>
          <a:stretch/>
        </p:blipFill>
        <p:spPr>
          <a:xfrm>
            <a:off x="6553200" y="228600"/>
            <a:ext cx="1920875" cy="6096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hyperlink" Target="https://www.geeksforgeeks.org/web-tech/what-is-web-socket-and-how-it-is-different-from-the-http/" TargetMode="External"/><Relationship Id="rId3" Type="http://schemas.openxmlformats.org/officeDocument/2006/relationships/hyperlink" Target="https://expressjs.com/" TargetMode="External"/><Relationship Id="rId7" Type="http://schemas.openxmlformats.org/officeDocument/2006/relationships/hyperlink" Target="https://www.w3schools.com/"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hyperlink" Target="https://www.mongodb.com/" TargetMode="External"/><Relationship Id="rId5" Type="http://schemas.openxmlformats.org/officeDocument/2006/relationships/hyperlink" Target="https://developer.mozilla.org/" TargetMode="External"/><Relationship Id="rId4" Type="http://schemas.openxmlformats.org/officeDocument/2006/relationships/hyperlink" Target="https://ejs.co/" TargetMode="External"/><Relationship Id="rId9" Type="http://schemas.openxmlformats.org/officeDocument/2006/relationships/hyperlink" Target="https://www.geeksforgeeks.org/system-design/caching-system-design-concept-for-beginners/"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7500CF-63E0-2918-F936-87F130CA4E7B}"/>
              </a:ext>
            </a:extLst>
          </p:cNvPr>
          <p:cNvSpPr>
            <a:spLocks noGrp="1"/>
          </p:cNvSpPr>
          <p:nvPr>
            <p:ph type="body" idx="1"/>
          </p:nvPr>
        </p:nvSpPr>
        <p:spPr>
          <a:xfrm>
            <a:off x="267855" y="923637"/>
            <a:ext cx="8552872" cy="5504869"/>
          </a:xfrm>
        </p:spPr>
        <p:txBody>
          <a:bodyPr/>
          <a:lstStyle/>
          <a:p>
            <a:pPr marL="114300" indent="0">
              <a:buNone/>
            </a:pPr>
            <a:r>
              <a:rPr lang="en-US" sz="4000" dirty="0">
                <a:latin typeface="Times New Roman" panose="02020603050405020304" pitchFamily="18" charset="0"/>
                <a:cs typeface="Times New Roman" panose="02020603050405020304" pitchFamily="18" charset="0"/>
              </a:rPr>
              <a:t>           BEE Continuous Evaluation – II</a:t>
            </a:r>
            <a:r>
              <a:rPr lang="en-US" sz="3600" dirty="0"/>
              <a:t>              </a:t>
            </a:r>
          </a:p>
          <a:p>
            <a:pPr marL="114300" indent="0">
              <a:buNone/>
            </a:pPr>
            <a:r>
              <a:rPr lang="en-US" sz="3600" dirty="0"/>
              <a:t>                            </a:t>
            </a:r>
            <a:r>
              <a:rPr lang="en-US" sz="2400" b="1" dirty="0">
                <a:latin typeface="Times New Roman" panose="02020603050405020304" pitchFamily="18" charset="0"/>
                <a:cs typeface="Times New Roman" panose="02020603050405020304" pitchFamily="18" charset="0"/>
              </a:rPr>
              <a:t>Learn Sphere</a:t>
            </a:r>
          </a:p>
          <a:p>
            <a:pPr marL="114300" indent="0">
              <a:buNone/>
            </a:pPr>
            <a:endParaRPr lang="en-US" dirty="0"/>
          </a:p>
          <a:p>
            <a:pPr marL="114300" indent="0">
              <a:buNone/>
            </a:pPr>
            <a:endParaRPr lang="en-US" dirty="0"/>
          </a:p>
          <a:p>
            <a:pPr marL="114300" indent="0">
              <a:buNone/>
            </a:pPr>
            <a:endParaRPr lang="en-US" dirty="0"/>
          </a:p>
          <a:p>
            <a:pPr marL="114300" indent="0">
              <a:buNone/>
            </a:pPr>
            <a:endParaRPr lang="en-US" dirty="0"/>
          </a:p>
          <a:p>
            <a:pPr marL="114300" indent="0">
              <a:buNone/>
            </a:pPr>
            <a:r>
              <a:rPr lang="en-IN" sz="1800" b="1" dirty="0">
                <a:latin typeface="Times New Roman" panose="02020603050405020304" pitchFamily="18" charset="0"/>
                <a:cs typeface="Times New Roman" panose="02020603050405020304" pitchFamily="18" charset="0"/>
              </a:rPr>
              <a:t>Submitted to :                                                            Submitted by :</a:t>
            </a:r>
          </a:p>
          <a:p>
            <a:pPr marL="114300" indent="0">
              <a:buNone/>
            </a:pPr>
            <a:r>
              <a:rPr lang="en-IN" sz="1800" dirty="0">
                <a:latin typeface="Times New Roman" panose="02020603050405020304" pitchFamily="18" charset="0"/>
                <a:cs typeface="Times New Roman" panose="02020603050405020304" pitchFamily="18" charset="0"/>
              </a:rPr>
              <a:t>Mrs. Gurtej Kaur			                       Tanuj Thour                  2310991147</a:t>
            </a:r>
          </a:p>
          <a:p>
            <a:pPr marL="114300" indent="0">
              <a:buNone/>
            </a:pPr>
            <a:r>
              <a:rPr lang="en-IN" sz="1800" dirty="0">
                <a:latin typeface="Times New Roman" panose="02020603050405020304" pitchFamily="18" charset="0"/>
                <a:cs typeface="Times New Roman" panose="02020603050405020304" pitchFamily="18" charset="0"/>
              </a:rPr>
              <a:t>                                                                                     Aditya Kochhar             2310991511</a:t>
            </a:r>
          </a:p>
          <a:p>
            <a:pPr marL="114300" indent="0">
              <a:buNone/>
            </a:pPr>
            <a:r>
              <a:rPr lang="en-IN" sz="1800" dirty="0">
                <a:latin typeface="Times New Roman" panose="02020603050405020304" pitchFamily="18" charset="0"/>
                <a:cs typeface="Times New Roman" panose="02020603050405020304" pitchFamily="18" charset="0"/>
              </a:rPr>
              <a:t>                                                                                     Jashanpreet Kaur Aujla 2310991522</a:t>
            </a:r>
          </a:p>
          <a:p>
            <a:pPr marL="114300" indent="0">
              <a:buNone/>
            </a:pPr>
            <a:r>
              <a:rPr lang="en-IN" sz="1800" dirty="0">
                <a:latin typeface="Times New Roman" panose="02020603050405020304" pitchFamily="18" charset="0"/>
                <a:cs typeface="Times New Roman" panose="02020603050405020304" pitchFamily="18" charset="0"/>
              </a:rPr>
              <a:t>                                                                                     Parul  Rana                    2310992333</a:t>
            </a:r>
          </a:p>
        </p:txBody>
      </p:sp>
      <p:sp>
        <p:nvSpPr>
          <p:cNvPr id="4" name="Slide Number Placeholder 3">
            <a:extLst>
              <a:ext uri="{FF2B5EF4-FFF2-40B4-BE49-F238E27FC236}">
                <a16:creationId xmlns:a16="http://schemas.microsoft.com/office/drawing/2014/main" id="{24236E9B-38E9-121C-202E-CB56EE99808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a:t>
            </a:fld>
            <a:endParaRPr lang="en-US"/>
          </a:p>
        </p:txBody>
      </p:sp>
      <p:sp>
        <p:nvSpPr>
          <p:cNvPr id="5" name="Rectangle 1">
            <a:extLst>
              <a:ext uri="{FF2B5EF4-FFF2-40B4-BE49-F238E27FC236}">
                <a16:creationId xmlns:a16="http://schemas.microsoft.com/office/drawing/2014/main" id="{8AC5FD78-3BD9-B33E-2543-45C2FA8621E8}"/>
              </a:ext>
            </a:extLst>
          </p:cNvPr>
          <p:cNvSpPr>
            <a:spLocks noChangeArrowheads="1"/>
          </p:cNvSpPr>
          <p:nvPr/>
        </p:nvSpPr>
        <p:spPr bwMode="auto">
          <a:xfrm>
            <a:off x="0" y="92363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6" name="Rectangle 2">
            <a:extLst>
              <a:ext uri="{FF2B5EF4-FFF2-40B4-BE49-F238E27FC236}">
                <a16:creationId xmlns:a16="http://schemas.microsoft.com/office/drawing/2014/main" id="{F89C7465-0885-0433-91A7-0D10B86069DD}"/>
              </a:ext>
            </a:extLst>
          </p:cNvPr>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7" name="Rectangle 3">
            <a:extLst>
              <a:ext uri="{FF2B5EF4-FFF2-40B4-BE49-F238E27FC236}">
                <a16:creationId xmlns:a16="http://schemas.microsoft.com/office/drawing/2014/main" id="{E14D5D9B-8D20-B7C2-5FBF-62160F61FD85}"/>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8" name="Picture 7">
            <a:extLst>
              <a:ext uri="{FF2B5EF4-FFF2-40B4-BE49-F238E27FC236}">
                <a16:creationId xmlns:a16="http://schemas.microsoft.com/office/drawing/2014/main" id="{27CC7711-24EF-5B95-C113-04B5F33CE33C}"/>
              </a:ext>
            </a:extLst>
          </p:cNvPr>
          <p:cNvPicPr>
            <a:picLocks noChangeAspect="1"/>
          </p:cNvPicPr>
          <p:nvPr/>
        </p:nvPicPr>
        <p:blipFill>
          <a:blip r:embed="rId2"/>
          <a:stretch>
            <a:fillRect/>
          </a:stretch>
        </p:blipFill>
        <p:spPr>
          <a:xfrm>
            <a:off x="3534655" y="2391655"/>
            <a:ext cx="1360073" cy="1360073"/>
          </a:xfrm>
          <a:prstGeom prst="rect">
            <a:avLst/>
          </a:prstGeom>
        </p:spPr>
      </p:pic>
    </p:spTree>
    <p:extLst>
      <p:ext uri="{BB962C8B-B14F-4D97-AF65-F5344CB8AC3E}">
        <p14:creationId xmlns:p14="http://schemas.microsoft.com/office/powerpoint/2010/main" val="31399657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1BC48-B6A8-0185-6A83-6F0AAE9D63CF}"/>
              </a:ext>
            </a:extLst>
          </p:cNvPr>
          <p:cNvSpPr>
            <a:spLocks noGrp="1"/>
          </p:cNvSpPr>
          <p:nvPr>
            <p:ph type="title"/>
          </p:nvPr>
        </p:nvSpPr>
        <p:spPr/>
        <p:txBody>
          <a:bodyPr/>
          <a:lstStyle/>
          <a:p>
            <a:r>
              <a:rPr lang="en-US" dirty="0"/>
              <a:t>Table of Content</a:t>
            </a:r>
            <a:endParaRPr lang="en-IN" dirty="0"/>
          </a:p>
        </p:txBody>
      </p:sp>
      <p:sp>
        <p:nvSpPr>
          <p:cNvPr id="4" name="Slide Number Placeholder 3">
            <a:extLst>
              <a:ext uri="{FF2B5EF4-FFF2-40B4-BE49-F238E27FC236}">
                <a16:creationId xmlns:a16="http://schemas.microsoft.com/office/drawing/2014/main" id="{61899C6F-9E3D-C6D3-C175-ACC710B581C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a:t>
            </a:fld>
            <a:endParaRPr lang="en-US"/>
          </a:p>
        </p:txBody>
      </p:sp>
      <p:sp>
        <p:nvSpPr>
          <p:cNvPr id="6" name="Text Placeholder 5">
            <a:extLst>
              <a:ext uri="{FF2B5EF4-FFF2-40B4-BE49-F238E27FC236}">
                <a16:creationId xmlns:a16="http://schemas.microsoft.com/office/drawing/2014/main" id="{8595BEBD-8276-DB47-F134-0DB0F1E52E88}"/>
              </a:ext>
            </a:extLst>
          </p:cNvPr>
          <p:cNvSpPr txBox="1">
            <a:spLocks noGrp="1"/>
          </p:cNvSpPr>
          <p:nvPr>
            <p:ph type="body" idx="1"/>
          </p:nvPr>
        </p:nvSpPr>
        <p:spPr>
          <a:xfrm>
            <a:off x="153681" y="1321654"/>
            <a:ext cx="8533119" cy="5539938"/>
          </a:xfrm>
          <a:prstGeom prst="rect">
            <a:avLst/>
          </a:prstGeom>
          <a:noFill/>
        </p:spPr>
        <p:txBody>
          <a:bodyPr wrap="square" rtlCol="0">
            <a:spAutoFit/>
          </a:bodyPr>
          <a:lstStyle/>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Introduction</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Objectives</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Problem Statement</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Features</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Future scope</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References</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Conclusion</a:t>
            </a:r>
          </a:p>
          <a:p>
            <a:pPr marL="457200" indent="-457200">
              <a:lnSpc>
                <a:spcPct val="150000"/>
              </a:lnSpc>
              <a:buFont typeface="+mj-lt"/>
              <a:buAutoNum type="arabicPeriod"/>
            </a:pPr>
            <a:endParaRPr lang="en-US" sz="2400"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03870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1"/>
          <p:cNvSpPr txBox="1">
            <a:spLocks noGrp="1"/>
          </p:cNvSpPr>
          <p:nvPr>
            <p:ph type="title"/>
          </p:nvPr>
        </p:nvSpPr>
        <p:spPr>
          <a:xfrm>
            <a:off x="1611086" y="-27175"/>
            <a:ext cx="5159828" cy="819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solidFill>
                  <a:srgbClr val="0C0C0C"/>
                </a:solidFill>
                <a:latin typeface="Times New Roman"/>
                <a:ea typeface="Times New Roman"/>
                <a:cs typeface="Times New Roman"/>
                <a:sym typeface="Times New Roman"/>
              </a:rPr>
              <a:t>Introduction</a:t>
            </a:r>
          </a:p>
        </p:txBody>
      </p:sp>
      <p:sp>
        <p:nvSpPr>
          <p:cNvPr id="53" name="Google Shape;53;p1"/>
          <p:cNvSpPr txBox="1">
            <a:spLocks noGrp="1"/>
          </p:cNvSpPr>
          <p:nvPr>
            <p:ph type="body" idx="1"/>
          </p:nvPr>
        </p:nvSpPr>
        <p:spPr>
          <a:xfrm>
            <a:off x="164891" y="1064301"/>
            <a:ext cx="8717852" cy="5334891"/>
          </a:xfrm>
          <a:prstGeom prst="rect">
            <a:avLst/>
          </a:prstGeom>
          <a:noFill/>
          <a:ln>
            <a:noFill/>
          </a:ln>
        </p:spPr>
        <p:txBody>
          <a:bodyPr spcFirstLastPara="1" wrap="square" lIns="91425" tIns="45700" rIns="91425" bIns="45700" anchor="t" anchorCtr="0">
            <a:noAutofit/>
          </a:bodyPr>
          <a:lstStyle/>
          <a:p>
            <a:pPr marL="114300" indent="0" algn="just">
              <a:buNone/>
            </a:pPr>
            <a:r>
              <a:rPr lang="en-US" sz="1800" dirty="0">
                <a:latin typeface="Times New Roman" panose="02020603050405020304" pitchFamily="18" charset="0"/>
                <a:cs typeface="Times New Roman" panose="02020603050405020304" pitchFamily="18" charset="0"/>
              </a:rPr>
              <a:t>The proposed project is a central platform where students and teachers can upload, manage, and share study materials in one organized place. In many colleges, notes and assignments are shared on WhatsApp, Google Drive, or emails, which makes it hard for students to find the right material when they need it. This platform solves that problem by keeping all study resources arranged properly by semester, subject, and course for quick and easy access.</a:t>
            </a:r>
          </a:p>
          <a:p>
            <a:pPr marL="114300" indent="0" algn="just">
              <a:buNone/>
            </a:pPr>
            <a:endParaRPr lang="en-US" sz="1800" dirty="0">
              <a:latin typeface="Times New Roman" panose="02020603050405020304" pitchFamily="18" charset="0"/>
              <a:cs typeface="Times New Roman" panose="02020603050405020304" pitchFamily="18" charset="0"/>
            </a:endParaRPr>
          </a:p>
          <a:p>
            <a:pPr marL="114300" indent="0" algn="just">
              <a:buNone/>
            </a:pPr>
            <a:r>
              <a:rPr lang="en-US" sz="1800" dirty="0">
                <a:latin typeface="Times New Roman" panose="02020603050405020304" pitchFamily="18" charset="0"/>
                <a:cs typeface="Times New Roman" panose="02020603050405020304" pitchFamily="18" charset="0"/>
              </a:rPr>
              <a:t>The system includes several features to make it faster and more helpful. </a:t>
            </a:r>
            <a:r>
              <a:rPr lang="en-US" sz="1800" b="1" dirty="0">
                <a:latin typeface="Times New Roman" panose="02020603050405020304" pitchFamily="18" charset="0"/>
                <a:cs typeface="Times New Roman" panose="02020603050405020304" pitchFamily="18" charset="0"/>
              </a:rPr>
              <a:t>Redis caching</a:t>
            </a:r>
            <a:r>
              <a:rPr lang="en-US" sz="1800" dirty="0">
                <a:latin typeface="Times New Roman" panose="02020603050405020304" pitchFamily="18" charset="0"/>
                <a:cs typeface="Times New Roman" panose="02020603050405020304" pitchFamily="18" charset="0"/>
              </a:rPr>
              <a:t> helps the website to load study materials quickly, and </a:t>
            </a:r>
            <a:r>
              <a:rPr lang="en-US" sz="1800" b="1" dirty="0" err="1">
                <a:latin typeface="Times New Roman" panose="02020603050405020304" pitchFamily="18" charset="0"/>
                <a:cs typeface="Times New Roman" panose="02020603050405020304" pitchFamily="18" charset="0"/>
              </a:rPr>
              <a:t>WebSockets</a:t>
            </a:r>
            <a:r>
              <a:rPr lang="en-US" sz="1800" dirty="0">
                <a:latin typeface="Times New Roman" panose="02020603050405020304" pitchFamily="18" charset="0"/>
                <a:cs typeface="Times New Roman" panose="02020603050405020304" pitchFamily="18" charset="0"/>
              </a:rPr>
              <a:t> send real-time notifications to students when new notes are uploaded. Students can also use </a:t>
            </a:r>
            <a:r>
              <a:rPr lang="en-US" sz="1800" b="1" dirty="0">
                <a:latin typeface="Times New Roman" panose="02020603050405020304" pitchFamily="18" charset="0"/>
                <a:cs typeface="Times New Roman" panose="02020603050405020304" pitchFamily="18" charset="0"/>
              </a:rPr>
              <a:t>advanced search and filters</a:t>
            </a:r>
            <a:r>
              <a:rPr lang="en-US" sz="1800" dirty="0">
                <a:latin typeface="Times New Roman" panose="02020603050405020304" pitchFamily="18" charset="0"/>
                <a:cs typeface="Times New Roman" panose="02020603050405020304" pitchFamily="18" charset="0"/>
              </a:rPr>
              <a:t> to find notes easily. Features like </a:t>
            </a:r>
            <a:r>
              <a:rPr lang="en-US" sz="1800" b="1" dirty="0">
                <a:latin typeface="Times New Roman" panose="02020603050405020304" pitchFamily="18" charset="0"/>
                <a:cs typeface="Times New Roman" panose="02020603050405020304" pitchFamily="18" charset="0"/>
              </a:rPr>
              <a:t>file preview</a:t>
            </a: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download history</a:t>
            </a: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dark mode</a:t>
            </a: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reporting broken files</a:t>
            </a:r>
            <a:r>
              <a:rPr lang="en-US" sz="1800" dirty="0">
                <a:latin typeface="Times New Roman" panose="02020603050405020304" pitchFamily="18" charset="0"/>
                <a:cs typeface="Times New Roman" panose="02020603050405020304" pitchFamily="18" charset="0"/>
              </a:rPr>
              <a:t>, and </a:t>
            </a:r>
            <a:r>
              <a:rPr lang="en-US" sz="1800" b="1" dirty="0">
                <a:latin typeface="Times New Roman" panose="02020603050405020304" pitchFamily="18" charset="0"/>
                <a:cs typeface="Times New Roman" panose="02020603050405020304" pitchFamily="18" charset="0"/>
              </a:rPr>
              <a:t>version control</a:t>
            </a:r>
            <a:r>
              <a:rPr lang="en-US" sz="1800" dirty="0">
                <a:latin typeface="Times New Roman" panose="02020603050405020304" pitchFamily="18" charset="0"/>
                <a:cs typeface="Times New Roman" panose="02020603050405020304" pitchFamily="18" charset="0"/>
              </a:rPr>
              <a:t> make the platform more user-friendly.</a:t>
            </a:r>
          </a:p>
          <a:p>
            <a:pPr marL="114300" indent="0" algn="just">
              <a:buNone/>
            </a:pPr>
            <a:endParaRPr lang="en-US" sz="1800" dirty="0">
              <a:latin typeface="Times New Roman" panose="02020603050405020304" pitchFamily="18" charset="0"/>
              <a:cs typeface="Times New Roman" panose="02020603050405020304" pitchFamily="18" charset="0"/>
            </a:endParaRPr>
          </a:p>
          <a:p>
            <a:pPr marL="114300" indent="0" algn="just">
              <a:buNone/>
            </a:pPr>
            <a:r>
              <a:rPr lang="en-US" sz="1800" dirty="0">
                <a:latin typeface="Times New Roman" panose="02020603050405020304" pitchFamily="18" charset="0"/>
                <a:cs typeface="Times New Roman" panose="02020603050405020304" pitchFamily="18" charset="0"/>
              </a:rPr>
              <a:t>The platform also provides </a:t>
            </a:r>
            <a:r>
              <a:rPr lang="en-US" sz="1800" b="1" dirty="0">
                <a:latin typeface="Times New Roman" panose="02020603050405020304" pitchFamily="18" charset="0"/>
                <a:cs typeface="Times New Roman" panose="02020603050405020304" pitchFamily="18" charset="0"/>
              </a:rPr>
              <a:t>secure login</a:t>
            </a: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role-based access</a:t>
            </a:r>
            <a:r>
              <a:rPr lang="en-US" sz="1800" dirty="0">
                <a:latin typeface="Times New Roman" panose="02020603050405020304" pitchFamily="18" charset="0"/>
                <a:cs typeface="Times New Roman" panose="02020603050405020304" pitchFamily="18" charset="0"/>
              </a:rPr>
              <a:t>, and </a:t>
            </a:r>
            <a:r>
              <a:rPr lang="en-US" sz="1800" b="1" dirty="0">
                <a:latin typeface="Times New Roman" panose="02020603050405020304" pitchFamily="18" charset="0"/>
                <a:cs typeface="Times New Roman" panose="02020603050405020304" pitchFamily="18" charset="0"/>
              </a:rPr>
              <a:t>session management</a:t>
            </a:r>
            <a:r>
              <a:rPr lang="en-US" sz="1800" dirty="0">
                <a:latin typeface="Times New Roman" panose="02020603050405020304" pitchFamily="18" charset="0"/>
                <a:cs typeface="Times New Roman" panose="02020603050405020304" pitchFamily="18" charset="0"/>
              </a:rPr>
              <a:t> to keep the system safe. Admins can upload and update materials, see activity logs, and view useful statistics through an analytics dashboard. Students can simply view or download the notes they need without confusion.</a:t>
            </a:r>
          </a:p>
          <a:p>
            <a:pPr marL="114300" indent="0" algn="just">
              <a:buNone/>
            </a:pPr>
            <a:r>
              <a:rPr lang="en-US" sz="1800" dirty="0">
                <a:latin typeface="Times New Roman" panose="02020603050405020304" pitchFamily="18" charset="0"/>
                <a:cs typeface="Times New Roman" panose="02020603050405020304" pitchFamily="18" charset="0"/>
              </a:rPr>
              <a:t>By keeping all resources in one place and adding good tools that improve speed, security, and convenience, this platform makes digital learning easier and more organized for everyone.</a:t>
            </a:r>
          </a:p>
          <a:p>
            <a:pPr marL="114300" lvl="0" indent="0" algn="ctr">
              <a:buNone/>
            </a:pPr>
            <a:endParaRPr lang="en-US" sz="1400" dirty="0">
              <a:latin typeface="Times New Roman"/>
              <a:ea typeface="Times New Roman"/>
              <a:cs typeface="Times New Roman"/>
              <a:sym typeface="Times New Roman"/>
            </a:endParaRPr>
          </a:p>
        </p:txBody>
      </p:sp>
      <p:sp>
        <p:nvSpPr>
          <p:cNvPr id="54" name="Google Shape;5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pPr marL="0" lvl="0" indent="0" algn="r" rtl="0">
                <a:lnSpc>
                  <a:spcPct val="100000"/>
                </a:lnSpc>
                <a:spcBef>
                  <a:spcPts val="0"/>
                </a:spcBef>
                <a:spcAft>
                  <a:spcPts val="0"/>
                </a:spcAft>
                <a:buSzPts val="1200"/>
                <a:buNone/>
              </a:pPr>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3"/>
          <p:cNvSpPr txBox="1">
            <a:spLocks noGrp="1"/>
          </p:cNvSpPr>
          <p:nvPr>
            <p:ph type="title"/>
          </p:nvPr>
        </p:nvSpPr>
        <p:spPr>
          <a:xfrm>
            <a:off x="1959425" y="0"/>
            <a:ext cx="4517700" cy="839400"/>
          </a:xfrm>
          <a:prstGeom prst="rect">
            <a:avLst/>
          </a:prstGeom>
          <a:noFill/>
          <a:ln>
            <a:noFill/>
          </a:ln>
        </p:spPr>
        <p:txBody>
          <a:bodyPr spcFirstLastPara="1" wrap="square" lIns="91425" tIns="45700" rIns="91425" bIns="45700" anchor="ctr" anchorCtr="0">
            <a:noAutofit/>
          </a:bodyPr>
          <a:lstStyle/>
          <a:p>
            <a:pPr lvl="0"/>
            <a:r>
              <a:rPr lang="en-US" sz="2800" b="1" dirty="0">
                <a:solidFill>
                  <a:srgbClr val="0C0C0C"/>
                </a:solidFill>
                <a:latin typeface="Times New Roman"/>
                <a:ea typeface="Times New Roman"/>
                <a:cs typeface="Times New Roman"/>
                <a:sym typeface="Times New Roman"/>
              </a:rPr>
              <a:t>Objectives</a:t>
            </a:r>
            <a:endParaRPr sz="2800" b="1" dirty="0">
              <a:solidFill>
                <a:srgbClr val="0C0C0C"/>
              </a:solidFill>
              <a:latin typeface="Times New Roman"/>
              <a:ea typeface="Times New Roman"/>
              <a:cs typeface="Times New Roman"/>
              <a:sym typeface="Times New Roman"/>
            </a:endParaRPr>
          </a:p>
        </p:txBody>
      </p:sp>
      <p:sp>
        <p:nvSpPr>
          <p:cNvPr id="62" name="Google Shape;62;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pPr marL="0" lvl="0" indent="0" algn="r" rtl="0">
                <a:lnSpc>
                  <a:spcPct val="100000"/>
                </a:lnSpc>
                <a:spcBef>
                  <a:spcPts val="0"/>
                </a:spcBef>
                <a:spcAft>
                  <a:spcPts val="0"/>
                </a:spcAft>
                <a:buSzPts val="1200"/>
                <a:buNone/>
              </a:pPr>
              <a:t>4</a:t>
            </a:fld>
            <a:endParaRPr/>
          </a:p>
        </p:txBody>
      </p:sp>
      <p:sp>
        <p:nvSpPr>
          <p:cNvPr id="2" name="Text Placeholder 1">
            <a:extLst>
              <a:ext uri="{FF2B5EF4-FFF2-40B4-BE49-F238E27FC236}">
                <a16:creationId xmlns:a16="http://schemas.microsoft.com/office/drawing/2014/main" id="{6A5DB6A2-7C20-D28D-F566-60116E1DB075}"/>
              </a:ext>
            </a:extLst>
          </p:cNvPr>
          <p:cNvSpPr>
            <a:spLocks noGrp="1" noChangeArrowheads="1"/>
          </p:cNvSpPr>
          <p:nvPr>
            <p:ph type="body" idx="1"/>
          </p:nvPr>
        </p:nvSpPr>
        <p:spPr bwMode="auto">
          <a:xfrm>
            <a:off x="140110" y="974170"/>
            <a:ext cx="8809926"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provide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easy access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course materials for students and teachers.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create a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secure storage system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role-based access (admin &amp; student).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enable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quick upload, download, and search</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functionality.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maintain a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well-structured repository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of academic resources.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promote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digital learning and collaboration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sz="1800" dirty="0">
              <a:solidFill>
                <a:schemeClr val="tx1"/>
              </a:solidFill>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ClrTx/>
              <a:buSzTx/>
              <a:buFont typeface="Wingdings" panose="05000000000000000000" pitchFamily="2" charset="2"/>
              <a:buChar char="Ø"/>
            </a:pPr>
            <a:r>
              <a:rPr lang="en-US" altLang="en-US" sz="1800" dirty="0">
                <a:solidFill>
                  <a:schemeClr val="tx1"/>
                </a:solidFill>
                <a:latin typeface="Times New Roman" panose="02020603050405020304" pitchFamily="18" charset="0"/>
                <a:cs typeface="Times New Roman" panose="02020603050405020304" pitchFamily="18" charset="0"/>
              </a:rPr>
              <a:t>To provide </a:t>
            </a:r>
            <a:r>
              <a:rPr lang="en-US" altLang="en-US" sz="1800" b="1" dirty="0">
                <a:solidFill>
                  <a:schemeClr val="tx1"/>
                </a:solidFill>
                <a:latin typeface="Times New Roman" panose="02020603050405020304" pitchFamily="18" charset="0"/>
                <a:cs typeface="Times New Roman" panose="02020603050405020304" pitchFamily="18" charset="0"/>
              </a:rPr>
              <a:t>instant updates </a:t>
            </a:r>
            <a:r>
              <a:rPr lang="en-US" altLang="en-US" sz="1800" dirty="0">
                <a:solidFill>
                  <a:schemeClr val="tx1"/>
                </a:solidFill>
                <a:latin typeface="Times New Roman" panose="02020603050405020304" pitchFamily="18" charset="0"/>
                <a:cs typeface="Times New Roman" panose="02020603050405020304" pitchFamily="18" charset="0"/>
              </a:rPr>
              <a:t>without page refresh.</a:t>
            </a:r>
          </a:p>
          <a:p>
            <a:pPr marL="285750" lvl="0" indent="-285750" eaLnBrk="0" fontAlgn="base" hangingPunct="0">
              <a:spcBef>
                <a:spcPct val="0"/>
              </a:spcBef>
              <a:spcAft>
                <a:spcPct val="0"/>
              </a:spcAft>
              <a:buClrTx/>
              <a:buSzTx/>
              <a:buFont typeface="Wingdings" panose="05000000000000000000" pitchFamily="2" charset="2"/>
              <a:buChar char="Ø"/>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119A5-F06C-8041-A661-5071D85E6432}"/>
              </a:ext>
            </a:extLst>
          </p:cNvPr>
          <p:cNvSpPr>
            <a:spLocks noGrp="1"/>
          </p:cNvSpPr>
          <p:nvPr>
            <p:ph type="title"/>
          </p:nvPr>
        </p:nvSpPr>
        <p:spPr>
          <a:xfrm>
            <a:off x="1436914" y="0"/>
            <a:ext cx="5040086" cy="838200"/>
          </a:xfrm>
        </p:spPr>
        <p:txBody>
          <a:bodyPr/>
          <a:lstStyle/>
          <a:p>
            <a:r>
              <a:rPr lang="en-US" sz="2800" b="1" dirty="0">
                <a:latin typeface="Times New Roman" panose="02020603050405020304" pitchFamily="18" charset="0"/>
                <a:cs typeface="Times New Roman" panose="02020603050405020304" pitchFamily="18" charset="0"/>
              </a:rPr>
              <a:t>Problem Statement</a:t>
            </a:r>
            <a:endParaRPr lang="en-IN" sz="28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D5627567-E75D-0A0D-47F7-4EEBB8D7BC55}"/>
              </a:ext>
            </a:extLst>
          </p:cNvPr>
          <p:cNvSpPr>
            <a:spLocks noGrp="1"/>
          </p:cNvSpPr>
          <p:nvPr>
            <p:ph type="body" idx="1"/>
          </p:nvPr>
        </p:nvSpPr>
        <p:spPr>
          <a:xfrm>
            <a:off x="322728" y="1098817"/>
            <a:ext cx="7906871" cy="4638084"/>
          </a:xfrm>
        </p:spPr>
        <p:txBody>
          <a:bodyPr/>
          <a:lstStyle/>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Students face difficulty in collecting and managing study materials from multiple sources (WhatsApp, Drive, emails, etc.).</a:t>
            </a: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Lack of a centralized platform leads to </a:t>
            </a:r>
            <a:r>
              <a:rPr lang="en-US" sz="1800" b="1" dirty="0">
                <a:latin typeface="Times New Roman" panose="02020603050405020304" pitchFamily="18" charset="0"/>
                <a:cs typeface="Times New Roman" panose="02020603050405020304" pitchFamily="18" charset="0"/>
              </a:rPr>
              <a:t>disorganization and time wastage</a:t>
            </a:r>
            <a:r>
              <a:rPr lang="en-US" sz="1800" dirty="0">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Traditional sharing methods (pen drives, group chats) are inefficient.</a:t>
            </a: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No proper version control or update mechanism for study materials.</a:t>
            </a: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0BE71F4-20ED-7CAE-8D62-3B2C6B40EBA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5</a:t>
            </a:fld>
            <a:endParaRPr lang="en-US" dirty="0"/>
          </a:p>
        </p:txBody>
      </p:sp>
      <p:pic>
        <p:nvPicPr>
          <p:cNvPr id="1026" name="Picture 2">
            <a:extLst>
              <a:ext uri="{FF2B5EF4-FFF2-40B4-BE49-F238E27FC236}">
                <a16:creationId xmlns:a16="http://schemas.microsoft.com/office/drawing/2014/main" id="{D08E4F5E-B44B-AA7E-9E97-BFD280B407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8823" y="5132934"/>
            <a:ext cx="1980775" cy="11141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17906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119A5-F06C-8041-A661-5071D85E6432}"/>
              </a:ext>
            </a:extLst>
          </p:cNvPr>
          <p:cNvSpPr>
            <a:spLocks noGrp="1"/>
          </p:cNvSpPr>
          <p:nvPr>
            <p:ph type="title"/>
          </p:nvPr>
        </p:nvSpPr>
        <p:spPr>
          <a:xfrm>
            <a:off x="1698170" y="0"/>
            <a:ext cx="4778829" cy="838200"/>
          </a:xfrm>
        </p:spPr>
        <p:txBody>
          <a:bodyPr/>
          <a:lstStyle/>
          <a:p>
            <a:r>
              <a:rPr lang="en-US" sz="2800" b="1" dirty="0">
                <a:latin typeface="Times New Roman" panose="02020603050405020304" pitchFamily="18" charset="0"/>
                <a:cs typeface="Times New Roman" panose="02020603050405020304" pitchFamily="18" charset="0"/>
              </a:rPr>
              <a:t>Features</a:t>
            </a:r>
            <a:endParaRPr lang="en-IN" sz="28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D5627567-E75D-0A0D-47F7-4EEBB8D7BC55}"/>
              </a:ext>
            </a:extLst>
          </p:cNvPr>
          <p:cNvSpPr>
            <a:spLocks noGrp="1"/>
          </p:cNvSpPr>
          <p:nvPr>
            <p:ph type="body" idx="1"/>
          </p:nvPr>
        </p:nvSpPr>
        <p:spPr>
          <a:xfrm>
            <a:off x="140110" y="1052712"/>
            <a:ext cx="8635056" cy="5232827"/>
          </a:xfrm>
        </p:spPr>
        <p:txBody>
          <a:bodyPr/>
          <a:lstStyle/>
          <a:p>
            <a:pPr>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User Authentication (JWT, </a:t>
            </a:r>
            <a:r>
              <a:rPr lang="en-IN" sz="1800" b="1" dirty="0" err="1">
                <a:latin typeface="Times New Roman" panose="02020603050405020304" pitchFamily="18" charset="0"/>
                <a:cs typeface="Times New Roman" panose="02020603050405020304" pitchFamily="18" charset="0"/>
              </a:rPr>
              <a:t>bcrypt</a:t>
            </a:r>
            <a:r>
              <a:rPr lang="en-IN" sz="1800" b="1" dirty="0">
                <a:latin typeface="Times New Roman" panose="02020603050405020304" pitchFamily="18" charset="0"/>
                <a:cs typeface="Times New Roman" panose="02020603050405020304" pitchFamily="18" charset="0"/>
              </a:rPr>
              <a:t>)</a:t>
            </a:r>
            <a:r>
              <a:rPr lang="en-IN" sz="1800" dirty="0">
                <a:latin typeface="Times New Roman" panose="02020603050405020304" pitchFamily="18" charset="0"/>
                <a:cs typeface="Times New Roman" panose="02020603050405020304" pitchFamily="18" charset="0"/>
              </a:rPr>
              <a:t> → secure login for students/admins.</a:t>
            </a:r>
          </a:p>
          <a:p>
            <a:pPr>
              <a:buFont typeface="Wingdings" panose="05000000000000000000" pitchFamily="2" charset="2"/>
              <a:buChar char="Ø"/>
            </a:pPr>
            <a:endParaRPr lang="en-IN"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Role-based Access</a:t>
            </a:r>
            <a:r>
              <a:rPr lang="en-IN" sz="1800" dirty="0">
                <a:latin typeface="Times New Roman" panose="02020603050405020304" pitchFamily="18" charset="0"/>
                <a:cs typeface="Times New Roman" panose="02020603050405020304" pitchFamily="18" charset="0"/>
              </a:rPr>
              <a:t> → admins can Perform CURD operations , students can view/download the notes.</a:t>
            </a:r>
          </a:p>
          <a:p>
            <a:pPr>
              <a:buFont typeface="Wingdings" panose="05000000000000000000" pitchFamily="2" charset="2"/>
              <a:buChar char="Ø"/>
            </a:pPr>
            <a:endParaRPr lang="en-IN"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File Upload/Download</a:t>
            </a:r>
            <a:r>
              <a:rPr lang="en-IN" sz="1800" dirty="0">
                <a:latin typeface="Times New Roman" panose="02020603050405020304" pitchFamily="18" charset="0"/>
                <a:cs typeface="Times New Roman" panose="02020603050405020304" pitchFamily="18" charset="0"/>
              </a:rPr>
              <a:t> → PDFs, docs, slides, videos links.</a:t>
            </a:r>
          </a:p>
          <a:p>
            <a:pPr>
              <a:buFont typeface="Wingdings" panose="05000000000000000000" pitchFamily="2" charset="2"/>
              <a:buChar char="Ø"/>
            </a:pPr>
            <a:endParaRPr lang="en-IN"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Categorization</a:t>
            </a:r>
            <a:r>
              <a:rPr lang="en-IN" sz="1800" dirty="0">
                <a:latin typeface="Times New Roman" panose="02020603050405020304" pitchFamily="18" charset="0"/>
                <a:cs typeface="Times New Roman" panose="02020603050405020304" pitchFamily="18" charset="0"/>
              </a:rPr>
              <a:t> → by semester, subject.</a:t>
            </a:r>
          </a:p>
          <a:p>
            <a:pPr>
              <a:buFont typeface="Wingdings" panose="05000000000000000000" pitchFamily="2" charset="2"/>
              <a:buChar char="Ø"/>
            </a:pPr>
            <a:endParaRPr lang="en-IN"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Responsive UI (EJS/Bootstrap)</a:t>
            </a:r>
            <a:r>
              <a:rPr lang="en-IN" sz="1800" dirty="0">
                <a:latin typeface="Times New Roman" panose="02020603050405020304" pitchFamily="18" charset="0"/>
                <a:cs typeface="Times New Roman" panose="02020603050405020304" pitchFamily="18" charset="0"/>
              </a:rPr>
              <a:t> for smooth access across devices.</a:t>
            </a:r>
          </a:p>
          <a:p>
            <a:pPr>
              <a:buFont typeface="Wingdings" panose="05000000000000000000" pitchFamily="2" charset="2"/>
              <a:buChar char="Ø"/>
            </a:pPr>
            <a:endParaRPr lang="en-IN"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Error Handling &amp; Security</a:t>
            </a:r>
            <a:r>
              <a:rPr lang="en-IN" sz="1800" dirty="0">
                <a:latin typeface="Times New Roman" panose="02020603050405020304" pitchFamily="18" charset="0"/>
                <a:cs typeface="Times New Roman" panose="02020603050405020304" pitchFamily="18" charset="0"/>
              </a:rPr>
              <a:t> → prevent unauthorized file access.</a:t>
            </a:r>
          </a:p>
          <a:p>
            <a:pPr>
              <a:buFont typeface="Wingdings" panose="05000000000000000000" pitchFamily="2" charset="2"/>
              <a:buChar char="Ø"/>
            </a:pPr>
            <a:endParaRPr lang="en-IN"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Caching </a:t>
            </a:r>
            <a:r>
              <a:rPr lang="en-IN" sz="1800" dirty="0">
                <a:latin typeface="Times New Roman" panose="02020603050405020304" pitchFamily="18" charset="0"/>
                <a:cs typeface="Times New Roman" panose="02020603050405020304" pitchFamily="18" charset="0"/>
              </a:rPr>
              <a:t>→ To store frequently used data .</a:t>
            </a:r>
            <a:endParaRPr lang="en-IN" sz="18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IN" sz="1800" b="1" dirty="0">
              <a:latin typeface="Times New Roman" panose="02020603050405020304" pitchFamily="18" charset="0"/>
              <a:cs typeface="Times New Roman" panose="02020603050405020304" pitchFamily="18" charset="0"/>
            </a:endParaRPr>
          </a:p>
          <a:p>
            <a:pPr marL="1185863" lvl="1" indent="-28575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0BE71F4-20ED-7CAE-8D62-3B2C6B40EBA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6</a:t>
            </a:fld>
            <a:endParaRPr lang="en-US"/>
          </a:p>
        </p:txBody>
      </p:sp>
    </p:spTree>
    <p:extLst>
      <p:ext uri="{BB962C8B-B14F-4D97-AF65-F5344CB8AC3E}">
        <p14:creationId xmlns:p14="http://schemas.microsoft.com/office/powerpoint/2010/main" val="38600909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B724E-6146-EE4C-100C-A548B69D73E9}"/>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Features</a:t>
            </a:r>
            <a:endParaRPr lang="en-IN"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64D464BC-B66A-3D7C-ED2F-04C5F9DEE935}"/>
              </a:ext>
            </a:extLst>
          </p:cNvPr>
          <p:cNvSpPr>
            <a:spLocks noGrp="1"/>
          </p:cNvSpPr>
          <p:nvPr>
            <p:ph type="body" idx="1"/>
          </p:nvPr>
        </p:nvSpPr>
        <p:spPr/>
        <p:txBody>
          <a:bodyPr/>
          <a:lstStyle/>
          <a:p>
            <a:pPr>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Redis </a:t>
            </a:r>
            <a:r>
              <a:rPr lang="en-IN" sz="1800" dirty="0">
                <a:latin typeface="Times New Roman" panose="02020603050405020304" pitchFamily="18" charset="0"/>
                <a:cs typeface="Times New Roman" panose="02020603050405020304" pitchFamily="18" charset="0"/>
              </a:rPr>
              <a:t>→</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for faster content retrieval and to reduced load on MongoDB.</a:t>
            </a:r>
          </a:p>
          <a:p>
            <a:pPr>
              <a:buFont typeface="Wingdings" panose="05000000000000000000" pitchFamily="2" charset="2"/>
              <a:buChar char="Ø"/>
            </a:pPr>
            <a:endParaRPr lang="en-IN" sz="18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HTTPS (SSL Certificate Integration)</a:t>
            </a:r>
            <a:r>
              <a:rPr lang="en-IN"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 to run backend securely on HTTPS encrypted communication between client &amp; server.</a:t>
            </a:r>
            <a:endParaRPr lang="en-IN"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IN" sz="18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WebSocket</a:t>
            </a:r>
            <a:r>
              <a:rPr lang="en-IN" sz="1800" dirty="0">
                <a:latin typeface="Times New Roman" panose="02020603050405020304" pitchFamily="18" charset="0"/>
                <a:cs typeface="Times New Roman" panose="02020603050405020304" pitchFamily="18" charset="0"/>
              </a:rPr>
              <a:t> → for real-time </a:t>
            </a:r>
            <a:r>
              <a:rPr lang="en-US" sz="1800" dirty="0">
                <a:latin typeface="Times New Roman" panose="02020603050405020304" pitchFamily="18" charset="0"/>
                <a:cs typeface="Times New Roman" panose="02020603050405020304" pitchFamily="18" charset="0"/>
              </a:rPr>
              <a:t>instant updates without page refresh.</a:t>
            </a:r>
          </a:p>
          <a:p>
            <a:pPr>
              <a:buFont typeface="Wingdings" panose="05000000000000000000" pitchFamily="2" charset="2"/>
              <a:buChar char="Ø"/>
            </a:pPr>
            <a:endParaRPr lang="en-IN"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Local Storage </a:t>
            </a:r>
            <a:r>
              <a:rPr lang="en-IN" sz="1800"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to persist user preferences and authentication state in </a:t>
            </a:r>
            <a:r>
              <a:rPr lang="en-US" sz="1800" dirty="0" err="1">
                <a:latin typeface="Times New Roman" panose="02020603050405020304" pitchFamily="18" charset="0"/>
                <a:cs typeface="Times New Roman" panose="02020603050405020304" pitchFamily="18" charset="0"/>
              </a:rPr>
              <a:t>LearnSphere</a:t>
            </a:r>
            <a:r>
              <a:rPr lang="en-US" sz="1800" dirty="0">
                <a:latin typeface="Times New Roman" panose="02020603050405020304" pitchFamily="18" charset="0"/>
                <a:cs typeface="Times New Roman" panose="02020603050405020304" pitchFamily="18" charset="0"/>
              </a:rPr>
              <a:t>, ensuring a seamless experience even after browser refresh</a:t>
            </a:r>
            <a:endParaRPr lang="en-IN"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IN" sz="18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Session Storage </a:t>
            </a:r>
            <a:r>
              <a:rPr lang="en-IN" sz="1800" dirty="0">
                <a:latin typeface="Times New Roman" panose="02020603050405020304" pitchFamily="18" charset="0"/>
                <a:cs typeface="Times New Roman" panose="02020603050405020304" pitchFamily="18" charset="0"/>
              </a:rPr>
              <a:t>→ to</a:t>
            </a:r>
            <a:r>
              <a:rPr lang="en-US" sz="1800" dirty="0">
                <a:latin typeface="Times New Roman" panose="02020603050405020304" pitchFamily="18" charset="0"/>
                <a:cs typeface="Times New Roman" panose="02020603050405020304" pitchFamily="18" charset="0"/>
              </a:rPr>
              <a:t> temporarily holds sensitive session-based data in </a:t>
            </a:r>
            <a:r>
              <a:rPr lang="en-US" sz="1800" dirty="0" err="1">
                <a:latin typeface="Times New Roman" panose="02020603050405020304" pitchFamily="18" charset="0"/>
                <a:cs typeface="Times New Roman" panose="02020603050405020304" pitchFamily="18" charset="0"/>
              </a:rPr>
              <a:t>LearnSphere</a:t>
            </a:r>
            <a:r>
              <a:rPr lang="en-US" sz="1800" dirty="0">
                <a:latin typeface="Times New Roman" panose="02020603050405020304" pitchFamily="18" charset="0"/>
                <a:cs typeface="Times New Roman" panose="02020603050405020304" pitchFamily="18" charset="0"/>
              </a:rPr>
              <a:t>, providing secure and isolated user interactions during an active session</a:t>
            </a:r>
            <a:endParaRPr lang="en-IN" sz="1800" b="1" dirty="0">
              <a:latin typeface="Times New Roman" panose="02020603050405020304" pitchFamily="18"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E6AF94DA-140F-AFA7-C93D-D3CB77CEC3E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7</a:t>
            </a:fld>
            <a:endParaRPr lang="en-US"/>
          </a:p>
        </p:txBody>
      </p:sp>
    </p:spTree>
    <p:extLst>
      <p:ext uri="{BB962C8B-B14F-4D97-AF65-F5344CB8AC3E}">
        <p14:creationId xmlns:p14="http://schemas.microsoft.com/office/powerpoint/2010/main" val="3840533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119A5-F06C-8041-A661-5071D85E6432}"/>
              </a:ext>
            </a:extLst>
          </p:cNvPr>
          <p:cNvSpPr>
            <a:spLocks noGrp="1"/>
          </p:cNvSpPr>
          <p:nvPr>
            <p:ph type="title"/>
          </p:nvPr>
        </p:nvSpPr>
        <p:spPr/>
        <p:txBody>
          <a:bodyPr/>
          <a:lstStyle/>
          <a:p>
            <a:r>
              <a:rPr lang="en-US" sz="2800" b="1" dirty="0">
                <a:latin typeface="Times New Roman" panose="02020603050405020304" pitchFamily="18" charset="0"/>
                <a:cs typeface="Times New Roman" panose="02020603050405020304" pitchFamily="18" charset="0"/>
              </a:rPr>
              <a:t>            Future Scope</a:t>
            </a:r>
            <a:endParaRPr lang="en-IN" sz="2800"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0BE71F4-20ED-7CAE-8D62-3B2C6B40EBA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8</a:t>
            </a:fld>
            <a:endParaRPr lang="en-US"/>
          </a:p>
        </p:txBody>
      </p:sp>
      <p:sp>
        <p:nvSpPr>
          <p:cNvPr id="6" name="Rectangle 1">
            <a:extLst>
              <a:ext uri="{FF2B5EF4-FFF2-40B4-BE49-F238E27FC236}">
                <a16:creationId xmlns:a16="http://schemas.microsoft.com/office/drawing/2014/main" id="{8E50E2F5-0707-2371-6F6F-FB593F809616}"/>
              </a:ext>
            </a:extLst>
          </p:cNvPr>
          <p:cNvSpPr>
            <a:spLocks noGrp="1" noChangeArrowheads="1"/>
          </p:cNvSpPr>
          <p:nvPr>
            <p:ph type="body" idx="1"/>
          </p:nvPr>
        </p:nvSpPr>
        <p:spPr bwMode="auto">
          <a:xfrm>
            <a:off x="140110" y="1640422"/>
            <a:ext cx="8636854"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AWS Deployment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Host the platform on the cloud for better scalability and availability.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Admin Editing Option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Allow administrators to edit uploaded study materials directly.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Q/A Section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Enable discussion forums or comment sections for collaboration.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Academic Calendar Integration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Highlight exams, assignments, and events.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Quote of the Day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Display motivational or educational quotes daily.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Cloud Storage for Files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Use AWS S3 or Google Drive for storing uploaded materials.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12456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4"/>
          <p:cNvSpPr txBox="1">
            <a:spLocks noGrp="1"/>
          </p:cNvSpPr>
          <p:nvPr>
            <p:ph type="title"/>
          </p:nvPr>
        </p:nvSpPr>
        <p:spPr>
          <a:xfrm>
            <a:off x="1819475" y="0"/>
            <a:ext cx="4657500" cy="839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latin typeface="Times New Roman" pitchFamily="18" charset="0"/>
                <a:cs typeface="Times New Roman" pitchFamily="18" charset="0"/>
              </a:rPr>
              <a:t>References</a:t>
            </a:r>
            <a:endParaRPr sz="2800" b="1" dirty="0">
              <a:solidFill>
                <a:srgbClr val="0C0C0C"/>
              </a:solidFill>
              <a:latin typeface="Times New Roman" pitchFamily="18" charset="0"/>
              <a:ea typeface="Times New Roman"/>
              <a:cs typeface="Times New Roman" pitchFamily="18" charset="0"/>
              <a:sym typeface="Times New Roman"/>
            </a:endParaRPr>
          </a:p>
        </p:txBody>
      </p:sp>
      <p:sp>
        <p:nvSpPr>
          <p:cNvPr id="69" name="Google Shape;69;p4"/>
          <p:cNvSpPr txBox="1">
            <a:spLocks noGrp="1"/>
          </p:cNvSpPr>
          <p:nvPr>
            <p:ph type="body" idx="1"/>
          </p:nvPr>
        </p:nvSpPr>
        <p:spPr>
          <a:xfrm>
            <a:off x="1" y="835568"/>
            <a:ext cx="9144000" cy="5781132"/>
          </a:xfrm>
          <a:prstGeom prst="rect">
            <a:avLst/>
          </a:prstGeom>
          <a:noFill/>
          <a:ln>
            <a:noFill/>
          </a:ln>
        </p:spPr>
        <p:txBody>
          <a:bodyPr spcFirstLastPara="1" wrap="square" lIns="91425" tIns="45700" rIns="91425" bIns="45700" anchor="t" anchorCtr="0">
            <a:noAutofit/>
          </a:bodyPr>
          <a:lstStyle/>
          <a:p>
            <a:pPr lvl="0"/>
            <a:r>
              <a:rPr lang="en-IN" sz="1800" dirty="0">
                <a:latin typeface="Times New Roman" panose="02020603050405020304" pitchFamily="18" charset="0"/>
                <a:cs typeface="Times New Roman" panose="02020603050405020304" pitchFamily="18" charset="0"/>
              </a:rPr>
              <a:t>Express.js. (n.d.). </a:t>
            </a:r>
            <a:r>
              <a:rPr lang="en-IN" sz="1800" i="1" dirty="0">
                <a:latin typeface="Times New Roman" panose="02020603050405020304" pitchFamily="18" charset="0"/>
                <a:cs typeface="Times New Roman" panose="02020603050405020304" pitchFamily="18" charset="0"/>
              </a:rPr>
              <a:t>Express - Node.js web application framework</a:t>
            </a:r>
            <a:r>
              <a:rPr lang="en-IN" sz="1800" dirty="0">
                <a:latin typeface="Times New Roman" panose="02020603050405020304" pitchFamily="18" charset="0"/>
                <a:cs typeface="Times New Roman" panose="02020603050405020304" pitchFamily="18" charset="0"/>
              </a:rPr>
              <a:t>. Retrieved from </a:t>
            </a:r>
            <a:r>
              <a:rPr lang="en-IN" sz="1800" u="sng" dirty="0">
                <a:latin typeface="Times New Roman" panose="02020603050405020304" pitchFamily="18" charset="0"/>
                <a:cs typeface="Times New Roman" panose="02020603050405020304" pitchFamily="18" charset="0"/>
                <a:hlinkClick r:id="rId3"/>
              </a:rPr>
              <a:t>https://expressjs.com</a:t>
            </a:r>
            <a:endParaRPr lang="en-IN" sz="1800" dirty="0">
              <a:latin typeface="Times New Roman" panose="02020603050405020304" pitchFamily="18" charset="0"/>
              <a:cs typeface="Times New Roman" panose="02020603050405020304" pitchFamily="18" charset="0"/>
            </a:endParaRPr>
          </a:p>
          <a:p>
            <a:pPr lvl="0"/>
            <a:r>
              <a:rPr lang="en-IN" sz="1800" dirty="0">
                <a:latin typeface="Times New Roman" panose="02020603050405020304" pitchFamily="18" charset="0"/>
                <a:cs typeface="Times New Roman" panose="02020603050405020304" pitchFamily="18" charset="0"/>
              </a:rPr>
              <a:t>EJS. (n.d.). </a:t>
            </a:r>
            <a:r>
              <a:rPr lang="en-IN" sz="1800" i="1" dirty="0">
                <a:latin typeface="Times New Roman" panose="02020603050405020304" pitchFamily="18" charset="0"/>
                <a:cs typeface="Times New Roman" panose="02020603050405020304" pitchFamily="18" charset="0"/>
              </a:rPr>
              <a:t>Embedded JavaScript templating</a:t>
            </a:r>
            <a:r>
              <a:rPr lang="en-IN" sz="1800" dirty="0">
                <a:latin typeface="Times New Roman" panose="02020603050405020304" pitchFamily="18" charset="0"/>
                <a:cs typeface="Times New Roman" panose="02020603050405020304" pitchFamily="18" charset="0"/>
              </a:rPr>
              <a:t>. Retrieved from </a:t>
            </a:r>
            <a:r>
              <a:rPr lang="en-IN" sz="1800" u="sng" dirty="0">
                <a:latin typeface="Times New Roman" panose="02020603050405020304" pitchFamily="18" charset="0"/>
                <a:cs typeface="Times New Roman" panose="02020603050405020304" pitchFamily="18" charset="0"/>
                <a:hlinkClick r:id="rId4"/>
              </a:rPr>
              <a:t>https://ejs.co</a:t>
            </a:r>
            <a:endParaRPr lang="en-IN" sz="1800" dirty="0">
              <a:latin typeface="Times New Roman" panose="02020603050405020304" pitchFamily="18" charset="0"/>
              <a:cs typeface="Times New Roman" panose="02020603050405020304" pitchFamily="18" charset="0"/>
            </a:endParaRPr>
          </a:p>
          <a:p>
            <a:pPr lvl="0"/>
            <a:r>
              <a:rPr lang="en-IN" sz="1800" dirty="0">
                <a:latin typeface="Times New Roman" panose="02020603050405020304" pitchFamily="18" charset="0"/>
                <a:cs typeface="Times New Roman" panose="02020603050405020304" pitchFamily="18" charset="0"/>
              </a:rPr>
              <a:t>MDN Web Docs. (n.d.). </a:t>
            </a:r>
            <a:r>
              <a:rPr lang="en-IN" sz="1800" i="1" dirty="0">
                <a:latin typeface="Times New Roman" panose="02020603050405020304" pitchFamily="18" charset="0"/>
                <a:cs typeface="Times New Roman" panose="02020603050405020304" pitchFamily="18" charset="0"/>
              </a:rPr>
              <a:t>HTML, CSS, and JavaScript tutorials</a:t>
            </a:r>
            <a:r>
              <a:rPr lang="en-IN" sz="1800" dirty="0">
                <a:latin typeface="Times New Roman" panose="02020603050405020304" pitchFamily="18" charset="0"/>
                <a:cs typeface="Times New Roman" panose="02020603050405020304" pitchFamily="18" charset="0"/>
              </a:rPr>
              <a:t>. Retrieved from </a:t>
            </a:r>
            <a:r>
              <a:rPr lang="en-IN" sz="1800" u="sng" dirty="0">
                <a:latin typeface="Times New Roman" panose="02020603050405020304" pitchFamily="18" charset="0"/>
                <a:cs typeface="Times New Roman" panose="02020603050405020304" pitchFamily="18" charset="0"/>
                <a:hlinkClick r:id="rId5"/>
              </a:rPr>
              <a:t>https://developer.mozilla.org</a:t>
            </a:r>
            <a:endParaRPr lang="en-IN" sz="1800" dirty="0">
              <a:latin typeface="Times New Roman" panose="02020603050405020304" pitchFamily="18" charset="0"/>
              <a:cs typeface="Times New Roman" panose="02020603050405020304" pitchFamily="18" charset="0"/>
            </a:endParaRPr>
          </a:p>
          <a:p>
            <a:pPr lvl="0"/>
            <a:r>
              <a:rPr lang="en-IN" sz="1800" dirty="0">
                <a:latin typeface="Times New Roman" panose="02020603050405020304" pitchFamily="18" charset="0"/>
                <a:cs typeface="Times New Roman" panose="02020603050405020304" pitchFamily="18" charset="0"/>
              </a:rPr>
              <a:t>MongoDB. (n.d.). </a:t>
            </a:r>
            <a:r>
              <a:rPr lang="en-IN" sz="1800" i="1" dirty="0">
                <a:latin typeface="Times New Roman" panose="02020603050405020304" pitchFamily="18" charset="0"/>
                <a:cs typeface="Times New Roman" panose="02020603050405020304" pitchFamily="18" charset="0"/>
              </a:rPr>
              <a:t>The database for modern applications</a:t>
            </a:r>
            <a:r>
              <a:rPr lang="en-IN" sz="1800" dirty="0">
                <a:latin typeface="Times New Roman" panose="02020603050405020304" pitchFamily="18" charset="0"/>
                <a:cs typeface="Times New Roman" panose="02020603050405020304" pitchFamily="18" charset="0"/>
              </a:rPr>
              <a:t>. Retrieved from </a:t>
            </a:r>
            <a:r>
              <a:rPr lang="en-IN" sz="1800" u="sng" dirty="0">
                <a:latin typeface="Times New Roman" panose="02020603050405020304" pitchFamily="18" charset="0"/>
                <a:cs typeface="Times New Roman" panose="02020603050405020304" pitchFamily="18" charset="0"/>
                <a:hlinkClick r:id="rId6"/>
              </a:rPr>
              <a:t>https://www.mongodb.com</a:t>
            </a:r>
            <a:endParaRPr lang="en-IN" sz="1800" dirty="0">
              <a:latin typeface="Times New Roman" panose="02020603050405020304" pitchFamily="18" charset="0"/>
              <a:cs typeface="Times New Roman" panose="02020603050405020304" pitchFamily="18" charset="0"/>
            </a:endParaRPr>
          </a:p>
          <a:p>
            <a:pPr lvl="0"/>
            <a:r>
              <a:rPr lang="en-IN" sz="1800" dirty="0">
                <a:latin typeface="Times New Roman" panose="02020603050405020304" pitchFamily="18" charset="0"/>
                <a:cs typeface="Times New Roman" panose="02020603050405020304" pitchFamily="18" charset="0"/>
              </a:rPr>
              <a:t>Node.js. (n.d.). </a:t>
            </a:r>
            <a:r>
              <a:rPr lang="en-IN" sz="1800" i="1" dirty="0">
                <a:latin typeface="Times New Roman" panose="02020603050405020304" pitchFamily="18" charset="0"/>
                <a:cs typeface="Times New Roman" panose="02020603050405020304" pitchFamily="18" charset="0"/>
              </a:rPr>
              <a:t>Node.js documentation</a:t>
            </a:r>
            <a:r>
              <a:rPr lang="en-IN" sz="1800" dirty="0">
                <a:latin typeface="Times New Roman" panose="02020603050405020304" pitchFamily="18" charset="0"/>
                <a:cs typeface="Times New Roman" panose="02020603050405020304" pitchFamily="18" charset="0"/>
              </a:rPr>
              <a:t>. Retrieved from https://nodejs.org/en/docs</a:t>
            </a:r>
          </a:p>
          <a:p>
            <a:pPr lvl="0"/>
            <a:r>
              <a:rPr lang="en-IN" sz="1800" dirty="0">
                <a:latin typeface="Times New Roman" panose="02020603050405020304" pitchFamily="18" charset="0"/>
                <a:cs typeface="Times New Roman" panose="02020603050405020304" pitchFamily="18" charset="0"/>
              </a:rPr>
              <a:t>W3Schools. (n.d.). </a:t>
            </a:r>
            <a:r>
              <a:rPr lang="en-IN" sz="1800" i="1" dirty="0">
                <a:latin typeface="Times New Roman" panose="02020603050405020304" pitchFamily="18" charset="0"/>
                <a:cs typeface="Times New Roman" panose="02020603050405020304" pitchFamily="18" charset="0"/>
              </a:rPr>
              <a:t>Web development tutorials</a:t>
            </a:r>
            <a:r>
              <a:rPr lang="en-IN" sz="1800" dirty="0">
                <a:latin typeface="Times New Roman" panose="02020603050405020304" pitchFamily="18" charset="0"/>
                <a:cs typeface="Times New Roman" panose="02020603050405020304" pitchFamily="18" charset="0"/>
              </a:rPr>
              <a:t>. Retrieved from </a:t>
            </a:r>
            <a:r>
              <a:rPr lang="en-IN" sz="1800" u="sng" dirty="0">
                <a:latin typeface="Times New Roman" panose="02020603050405020304" pitchFamily="18" charset="0"/>
                <a:cs typeface="Times New Roman" panose="02020603050405020304" pitchFamily="18" charset="0"/>
                <a:hlinkClick r:id="rId7"/>
              </a:rPr>
              <a:t>https://www.w3schools.com</a:t>
            </a:r>
            <a:endParaRPr lang="en-IN" sz="1800" dirty="0">
              <a:latin typeface="Times New Roman" panose="02020603050405020304" pitchFamily="18" charset="0"/>
              <a:cs typeface="Times New Roman" panose="02020603050405020304" pitchFamily="18" charset="0"/>
            </a:endParaRPr>
          </a:p>
          <a:p>
            <a:pPr lvl="0"/>
            <a:r>
              <a:rPr lang="en-US" sz="1800" dirty="0">
                <a:latin typeface="Times New Roman" panose="02020603050405020304" pitchFamily="18" charset="0"/>
                <a:cs typeface="Times New Roman" panose="02020603050405020304" pitchFamily="18" charset="0"/>
              </a:rPr>
              <a:t>LetsHelp.co.in – Centralized Academic Resource Platform. </a:t>
            </a:r>
            <a:r>
              <a:rPr lang="en-US" sz="1800" i="1" dirty="0">
                <a:latin typeface="Times New Roman" panose="02020603050405020304" pitchFamily="18" charset="0"/>
                <a:cs typeface="Times New Roman" panose="02020603050405020304" pitchFamily="18" charset="0"/>
              </a:rPr>
              <a:t>Used as a reference for platform structure and file-sharing functionality.</a:t>
            </a:r>
          </a:p>
          <a:p>
            <a:r>
              <a:rPr lang="en-IN" sz="1800" dirty="0">
                <a:latin typeface="Times New Roman" panose="02020603050405020304" pitchFamily="18" charset="0"/>
                <a:cs typeface="Times New Roman" panose="02020603050405020304" pitchFamily="18" charset="0"/>
              </a:rPr>
              <a:t>For express retrieval  : </a:t>
            </a:r>
            <a:r>
              <a:rPr lang="en-IN" sz="1800" dirty="0">
                <a:latin typeface="Times New Roman" panose="02020603050405020304" pitchFamily="18" charset="0"/>
                <a:cs typeface="Times New Roman" panose="02020603050405020304" pitchFamily="18" charset="0"/>
                <a:hlinkClick r:id="rId3"/>
              </a:rPr>
              <a:t>https://expressjs.com/</a:t>
            </a:r>
            <a:r>
              <a:rPr lang="en-IN" sz="1800" dirty="0">
                <a:latin typeface="Times New Roman" panose="02020603050405020304" pitchFamily="18" charset="0"/>
                <a:cs typeface="Times New Roman" panose="02020603050405020304" pitchFamily="18" charset="0"/>
              </a:rPr>
              <a:t> </a:t>
            </a:r>
          </a:p>
          <a:p>
            <a:pPr lvl="0"/>
            <a:r>
              <a:rPr lang="en-IN" sz="1800" dirty="0">
                <a:latin typeface="Times New Roman" panose="02020603050405020304" pitchFamily="18" charset="0"/>
                <a:cs typeface="Times New Roman" panose="02020603050405020304" pitchFamily="18" charset="0"/>
                <a:hlinkClick r:id="rId8"/>
              </a:rPr>
              <a:t>https://www.geeksforgeeks.org/web-tech/what-is-web-socket-and-how-it-is-different-from-the-http/</a:t>
            </a:r>
            <a:endParaRPr lang="en-IN" sz="1800" dirty="0">
              <a:latin typeface="Times New Roman" panose="02020603050405020304" pitchFamily="18" charset="0"/>
              <a:cs typeface="Times New Roman" panose="02020603050405020304" pitchFamily="18" charset="0"/>
            </a:endParaRPr>
          </a:p>
          <a:p>
            <a:pPr lvl="0"/>
            <a:r>
              <a:rPr lang="en-IN" sz="1800" dirty="0">
                <a:latin typeface="Times New Roman" panose="02020603050405020304" pitchFamily="18" charset="0"/>
                <a:cs typeface="Times New Roman" panose="02020603050405020304" pitchFamily="18" charset="0"/>
                <a:hlinkClick r:id="rId9"/>
              </a:rPr>
              <a:t>https://www.geeksforgeeks.org/system-design/caching-system-design-concept-for-beginners/</a:t>
            </a:r>
            <a:endParaRPr lang="en-IN" sz="1800" dirty="0">
              <a:latin typeface="Times New Roman" panose="02020603050405020304" pitchFamily="18" charset="0"/>
              <a:cs typeface="Times New Roman" panose="02020603050405020304" pitchFamily="18" charset="0"/>
            </a:endParaRPr>
          </a:p>
          <a:p>
            <a:pPr lvl="0"/>
            <a:r>
              <a:rPr lang="en-IN" sz="1800" dirty="0">
                <a:latin typeface="Times New Roman" panose="02020603050405020304" pitchFamily="18" charset="0"/>
                <a:cs typeface="Times New Roman" panose="02020603050405020304" pitchFamily="18" charset="0"/>
              </a:rPr>
              <a:t>Class Notes :- https://docs.google.com/presentation/d/1da1QsYgiCDtB_Sn93A6lm_LHhIYJ1pmi/view?slide=id.p1#slide=id.p1</a:t>
            </a:r>
          </a:p>
          <a:p>
            <a:pPr lvl="0"/>
            <a:endParaRPr lang="en-IN" sz="1800" dirty="0">
              <a:latin typeface="Times New Roman" panose="02020603050405020304" pitchFamily="18" charset="0"/>
              <a:cs typeface="Times New Roman" panose="02020603050405020304" pitchFamily="18" charset="0"/>
            </a:endParaRPr>
          </a:p>
          <a:p>
            <a:pPr marL="114300" lvl="0" indent="0" algn="ctr" rtl="0">
              <a:lnSpc>
                <a:spcPct val="100000"/>
              </a:lnSpc>
              <a:spcBef>
                <a:spcPts val="360"/>
              </a:spcBef>
              <a:spcAft>
                <a:spcPts val="0"/>
              </a:spcAft>
              <a:buSzPts val="1800"/>
              <a:buNone/>
            </a:pPr>
            <a:endParaRPr sz="1800" b="1" dirty="0">
              <a:latin typeface="Times New Roman" panose="02020603050405020304" pitchFamily="18" charset="0"/>
              <a:ea typeface="Times New Roman"/>
              <a:cs typeface="Times New Roman" panose="02020603050405020304" pitchFamily="18" charset="0"/>
              <a:sym typeface="Times New Roman"/>
            </a:endParaRPr>
          </a:p>
        </p:txBody>
      </p:sp>
      <p:sp>
        <p:nvSpPr>
          <p:cNvPr id="70" name="Google Shape;70;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pPr marL="0" lvl="0" indent="0" algn="r" rtl="0">
                <a:lnSpc>
                  <a:spcPct val="100000"/>
                </a:lnSpc>
                <a:spcBef>
                  <a:spcPts val="0"/>
                </a:spcBef>
                <a:spcAft>
                  <a:spcPts val="0"/>
                </a:spcAft>
                <a:buSzPts val="1200"/>
                <a:buNone/>
              </a:pPr>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4"/>
          <p:cNvSpPr txBox="1">
            <a:spLocks noGrp="1"/>
          </p:cNvSpPr>
          <p:nvPr>
            <p:ph type="title"/>
          </p:nvPr>
        </p:nvSpPr>
        <p:spPr>
          <a:xfrm>
            <a:off x="1819475" y="0"/>
            <a:ext cx="4657500" cy="839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b="1" dirty="0">
                <a:solidFill>
                  <a:srgbClr val="0C0C0C"/>
                </a:solidFill>
                <a:latin typeface="Times New Roman"/>
                <a:ea typeface="Times New Roman"/>
                <a:cs typeface="Times New Roman"/>
                <a:sym typeface="Times New Roman"/>
              </a:rPr>
              <a:t> </a:t>
            </a:r>
            <a:r>
              <a:rPr lang="en-US" sz="2400" b="1" dirty="0">
                <a:solidFill>
                  <a:srgbClr val="0C0C0C"/>
                </a:solidFill>
                <a:latin typeface="Times New Roman"/>
                <a:ea typeface="Times New Roman"/>
                <a:cs typeface="Times New Roman"/>
                <a:sym typeface="Times New Roman"/>
              </a:rPr>
              <a:t>Conclusion</a:t>
            </a:r>
            <a:endParaRPr sz="2400" b="1" dirty="0">
              <a:solidFill>
                <a:srgbClr val="0C0C0C"/>
              </a:solidFill>
              <a:latin typeface="Times New Roman"/>
              <a:ea typeface="Times New Roman"/>
              <a:cs typeface="Times New Roman"/>
              <a:sym typeface="Times New Roman"/>
            </a:endParaRPr>
          </a:p>
        </p:txBody>
      </p:sp>
      <p:sp>
        <p:nvSpPr>
          <p:cNvPr id="70" name="Google Shape;70;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pPr marL="0" lvl="0" indent="0" algn="r" rtl="0">
                <a:lnSpc>
                  <a:spcPct val="100000"/>
                </a:lnSpc>
                <a:spcBef>
                  <a:spcPts val="0"/>
                </a:spcBef>
                <a:spcAft>
                  <a:spcPts val="0"/>
                </a:spcAft>
                <a:buSzPts val="1200"/>
                <a:buNone/>
              </a:pPr>
              <a:t>10</a:t>
            </a:fld>
            <a:endParaRPr/>
          </a:p>
        </p:txBody>
      </p:sp>
      <p:sp>
        <p:nvSpPr>
          <p:cNvPr id="4" name="TextBox 3">
            <a:extLst>
              <a:ext uri="{FF2B5EF4-FFF2-40B4-BE49-F238E27FC236}">
                <a16:creationId xmlns:a16="http://schemas.microsoft.com/office/drawing/2014/main" id="{975E7CEB-7984-F337-15C2-C7C1A4CE3609}"/>
              </a:ext>
            </a:extLst>
          </p:cNvPr>
          <p:cNvSpPr txBox="1"/>
          <p:nvPr/>
        </p:nvSpPr>
        <p:spPr>
          <a:xfrm>
            <a:off x="3756262" y="6133514"/>
            <a:ext cx="285174" cy="226392"/>
          </a:xfrm>
          <a:prstGeom prst="rect">
            <a:avLst/>
          </a:prstGeom>
          <a:noFill/>
        </p:spPr>
        <p:txBody>
          <a:bodyPr wrap="square" rtlCol="0">
            <a:spAutoFit/>
          </a:bodyPr>
          <a:lstStyle/>
          <a:p>
            <a:endParaRPr lang="en-US"/>
          </a:p>
        </p:txBody>
      </p:sp>
      <p:sp>
        <p:nvSpPr>
          <p:cNvPr id="3" name="Text Placeholder 2">
            <a:extLst>
              <a:ext uri="{FF2B5EF4-FFF2-40B4-BE49-F238E27FC236}">
                <a16:creationId xmlns:a16="http://schemas.microsoft.com/office/drawing/2014/main" id="{2582CDB2-4AFB-9290-49E4-9D293008241C}"/>
              </a:ext>
            </a:extLst>
          </p:cNvPr>
          <p:cNvSpPr>
            <a:spLocks noGrp="1" noChangeArrowheads="1"/>
          </p:cNvSpPr>
          <p:nvPr>
            <p:ph type="body" idx="1"/>
          </p:nvPr>
        </p:nvSpPr>
        <p:spPr bwMode="auto">
          <a:xfrm>
            <a:off x="61472" y="1016725"/>
            <a:ext cx="8136596"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 successfully provides a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digital repository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course materials.</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reduces dependency on scattered platforms like WhatsApp or Google Drive.</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Enhances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organization, accessibility, and collaboration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learning.</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Can be scaled into a full-fledged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learning management system (LMS)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future</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2429725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g2c78129218a_0_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pPr marL="0" lvl="0" indent="0" algn="r" rtl="0">
                <a:lnSpc>
                  <a:spcPct val="100000"/>
                </a:lnSpc>
                <a:spcBef>
                  <a:spcPts val="0"/>
                </a:spcBef>
                <a:spcAft>
                  <a:spcPts val="0"/>
                </a:spcAft>
                <a:buSzPts val="1200"/>
                <a:buNone/>
              </a:pPr>
              <a:t>11</a:t>
            </a:fld>
            <a:endParaRPr/>
          </a:p>
        </p:txBody>
      </p:sp>
      <p:pic>
        <p:nvPicPr>
          <p:cNvPr id="2050" name="Picture 2" descr="D:\ARSHIYA'S_ MATT\!Chitkara\Sem 3\ESIOT\Smart Gas leak detector\WhatsApp Image 2024-07-07 at 3.14.20 PM.jpeg"/>
          <p:cNvPicPr>
            <a:picLocks noChangeAspect="1" noChangeArrowheads="1"/>
          </p:cNvPicPr>
          <p:nvPr/>
        </p:nvPicPr>
        <p:blipFill>
          <a:blip r:embed="rId3"/>
          <a:srcRect/>
          <a:stretch>
            <a:fillRect/>
          </a:stretch>
        </p:blipFill>
        <p:spPr bwMode="auto">
          <a:xfrm>
            <a:off x="415636" y="1139612"/>
            <a:ext cx="8243456" cy="5261187"/>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972</TotalTime>
  <Words>960</Words>
  <Application>Microsoft Office PowerPoint</Application>
  <PresentationFormat>On-screen Show (4:3)</PresentationFormat>
  <Paragraphs>113</Paragraphs>
  <Slides>11</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Times New Roman</vt:lpstr>
      <vt:lpstr>Wingdings</vt:lpstr>
      <vt:lpstr>Office Theme</vt:lpstr>
      <vt:lpstr>PowerPoint Presentation</vt:lpstr>
      <vt:lpstr>Table of Content</vt:lpstr>
      <vt:lpstr>Introduction</vt:lpstr>
      <vt:lpstr>Objectives</vt:lpstr>
      <vt:lpstr>Problem Statement</vt:lpstr>
      <vt:lpstr>Features</vt:lpstr>
      <vt:lpstr>Features</vt:lpstr>
      <vt:lpstr>            Future Scope</vt:lpstr>
      <vt:lpstr>References</vt:lpstr>
      <vt:lpstr> 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jashan preet</cp:lastModifiedBy>
  <cp:revision>62</cp:revision>
  <dcterms:created xsi:type="dcterms:W3CDTF">2010-04-09T07:36:15Z</dcterms:created>
  <dcterms:modified xsi:type="dcterms:W3CDTF">2025-11-16T16:35:57Z</dcterms:modified>
</cp:coreProperties>
</file>