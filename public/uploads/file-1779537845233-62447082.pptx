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0" roundtripDataSignature="AMtx7mgQZM2iUpCrQ3LmwiILDInFgnAPz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5FC09EA-CCBD-4E77-A233-19F088ACA484}">
  <a:tblStyle styleId="{D5FC09EA-CCBD-4E77-A233-19F088ACA48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7" name="Google Shape;3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4" name="Google Shape;4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1" name="Google Shape;5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8" name="Google Shape;58;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65" name="Google Shape;6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2" name="Google Shape;7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79" name="Google Shape;7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86" name="Google Shape;86;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93" name="Google Shape;9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0" name="Google Shape;10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07" name="Google Shape;10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14" name="Google Shape;11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1" name="Google Shape;12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28" name="Google Shape;12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35" name="Google Shape;13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43" name="Google Shape;143;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49" name="Google Shape;149;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56" name="Google Shape;15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63" name="Google Shape;163;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1" name="Google Shape;17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78" name="Google Shape;17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185" name="Google Shape;185;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93" name="Google Shape;193;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0" name="Google Shape;20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07" name="Google Shape;20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14" name="Google Shape;214;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22" name="Google Shape;222;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28" name="Google Shape;228;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35" name="Google Shape;235;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2" name="Google Shape;242;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49" name="Google Shape;24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57" name="Google Shape;257;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64" name="Google Shape;264;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73" name="Google Shape;273;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79" name="Google Shape;27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86" name="Google Shape;28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293" name="Google Shape;29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0" name="Google Shape;300;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07" name="Google Shape;307;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14" name="Google Shape;314;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1" name="Google Shape;321;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28" name="Google Shape;328;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35" name="Google Shape;335;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42" name="Google Shape;342;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9" name="Google Shape;349;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50" name="Google Shape;350;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57" name="Google Shape;357;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65" name="Google Shape;365;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74" name="Google Shape;374;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7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82" name="Google Shape;382;p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7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0" name="Google Shape;390;p7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397" name="Google Shape;397;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05" name="Google Shape;405;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14" name="Google Shape;414;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21" name="Google Shape;421;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28" name="Google Shape;428;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36" name="Google Shape;436;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44" name="Google Shape;44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52" name="Google Shape;452;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59" name="Google Shape;459;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66" name="Google Shape;466;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75" name="Google Shape;475;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84" name="Google Shape;484;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6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91" name="Google Shape;491;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498" name="Google Shape;498;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6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05" name="Google Shape;505;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12" name="Google Shape;512;p6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21" name="Google Shape;521;p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6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1" name="Google Shape;531;p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6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38" name="Google Shape;538;p6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6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45" name="Google Shape;545;p6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p7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2" name="Google Shape;552;p7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59" name="Google Shape;559;p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7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400"/>
              <a:buNone/>
            </a:pPr>
            <a:r>
              <a:t/>
            </a:r>
            <a:endParaRPr/>
          </a:p>
        </p:txBody>
      </p:sp>
      <p:sp>
        <p:nvSpPr>
          <p:cNvPr id="568" name="Google Shape;568;p7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pic>
        <p:nvPicPr>
          <p:cNvPr descr="LOGO.gif" id="25" name="Google Shape;25;p71"/>
          <p:cNvPicPr preferRelativeResize="0"/>
          <p:nvPr/>
        </p:nvPicPr>
        <p:blipFill rotWithShape="1">
          <a:blip r:embed="rId2">
            <a:alphaModFix/>
          </a:blip>
          <a:srcRect b="10713" l="0" r="0" t="0"/>
          <a:stretch/>
        </p:blipFill>
        <p:spPr>
          <a:xfrm>
            <a:off x="6553200" y="228600"/>
            <a:ext cx="2057400" cy="635000"/>
          </a:xfrm>
          <a:prstGeom prst="rect">
            <a:avLst/>
          </a:prstGeom>
          <a:noFill/>
          <a:ln>
            <a:noFill/>
          </a:ln>
        </p:spPr>
      </p:pic>
      <p:grpSp>
        <p:nvGrpSpPr>
          <p:cNvPr id="26" name="Google Shape;26;p71"/>
          <p:cNvGrpSpPr/>
          <p:nvPr/>
        </p:nvGrpSpPr>
        <p:grpSpPr>
          <a:xfrm>
            <a:off x="6146800" y="0"/>
            <a:ext cx="2997200" cy="876300"/>
            <a:chOff x="6096000" y="3924300"/>
            <a:chExt cx="2997200" cy="876300"/>
          </a:xfrm>
        </p:grpSpPr>
        <p:sp>
          <p:nvSpPr>
            <p:cNvPr id="27" name="Google Shape;27;p71"/>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28" name="Google Shape;28;p71"/>
            <p:cNvPicPr preferRelativeResize="0"/>
            <p:nvPr/>
          </p:nvPicPr>
          <p:blipFill rotWithShape="1">
            <a:blip r:embed="rId2">
              <a:alphaModFix/>
            </a:blip>
            <a:srcRect b="10713" l="0" r="0" t="0"/>
            <a:stretch/>
          </p:blipFill>
          <p:spPr>
            <a:xfrm>
              <a:off x="6502400" y="4152900"/>
              <a:ext cx="2057400" cy="635000"/>
            </a:xfrm>
            <a:prstGeom prst="rect">
              <a:avLst/>
            </a:prstGeom>
            <a:noFill/>
            <a:ln>
              <a:noFill/>
            </a:ln>
          </p:spPr>
        </p:pic>
        <p:sp>
          <p:nvSpPr>
            <p:cNvPr id="29" name="Google Shape;29;p71"/>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30" name="Google Shape;30;p71"/>
          <p:cNvPicPr preferRelativeResize="0"/>
          <p:nvPr/>
        </p:nvPicPr>
        <p:blipFill rotWithShape="1">
          <a:blip r:embed="rId3">
            <a:alphaModFix/>
          </a:blip>
          <a:srcRect b="0" l="0" r="0" t="0"/>
          <a:stretch/>
        </p:blipFill>
        <p:spPr>
          <a:xfrm>
            <a:off x="6553200" y="228600"/>
            <a:ext cx="1920875" cy="609600"/>
          </a:xfrm>
          <a:prstGeom prst="rect">
            <a:avLst/>
          </a:prstGeom>
          <a:noFill/>
          <a:ln>
            <a:noFill/>
          </a:ln>
        </p:spPr>
      </p:pic>
      <p:sp>
        <p:nvSpPr>
          <p:cNvPr id="31" name="Google Shape;31;p7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3200">
                <a:latin typeface="Times New Roman"/>
                <a:ea typeface="Times New Roman"/>
                <a:cs typeface="Times New Roman"/>
                <a:sym typeface="Times New Roman"/>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2" name="Google Shape;32;p71"/>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368300" lvl="0" marL="4572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1pPr>
            <a:lvl2pPr indent="-368300" lvl="1" marL="9144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2pPr>
            <a:lvl3pPr indent="-368300" lvl="2" marL="13716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3pPr>
            <a:lvl4pPr indent="-368300" lvl="3" marL="18288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4pPr>
            <a:lvl5pPr indent="-368300" lvl="4" marL="2286000" algn="l">
              <a:lnSpc>
                <a:spcPct val="100000"/>
              </a:lnSpc>
              <a:spcBef>
                <a:spcPts val="440"/>
              </a:spcBef>
              <a:spcAft>
                <a:spcPts val="0"/>
              </a:spcAft>
              <a:buClr>
                <a:schemeClr val="dk1"/>
              </a:buClr>
              <a:buSzPts val="2200"/>
              <a:buChar char="»"/>
              <a:defRPr sz="2200">
                <a:latin typeface="Times New Roman"/>
                <a:ea typeface="Times New Roman"/>
                <a:cs typeface="Times New Roman"/>
                <a:sym typeface="Times New Roman"/>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 name="Google Shape;33;p7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jpg"/><Relationship Id="rId3" Type="http://schemas.openxmlformats.org/officeDocument/2006/relationships/slideLayout" Target="../slideLayouts/slideLayout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3000" u="none" cap="none" strike="noStrike">
                <a:solidFill>
                  <a:schemeClr val="dk1"/>
                </a:solidFill>
                <a:latin typeface="Calibri"/>
                <a:ea typeface="Calibri"/>
                <a:cs typeface="Calibri"/>
                <a:sym typeface="Calibri"/>
              </a:defRPr>
            </a:lvl9pPr>
          </a:lstStyle>
          <a:p/>
        </p:txBody>
      </p:sp>
      <p:sp>
        <p:nvSpPr>
          <p:cNvPr id="11" name="Google Shape;11;p70"/>
          <p:cNvSpPr txBox="1"/>
          <p:nvPr>
            <p:ph idx="1" type="body"/>
          </p:nvPr>
        </p:nvSpPr>
        <p:spPr>
          <a:xfrm>
            <a:off x="457200" y="13716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70"/>
          <p:cNvSpPr/>
          <p:nvPr/>
        </p:nvSpPr>
        <p:spPr>
          <a:xfrm>
            <a:off x="0" y="0"/>
            <a:ext cx="91440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3" name="Google Shape;13;p70"/>
          <p:cNvSpPr/>
          <p:nvPr/>
        </p:nvSpPr>
        <p:spPr>
          <a:xfrm flipH="1" rot="10800000">
            <a:off x="0" y="6583684"/>
            <a:ext cx="9144000" cy="27431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4" name="Google Shape;14;p7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pic>
        <p:nvPicPr>
          <p:cNvPr descr="LOGO.gif" id="15" name="Google Shape;15;p70"/>
          <p:cNvPicPr preferRelativeResize="0"/>
          <p:nvPr/>
        </p:nvPicPr>
        <p:blipFill rotWithShape="1">
          <a:blip r:embed="rId1">
            <a:alphaModFix/>
          </a:blip>
          <a:srcRect b="10713" l="0" r="0" t="0"/>
          <a:stretch/>
        </p:blipFill>
        <p:spPr>
          <a:xfrm>
            <a:off x="6553200" y="228600"/>
            <a:ext cx="2057400" cy="635000"/>
          </a:xfrm>
          <a:prstGeom prst="rect">
            <a:avLst/>
          </a:prstGeom>
          <a:noFill/>
          <a:ln>
            <a:noFill/>
          </a:ln>
        </p:spPr>
      </p:pic>
      <p:grpSp>
        <p:nvGrpSpPr>
          <p:cNvPr id="16" name="Google Shape;16;p70"/>
          <p:cNvGrpSpPr/>
          <p:nvPr/>
        </p:nvGrpSpPr>
        <p:grpSpPr>
          <a:xfrm>
            <a:off x="6146800" y="0"/>
            <a:ext cx="2997200" cy="876300"/>
            <a:chOff x="6096000" y="3924300"/>
            <a:chExt cx="2997200" cy="876300"/>
          </a:xfrm>
        </p:grpSpPr>
        <p:sp>
          <p:nvSpPr>
            <p:cNvPr id="17" name="Google Shape;17;p70"/>
            <p:cNvSpPr/>
            <p:nvPr/>
          </p:nvSpPr>
          <p:spPr>
            <a:xfrm>
              <a:off x="6096000" y="3924300"/>
              <a:ext cx="2997200" cy="838200"/>
            </a:xfrm>
            <a:prstGeom prst="rect">
              <a:avLst/>
            </a:prstGeom>
            <a:solidFill>
              <a:srgbClr val="FF33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LOGO.gif" id="18" name="Google Shape;18;p70"/>
            <p:cNvPicPr preferRelativeResize="0"/>
            <p:nvPr/>
          </p:nvPicPr>
          <p:blipFill rotWithShape="1">
            <a:blip r:embed="rId1">
              <a:alphaModFix/>
            </a:blip>
            <a:srcRect b="10713" l="0" r="0" t="0"/>
            <a:stretch/>
          </p:blipFill>
          <p:spPr>
            <a:xfrm>
              <a:off x="6502400" y="4152900"/>
              <a:ext cx="2057400" cy="635000"/>
            </a:xfrm>
            <a:prstGeom prst="rect">
              <a:avLst/>
            </a:prstGeom>
            <a:noFill/>
            <a:ln>
              <a:noFill/>
            </a:ln>
          </p:spPr>
        </p:pic>
        <p:sp>
          <p:nvSpPr>
            <p:cNvPr id="19" name="Google Shape;19;p70"/>
            <p:cNvSpPr/>
            <p:nvPr/>
          </p:nvSpPr>
          <p:spPr>
            <a:xfrm>
              <a:off x="6477000" y="4114800"/>
              <a:ext cx="2076450" cy="685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grpSp>
      <p:pic>
        <p:nvPicPr>
          <p:cNvPr descr="logo.jpg" id="20" name="Google Shape;20;p70"/>
          <p:cNvPicPr preferRelativeResize="0"/>
          <p:nvPr/>
        </p:nvPicPr>
        <p:blipFill rotWithShape="1">
          <a:blip r:embed="rId2">
            <a:alphaModFix/>
          </a:blip>
          <a:srcRect b="0" l="0" r="0" t="0"/>
          <a:stretch/>
        </p:blipFill>
        <p:spPr>
          <a:xfrm>
            <a:off x="6553200" y="228600"/>
            <a:ext cx="1920875" cy="609600"/>
          </a:xfrm>
          <a:prstGeom prst="rect">
            <a:avLst/>
          </a:prstGeom>
          <a:noFill/>
          <a:ln>
            <a:noFill/>
          </a:ln>
        </p:spPr>
      </p:pic>
      <p:sp>
        <p:nvSpPr>
          <p:cNvPr id="21" name="Google Shape;21;p70"/>
          <p:cNvSpPr txBox="1"/>
          <p:nvPr>
            <p:ph idx="10" type="dt"/>
          </p:nvPr>
        </p:nvSpPr>
        <p:spPr>
          <a:xfrm>
            <a:off x="76200" y="6594307"/>
            <a:ext cx="2362200" cy="26369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1" i="0" sz="12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2" name="Google Shape;22;p70"/>
          <p:cNvSpPr txBox="1"/>
          <p:nvPr>
            <p:ph idx="11" type="ftr"/>
          </p:nvPr>
        </p:nvSpPr>
        <p:spPr>
          <a:xfrm>
            <a:off x="3086100" y="6596246"/>
            <a:ext cx="2895600" cy="26175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1" i="0" sz="1200" u="none" cap="none" strike="noStrike">
                <a:solidFill>
                  <a:schemeClr val="lt1"/>
                </a:solidFill>
                <a:latin typeface="Times New Roman"/>
                <a:ea typeface="Times New Roman"/>
                <a:cs typeface="Times New Roman"/>
                <a:sym typeface="Times New Roman"/>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3" name="Google Shape;23;p70"/>
          <p:cNvSpPr txBox="1"/>
          <p:nvPr>
            <p:ph idx="12" type="sldNum"/>
          </p:nvPr>
        </p:nvSpPr>
        <p:spPr>
          <a:xfrm>
            <a:off x="6553200" y="6583684"/>
            <a:ext cx="2133600" cy="274316"/>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rgbClr val="000000"/>
              </a:buClr>
              <a:buSzPts val="1200"/>
              <a:buFont typeface="Arial"/>
              <a:buNone/>
              <a:defRPr b="1" i="0" sz="1200" u="none" cap="none" strike="noStrike">
                <a:solidFill>
                  <a:schemeClr val="lt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0.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8.png"/><Relationship Id="rId4" Type="http://schemas.openxmlformats.org/officeDocument/2006/relationships/image" Target="../media/image2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5.png"/><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6.png"/><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24.png"/><Relationship Id="rId4" Type="http://schemas.openxmlformats.org/officeDocument/2006/relationships/image" Target="../media/image23.png"/><Relationship Id="rId5" Type="http://schemas.openxmlformats.org/officeDocument/2006/relationships/image" Target="../media/image2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1"/>
          <p:cNvSpPr txBox="1"/>
          <p:nvPr/>
        </p:nvSpPr>
        <p:spPr>
          <a:xfrm>
            <a:off x="152400" y="914400"/>
            <a:ext cx="8763000" cy="4038600"/>
          </a:xfrm>
          <a:prstGeom prst="rect">
            <a:avLst/>
          </a:prstGeom>
          <a:noFill/>
          <a:ln>
            <a:noFill/>
          </a:ln>
        </p:spPr>
        <p:txBody>
          <a:bodyPr anchorCtr="0" anchor="ctr" bIns="45700" lIns="91425" spcFirstLastPara="1" rIns="91425" wrap="square" tIns="331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3A30FA"/>
                </a:solidFill>
                <a:latin typeface="Times New Roman"/>
                <a:ea typeface="Times New Roman"/>
                <a:cs typeface="Times New Roman"/>
                <a:sym typeface="Times New Roman"/>
              </a:rPr>
              <a:t>Project Management &amp; Metrics </a:t>
            </a:r>
            <a:endParaRPr b="0" i="0" sz="1400" u="none" cap="none" strike="noStrike">
              <a:solidFill>
                <a:srgbClr val="000000"/>
              </a:solidFill>
              <a:latin typeface="Arial"/>
              <a:ea typeface="Arial"/>
              <a:cs typeface="Arial"/>
              <a:sym typeface="Arial"/>
            </a:endParaRPr>
          </a:p>
        </p:txBody>
      </p:sp>
      <p:sp>
        <p:nvSpPr>
          <p:cNvPr id="40" name="Google Shape;40;p1"/>
          <p:cNvSpPr txBox="1"/>
          <p:nvPr/>
        </p:nvSpPr>
        <p:spPr>
          <a:xfrm>
            <a:off x="1676400" y="4953000"/>
            <a:ext cx="5943600" cy="1477328"/>
          </a:xfrm>
          <a:prstGeom prst="rect">
            <a:avLst/>
          </a:prstGeom>
          <a:no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400"/>
              <a:buFont typeface="Arial"/>
              <a:buNone/>
            </a:pPr>
            <a:r>
              <a:rPr b="1" i="0" lang="en-US" sz="2400" u="none" cap="none" strike="noStrike">
                <a:solidFill>
                  <a:schemeClr val="dk1"/>
                </a:solidFill>
                <a:latin typeface="Times New Roman"/>
                <a:ea typeface="Times New Roman"/>
                <a:cs typeface="Times New Roman"/>
                <a:sym typeface="Times New Roman"/>
              </a:rPr>
              <a:t>Ms. Gagandeep Kaur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Times New Roman"/>
                <a:ea typeface="Times New Roman"/>
                <a:cs typeface="Times New Roman"/>
                <a:sym typeface="Times New Roman"/>
              </a:rPr>
              <a:t>Assistant Professor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Times New Roman"/>
                <a:ea typeface="Times New Roman"/>
                <a:cs typeface="Times New Roman"/>
                <a:sym typeface="Times New Roman"/>
              </a:rPr>
              <a:t>Department of Computer Science and Engineering</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0000"/>
                </a:solidFill>
                <a:latin typeface="Times New Roman"/>
                <a:ea typeface="Times New Roman"/>
                <a:cs typeface="Times New Roman"/>
                <a:sym typeface="Times New Roman"/>
              </a:rPr>
              <a:t>Chitkara University, Punjab</a:t>
            </a:r>
            <a:endParaRPr b="0" i="0" sz="1400" u="none" cap="none" strike="noStrike">
              <a:solidFill>
                <a:srgbClr val="000000"/>
              </a:solidFill>
              <a:latin typeface="Arial"/>
              <a:ea typeface="Arial"/>
              <a:cs typeface="Arial"/>
              <a:sym typeface="Arial"/>
            </a:endParaRPr>
          </a:p>
        </p:txBody>
      </p:sp>
      <p:sp>
        <p:nvSpPr>
          <p:cNvPr id="41" name="Google Shape;41;p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Management Spectrum</a:t>
            </a:r>
            <a:endParaRPr/>
          </a:p>
        </p:txBody>
      </p:sp>
      <p:sp>
        <p:nvSpPr>
          <p:cNvPr id="47" name="Google Shape;47;p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8" name="Google Shape;48;p2"/>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303030"/>
              </a:buClr>
              <a:buSzPts val="2000"/>
              <a:buChar char="•"/>
            </a:pPr>
            <a:r>
              <a:rPr b="0" i="0" lang="en-US" sz="2000">
                <a:solidFill>
                  <a:srgbClr val="303030"/>
                </a:solidFill>
              </a:rPr>
              <a:t>In </a:t>
            </a:r>
            <a:r>
              <a:rPr lang="en-US" sz="2000">
                <a:solidFill>
                  <a:srgbClr val="303030"/>
                </a:solidFill>
              </a:rPr>
              <a:t>software engineering, the management spectrum describes the management of a software project. </a:t>
            </a:r>
            <a:endParaRPr/>
          </a:p>
          <a:p>
            <a:pPr indent="-342900" lvl="0" marL="342900" rtl="0" algn="just">
              <a:lnSpc>
                <a:spcPct val="150000"/>
              </a:lnSpc>
              <a:spcBef>
                <a:spcPts val="400"/>
              </a:spcBef>
              <a:spcAft>
                <a:spcPts val="0"/>
              </a:spcAft>
              <a:buClr>
                <a:srgbClr val="303030"/>
              </a:buClr>
              <a:buSzPts val="2000"/>
              <a:buChar char="•"/>
            </a:pPr>
            <a:r>
              <a:rPr b="0" i="0" lang="en-US" sz="2000">
                <a:solidFill>
                  <a:srgbClr val="303030"/>
                </a:solidFill>
              </a:rPr>
              <a:t>The management of a software project </a:t>
            </a:r>
            <a:r>
              <a:rPr b="1" i="0" lang="en-US" sz="2000">
                <a:solidFill>
                  <a:srgbClr val="303030"/>
                </a:solidFill>
              </a:rPr>
              <a:t>starts from requirement analysis and finishes based on the nature of the </a:t>
            </a:r>
            <a:r>
              <a:rPr b="1" lang="en-US" sz="2000">
                <a:solidFill>
                  <a:srgbClr val="303030"/>
                </a:solidFill>
              </a:rPr>
              <a:t>product</a:t>
            </a:r>
            <a:r>
              <a:rPr lang="en-US" sz="2000">
                <a:solidFill>
                  <a:srgbClr val="303030"/>
                </a:solidFill>
              </a:rPr>
              <a:t>;</a:t>
            </a:r>
            <a:r>
              <a:rPr b="0" i="0" lang="en-US" sz="2000">
                <a:solidFill>
                  <a:srgbClr val="303030"/>
                </a:solidFill>
              </a:rPr>
              <a:t> it may or may not end because almost all software products </a:t>
            </a:r>
            <a:r>
              <a:rPr lang="en-US" sz="2000">
                <a:solidFill>
                  <a:srgbClr val="303030"/>
                </a:solidFill>
              </a:rPr>
              <a:t>face</a:t>
            </a:r>
            <a:r>
              <a:rPr b="0" i="0" lang="en-US" sz="2000">
                <a:solidFill>
                  <a:srgbClr val="303030"/>
                </a:solidFill>
              </a:rPr>
              <a:t> changes and </a:t>
            </a:r>
            <a:r>
              <a:rPr lang="en-US" sz="2000">
                <a:solidFill>
                  <a:srgbClr val="303030"/>
                </a:solidFill>
              </a:rPr>
              <a:t>require</a:t>
            </a:r>
            <a:r>
              <a:rPr b="0" i="0" lang="en-US" sz="2000">
                <a:solidFill>
                  <a:srgbClr val="303030"/>
                </a:solidFill>
              </a:rPr>
              <a:t> support. </a:t>
            </a:r>
            <a:endParaRPr/>
          </a:p>
          <a:p>
            <a:pPr indent="-342900" lvl="0" marL="342900" rtl="0" algn="just">
              <a:lnSpc>
                <a:spcPct val="150000"/>
              </a:lnSpc>
              <a:spcBef>
                <a:spcPts val="400"/>
              </a:spcBef>
              <a:spcAft>
                <a:spcPts val="0"/>
              </a:spcAft>
              <a:buClr>
                <a:srgbClr val="303030"/>
              </a:buClr>
              <a:buSzPts val="2000"/>
              <a:buChar char="•"/>
            </a:pPr>
            <a:r>
              <a:rPr b="0" i="0" lang="en-US" sz="2000">
                <a:solidFill>
                  <a:srgbClr val="303030"/>
                </a:solidFill>
              </a:rPr>
              <a:t>The management spectrum focuses on the four P’s</a:t>
            </a:r>
            <a:r>
              <a:rPr lang="en-US" sz="2000">
                <a:solidFill>
                  <a:srgbClr val="303030"/>
                </a:solidFill>
              </a:rPr>
              <a:t>:</a:t>
            </a:r>
            <a:endParaRPr b="0" i="0" sz="2000">
              <a:solidFill>
                <a:srgbClr val="303030"/>
              </a:solidFill>
            </a:endParaRPr>
          </a:p>
          <a:p>
            <a:pPr indent="-228600" lvl="4" marL="2057400" rtl="0" algn="just">
              <a:lnSpc>
                <a:spcPct val="150000"/>
              </a:lnSpc>
              <a:spcBef>
                <a:spcPts val="400"/>
              </a:spcBef>
              <a:spcAft>
                <a:spcPts val="0"/>
              </a:spcAft>
              <a:buClr>
                <a:srgbClr val="C00000"/>
              </a:buClr>
              <a:buSzPts val="2000"/>
              <a:buFont typeface="Calibri"/>
              <a:buAutoNum type="arabicPeriod"/>
            </a:pPr>
            <a:r>
              <a:rPr i="1" lang="en-US" sz="2000">
                <a:solidFill>
                  <a:srgbClr val="C00000"/>
                </a:solidFill>
              </a:rPr>
              <a:t>People			3. Process</a:t>
            </a:r>
            <a:endParaRPr/>
          </a:p>
          <a:p>
            <a:pPr indent="0" lvl="4" marL="1828800" rtl="0" algn="just">
              <a:lnSpc>
                <a:spcPct val="150000"/>
              </a:lnSpc>
              <a:spcBef>
                <a:spcPts val="400"/>
              </a:spcBef>
              <a:spcAft>
                <a:spcPts val="0"/>
              </a:spcAft>
              <a:buClr>
                <a:srgbClr val="C00000"/>
              </a:buClr>
              <a:buSzPts val="2000"/>
              <a:buNone/>
            </a:pPr>
            <a:r>
              <a:rPr i="1" lang="en-US" sz="2000">
                <a:solidFill>
                  <a:srgbClr val="C00000"/>
                </a:solidFill>
              </a:rPr>
              <a:t>2. Product			4. Project</a:t>
            </a:r>
            <a:endParaRPr/>
          </a:p>
          <a:p>
            <a:pPr indent="-342900" lvl="0" marL="342900" rtl="0" algn="just">
              <a:lnSpc>
                <a:spcPct val="150000"/>
              </a:lnSpc>
              <a:spcBef>
                <a:spcPts val="400"/>
              </a:spcBef>
              <a:spcAft>
                <a:spcPts val="0"/>
              </a:spcAft>
              <a:buClr>
                <a:srgbClr val="303030"/>
              </a:buClr>
              <a:buSzPts val="2000"/>
              <a:buChar char="•"/>
            </a:pPr>
            <a:r>
              <a:rPr b="0" i="0" lang="en-US" sz="2000">
                <a:solidFill>
                  <a:srgbClr val="303030"/>
                </a:solidFill>
              </a:rPr>
              <a:t>Here, the manager of the project has to control all these P’s to have a smooth flow in the progress of the project and to reach the goal.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First P - People</a:t>
            </a:r>
            <a:endParaRPr/>
          </a:p>
        </p:txBody>
      </p:sp>
      <p:sp>
        <p:nvSpPr>
          <p:cNvPr id="54" name="Google Shape;54;p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5" name="Google Shape;55;p3"/>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303030"/>
              </a:buClr>
              <a:buSzPts val="2000"/>
              <a:buChar char="•"/>
            </a:pPr>
            <a:r>
              <a:rPr lang="en-US" sz="2000">
                <a:solidFill>
                  <a:srgbClr val="303030"/>
                </a:solidFill>
              </a:rPr>
              <a:t>The “people factor” is so important that the Software Engineering Institute has developed a </a:t>
            </a:r>
            <a:r>
              <a:rPr i="1" lang="en-US" sz="2000">
                <a:solidFill>
                  <a:srgbClr val="C00000"/>
                </a:solidFill>
              </a:rPr>
              <a:t>People Capability Maturity Model (People-CMM), </a:t>
            </a:r>
            <a:r>
              <a:rPr lang="en-US" sz="2000">
                <a:solidFill>
                  <a:srgbClr val="303030"/>
                </a:solidFill>
              </a:rPr>
              <a:t>in recognition of the fact that </a:t>
            </a:r>
            <a:endParaRPr/>
          </a:p>
          <a:p>
            <a:pPr indent="0" lvl="1" marL="457200" rtl="0" algn="just">
              <a:lnSpc>
                <a:spcPct val="150000"/>
              </a:lnSpc>
              <a:spcBef>
                <a:spcPts val="400"/>
              </a:spcBef>
              <a:spcAft>
                <a:spcPts val="0"/>
              </a:spcAft>
              <a:buClr>
                <a:srgbClr val="303030"/>
              </a:buClr>
              <a:buSzPts val="2000"/>
              <a:buNone/>
            </a:pPr>
            <a:r>
              <a:rPr i="1" lang="en-US" sz="2000">
                <a:solidFill>
                  <a:srgbClr val="303030"/>
                </a:solidFill>
              </a:rPr>
              <a:t>	“Every organization needs to continually improve its ability to attract, develop, motivate, organize, and retain the workforce needed to accomplish its strategic business objectives.”</a:t>
            </a:r>
            <a:endParaRPr/>
          </a:p>
          <a:p>
            <a:pPr indent="-215900" lvl="0" marL="342900" rtl="0" algn="just">
              <a:lnSpc>
                <a:spcPct val="150000"/>
              </a:lnSpc>
              <a:spcBef>
                <a:spcPts val="400"/>
              </a:spcBef>
              <a:spcAft>
                <a:spcPts val="0"/>
              </a:spcAft>
              <a:buClr>
                <a:schemeClr val="dk1"/>
              </a:buClr>
              <a:buSzPts val="2000"/>
              <a:buNone/>
            </a:pPr>
            <a:r>
              <a:t/>
            </a:r>
            <a:endParaRPr sz="2000">
              <a:solidFill>
                <a:srgbClr val="303030"/>
              </a:solidFill>
            </a:endParaRPr>
          </a:p>
          <a:p>
            <a:pPr indent="-342900" lvl="0" marL="342900" rtl="0" algn="just">
              <a:lnSpc>
                <a:spcPct val="150000"/>
              </a:lnSpc>
              <a:spcBef>
                <a:spcPts val="400"/>
              </a:spcBef>
              <a:spcAft>
                <a:spcPts val="0"/>
              </a:spcAft>
              <a:buClr>
                <a:srgbClr val="303030"/>
              </a:buClr>
              <a:buSzPts val="2000"/>
              <a:buChar char="•"/>
            </a:pPr>
            <a:r>
              <a:rPr lang="en-US" sz="2000">
                <a:solidFill>
                  <a:srgbClr val="303030"/>
                </a:solidFill>
              </a:rPr>
              <a:t>Organizations that achieve high levels of People-CMM maturity have a </a:t>
            </a:r>
            <a:r>
              <a:rPr b="1" lang="en-US" sz="2000">
                <a:solidFill>
                  <a:srgbClr val="303030"/>
                </a:solidFill>
              </a:rPr>
              <a:t>higher likelihood of implementing effective </a:t>
            </a:r>
            <a:r>
              <a:rPr lang="en-US" sz="2000">
                <a:solidFill>
                  <a:srgbClr val="303030"/>
                </a:solidFill>
              </a:rPr>
              <a:t>software project management practices. </a:t>
            </a:r>
            <a:endParaRPr/>
          </a:p>
          <a:p>
            <a:pPr indent="-215900" lvl="0" marL="342900" rtl="0" algn="just">
              <a:lnSpc>
                <a:spcPct val="150000"/>
              </a:lnSpc>
              <a:spcBef>
                <a:spcPts val="400"/>
              </a:spcBef>
              <a:spcAft>
                <a:spcPts val="0"/>
              </a:spcAft>
              <a:buClr>
                <a:schemeClr val="dk1"/>
              </a:buClr>
              <a:buSzPts val="2000"/>
              <a:buNone/>
            </a:pPr>
            <a:r>
              <a:t/>
            </a:r>
            <a:endParaRPr sz="2000">
              <a:solidFill>
                <a:srgbClr val="30303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First P - People</a:t>
            </a:r>
            <a:endParaRPr/>
          </a:p>
        </p:txBody>
      </p:sp>
      <p:sp>
        <p:nvSpPr>
          <p:cNvPr id="61" name="Google Shape;61;p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2" name="Google Shape;62;p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Depending on their roles and responsibilities, people involved in a software project can be categorized into the following main categories or stakeholders: </a:t>
            </a:r>
            <a:endParaRPr/>
          </a:p>
          <a:p>
            <a:pPr indent="-228600" lvl="2" marL="1143000" rtl="0" algn="just">
              <a:lnSpc>
                <a:spcPct val="150000"/>
              </a:lnSpc>
              <a:spcBef>
                <a:spcPts val="400"/>
              </a:spcBef>
              <a:spcAft>
                <a:spcPts val="0"/>
              </a:spcAft>
              <a:buClr>
                <a:srgbClr val="C00000"/>
              </a:buClr>
              <a:buSzPts val="2000"/>
              <a:buFont typeface="Noto Sans Symbols"/>
              <a:buChar char="✔"/>
            </a:pPr>
            <a:r>
              <a:rPr b="0" i="1" lang="en-US" sz="2000">
                <a:solidFill>
                  <a:srgbClr val="C00000"/>
                </a:solidFill>
              </a:rPr>
              <a:t>Senior manager </a:t>
            </a:r>
            <a:endParaRPr/>
          </a:p>
          <a:p>
            <a:pPr indent="-228600" lvl="2" marL="1143000" rtl="0" algn="just">
              <a:lnSpc>
                <a:spcPct val="150000"/>
              </a:lnSpc>
              <a:spcBef>
                <a:spcPts val="400"/>
              </a:spcBef>
              <a:spcAft>
                <a:spcPts val="0"/>
              </a:spcAft>
              <a:buClr>
                <a:srgbClr val="C00000"/>
              </a:buClr>
              <a:buSzPts val="2000"/>
              <a:buFont typeface="Noto Sans Symbols"/>
              <a:buChar char="✔"/>
            </a:pPr>
            <a:r>
              <a:rPr b="0" i="1" lang="en-US" sz="2000">
                <a:solidFill>
                  <a:srgbClr val="C00000"/>
                </a:solidFill>
              </a:rPr>
              <a:t>Project manager </a:t>
            </a:r>
            <a:endParaRPr/>
          </a:p>
          <a:p>
            <a:pPr indent="-228600" lvl="2" marL="1143000" rtl="0" algn="just">
              <a:lnSpc>
                <a:spcPct val="150000"/>
              </a:lnSpc>
              <a:spcBef>
                <a:spcPts val="400"/>
              </a:spcBef>
              <a:spcAft>
                <a:spcPts val="0"/>
              </a:spcAft>
              <a:buClr>
                <a:srgbClr val="C00000"/>
              </a:buClr>
              <a:buSzPts val="2000"/>
              <a:buFont typeface="Noto Sans Symbols"/>
              <a:buChar char="✔"/>
            </a:pPr>
            <a:r>
              <a:rPr b="0" i="1" lang="en-US" sz="2000">
                <a:solidFill>
                  <a:srgbClr val="C00000"/>
                </a:solidFill>
              </a:rPr>
              <a:t>Software Engineer </a:t>
            </a:r>
            <a:endParaRPr/>
          </a:p>
          <a:p>
            <a:pPr indent="-228600" lvl="2" marL="1143000" rtl="0" algn="just">
              <a:lnSpc>
                <a:spcPct val="150000"/>
              </a:lnSpc>
              <a:spcBef>
                <a:spcPts val="400"/>
              </a:spcBef>
              <a:spcAft>
                <a:spcPts val="0"/>
              </a:spcAft>
              <a:buClr>
                <a:srgbClr val="C00000"/>
              </a:buClr>
              <a:buSzPts val="2000"/>
              <a:buFont typeface="Noto Sans Symbols"/>
              <a:buChar char="✔"/>
            </a:pPr>
            <a:r>
              <a:rPr b="0" i="1" lang="en-US" sz="2000">
                <a:solidFill>
                  <a:srgbClr val="C00000"/>
                </a:solidFill>
              </a:rPr>
              <a:t>Customer </a:t>
            </a:r>
            <a:endParaRPr/>
          </a:p>
          <a:p>
            <a:pPr indent="-228600" lvl="2" marL="1143000" rtl="0" algn="just">
              <a:lnSpc>
                <a:spcPct val="150000"/>
              </a:lnSpc>
              <a:spcBef>
                <a:spcPts val="400"/>
              </a:spcBef>
              <a:spcAft>
                <a:spcPts val="0"/>
              </a:spcAft>
              <a:buClr>
                <a:srgbClr val="C00000"/>
              </a:buClr>
              <a:buSzPts val="2000"/>
              <a:buFont typeface="Noto Sans Symbols"/>
              <a:buChar char="✔"/>
            </a:pPr>
            <a:r>
              <a:rPr b="0" i="1" lang="en-US" sz="2000">
                <a:solidFill>
                  <a:srgbClr val="C00000"/>
                </a:solidFill>
              </a:rPr>
              <a:t>End user</a:t>
            </a:r>
            <a:endParaRPr i="1" sz="2800">
              <a:solidFill>
                <a:srgbClr val="C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People - Stakeholders</a:t>
            </a:r>
            <a:endParaRPr/>
          </a:p>
        </p:txBody>
      </p:sp>
      <p:sp>
        <p:nvSpPr>
          <p:cNvPr id="68" name="Google Shape;68;p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69" name="Google Shape;69;p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C00000"/>
              </a:buClr>
              <a:buSzPts val="2000"/>
              <a:buChar char="•"/>
            </a:pPr>
            <a:r>
              <a:rPr b="1" i="1" lang="en-US" sz="2000">
                <a:solidFill>
                  <a:srgbClr val="C00000"/>
                </a:solidFill>
              </a:rPr>
              <a:t>Senior managers </a:t>
            </a:r>
            <a:r>
              <a:rPr b="0" i="0" lang="en-US" sz="2000">
                <a:solidFill>
                  <a:srgbClr val="2B2A2A"/>
                </a:solidFill>
              </a:rPr>
              <a:t>who </a:t>
            </a:r>
            <a:r>
              <a:rPr b="1" i="0" lang="en-US" sz="2000">
                <a:solidFill>
                  <a:srgbClr val="2B2A2A"/>
                </a:solidFill>
              </a:rPr>
              <a:t>define the business issues </a:t>
            </a:r>
            <a:r>
              <a:rPr b="0" i="0" lang="en-US" sz="2000">
                <a:solidFill>
                  <a:srgbClr val="2B2A2A"/>
                </a:solidFill>
              </a:rPr>
              <a:t>that often have significant influence on the project.</a:t>
            </a:r>
            <a:endParaRPr/>
          </a:p>
          <a:p>
            <a:pPr indent="-342900" lvl="0" marL="342900" rtl="0" algn="just">
              <a:lnSpc>
                <a:spcPct val="150000"/>
              </a:lnSpc>
              <a:spcBef>
                <a:spcPts val="400"/>
              </a:spcBef>
              <a:spcAft>
                <a:spcPts val="0"/>
              </a:spcAft>
              <a:buClr>
                <a:srgbClr val="C00000"/>
              </a:buClr>
              <a:buSzPts val="2000"/>
              <a:buChar char="•"/>
            </a:pPr>
            <a:r>
              <a:rPr b="1" i="1" lang="en-US" sz="2000">
                <a:solidFill>
                  <a:srgbClr val="C00000"/>
                </a:solidFill>
              </a:rPr>
              <a:t>Project (technical) managers </a:t>
            </a:r>
            <a:r>
              <a:rPr b="0" i="0" lang="en-US" sz="2000">
                <a:solidFill>
                  <a:srgbClr val="2B2A2A"/>
                </a:solidFill>
              </a:rPr>
              <a:t>who must </a:t>
            </a:r>
            <a:r>
              <a:rPr b="1" i="0" lang="en-US" sz="2000">
                <a:solidFill>
                  <a:srgbClr val="2B2A2A"/>
                </a:solidFill>
              </a:rPr>
              <a:t>plan, motivate, organize, and control</a:t>
            </a:r>
            <a:r>
              <a:rPr b="0" i="0" lang="en-US" sz="2000">
                <a:solidFill>
                  <a:srgbClr val="2B2A2A"/>
                </a:solidFill>
              </a:rPr>
              <a:t> the practitioners who do software work.</a:t>
            </a:r>
            <a:endParaRPr/>
          </a:p>
          <a:p>
            <a:pPr indent="-342900" lvl="0" marL="342900" rtl="0" algn="just">
              <a:lnSpc>
                <a:spcPct val="150000"/>
              </a:lnSpc>
              <a:spcBef>
                <a:spcPts val="400"/>
              </a:spcBef>
              <a:spcAft>
                <a:spcPts val="0"/>
              </a:spcAft>
              <a:buClr>
                <a:srgbClr val="C00000"/>
              </a:buClr>
              <a:buSzPts val="2000"/>
              <a:buChar char="•"/>
            </a:pPr>
            <a:r>
              <a:rPr b="1" i="1" lang="en-US" sz="2000">
                <a:solidFill>
                  <a:srgbClr val="C00000"/>
                </a:solidFill>
              </a:rPr>
              <a:t>Practitioners/Software Engineers </a:t>
            </a:r>
            <a:r>
              <a:rPr b="0" i="0" lang="en-US" sz="2000">
                <a:solidFill>
                  <a:srgbClr val="2B2A2A"/>
                </a:solidFill>
              </a:rPr>
              <a:t>who </a:t>
            </a:r>
            <a:r>
              <a:rPr b="1" i="0" lang="en-US" sz="2000">
                <a:solidFill>
                  <a:srgbClr val="2B2A2A"/>
                </a:solidFill>
              </a:rPr>
              <a:t>deliver the technical skills </a:t>
            </a:r>
            <a:r>
              <a:rPr b="0" i="0" lang="en-US" sz="2000">
                <a:solidFill>
                  <a:srgbClr val="2B2A2A"/>
                </a:solidFill>
              </a:rPr>
              <a:t>that are necessary to engineer a product or application.</a:t>
            </a:r>
            <a:endParaRPr/>
          </a:p>
          <a:p>
            <a:pPr indent="-342900" lvl="0" marL="342900" rtl="0" algn="just">
              <a:lnSpc>
                <a:spcPct val="150000"/>
              </a:lnSpc>
              <a:spcBef>
                <a:spcPts val="400"/>
              </a:spcBef>
              <a:spcAft>
                <a:spcPts val="0"/>
              </a:spcAft>
              <a:buClr>
                <a:srgbClr val="C00000"/>
              </a:buClr>
              <a:buSzPts val="2000"/>
              <a:buChar char="•"/>
            </a:pPr>
            <a:r>
              <a:rPr b="1" i="1" lang="en-US" sz="2000">
                <a:solidFill>
                  <a:srgbClr val="C00000"/>
                </a:solidFill>
              </a:rPr>
              <a:t>Customers</a:t>
            </a:r>
            <a:r>
              <a:rPr b="0" i="0" lang="en-US" sz="2000">
                <a:solidFill>
                  <a:srgbClr val="2B2A2A"/>
                </a:solidFill>
              </a:rPr>
              <a:t> who </a:t>
            </a:r>
            <a:r>
              <a:rPr b="1" i="0" lang="en-US" sz="2000">
                <a:solidFill>
                  <a:srgbClr val="2B2A2A"/>
                </a:solidFill>
              </a:rPr>
              <a:t>specify the requirements </a:t>
            </a:r>
            <a:r>
              <a:rPr b="0" i="0" lang="en-US" sz="2000">
                <a:solidFill>
                  <a:srgbClr val="2B2A2A"/>
                </a:solidFill>
              </a:rPr>
              <a:t>for the software to be engineered and other stakeholders who have a peripheral interest in the outcome.</a:t>
            </a:r>
            <a:endParaRPr/>
          </a:p>
          <a:p>
            <a:pPr indent="-342900" lvl="0" marL="342900" rtl="0" algn="just">
              <a:lnSpc>
                <a:spcPct val="150000"/>
              </a:lnSpc>
              <a:spcBef>
                <a:spcPts val="400"/>
              </a:spcBef>
              <a:spcAft>
                <a:spcPts val="0"/>
              </a:spcAft>
              <a:buClr>
                <a:srgbClr val="C00000"/>
              </a:buClr>
              <a:buSzPts val="2000"/>
              <a:buChar char="•"/>
            </a:pPr>
            <a:r>
              <a:rPr b="1" i="1" lang="en-US" sz="2000">
                <a:solidFill>
                  <a:srgbClr val="C00000"/>
                </a:solidFill>
              </a:rPr>
              <a:t>End-users</a:t>
            </a:r>
            <a:r>
              <a:rPr b="0" i="0" lang="en-US" sz="2000">
                <a:solidFill>
                  <a:srgbClr val="2B2A2A"/>
                </a:solidFill>
              </a:rPr>
              <a:t> who </a:t>
            </a:r>
            <a:r>
              <a:rPr b="1" i="0" lang="en-US" sz="2000">
                <a:solidFill>
                  <a:srgbClr val="2B2A2A"/>
                </a:solidFill>
              </a:rPr>
              <a:t>interact with the software </a:t>
            </a:r>
            <a:r>
              <a:rPr b="0" i="0" lang="en-US" sz="2000">
                <a:solidFill>
                  <a:srgbClr val="2B2A2A"/>
                </a:solidFill>
              </a:rPr>
              <a:t>once it is released for production use.</a:t>
            </a:r>
            <a:endParaRPr sz="2800">
              <a:solidFill>
                <a:srgbClr val="30303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People – Team Leaders</a:t>
            </a:r>
            <a:endParaRPr/>
          </a:p>
        </p:txBody>
      </p:sp>
      <p:sp>
        <p:nvSpPr>
          <p:cNvPr id="75" name="Google Shape;75;p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76" name="Google Shape;76;p6"/>
          <p:cNvSpPr txBox="1"/>
          <p:nvPr>
            <p:ph idx="1" type="body"/>
          </p:nvPr>
        </p:nvSpPr>
        <p:spPr>
          <a:xfrm>
            <a:off x="457200" y="1371600"/>
            <a:ext cx="8229600" cy="4386263"/>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The MOI model of leadership </a:t>
            </a:r>
            <a:endParaRPr/>
          </a:p>
          <a:p>
            <a:pPr indent="-342900" lvl="0" marL="342900" rtl="0" algn="just">
              <a:lnSpc>
                <a:spcPct val="150000"/>
              </a:lnSpc>
              <a:spcBef>
                <a:spcPts val="400"/>
              </a:spcBef>
              <a:spcAft>
                <a:spcPts val="0"/>
              </a:spcAft>
              <a:buClr>
                <a:srgbClr val="C00000"/>
              </a:buClr>
              <a:buSzPts val="2000"/>
              <a:buFont typeface="Noto Sans Symbols"/>
              <a:buChar char="✔"/>
            </a:pPr>
            <a:r>
              <a:rPr b="1" i="1" lang="en-US" sz="2000">
                <a:solidFill>
                  <a:srgbClr val="C00000"/>
                </a:solidFill>
              </a:rPr>
              <a:t>Motivation -</a:t>
            </a:r>
            <a:r>
              <a:rPr b="0" i="0" lang="en-US" sz="2000">
                <a:solidFill>
                  <a:srgbClr val="2B2A2A"/>
                </a:solidFill>
              </a:rPr>
              <a:t> The ability </a:t>
            </a:r>
            <a:r>
              <a:rPr b="1" i="0" lang="en-US" sz="2000">
                <a:solidFill>
                  <a:srgbClr val="2B2A2A"/>
                </a:solidFill>
              </a:rPr>
              <a:t>to encourage </a:t>
            </a:r>
            <a:r>
              <a:rPr b="0" i="0" lang="en-US" sz="2000">
                <a:solidFill>
                  <a:srgbClr val="2B2A2A"/>
                </a:solidFill>
              </a:rPr>
              <a:t>(by “push or pull”) technical people to produce to their best ability. </a:t>
            </a:r>
            <a:endParaRPr sz="2000">
              <a:solidFill>
                <a:srgbClr val="2B2A2A"/>
              </a:solidFill>
            </a:endParaRPr>
          </a:p>
          <a:p>
            <a:pPr indent="-342900" lvl="0" marL="342900" rtl="0" algn="just">
              <a:lnSpc>
                <a:spcPct val="150000"/>
              </a:lnSpc>
              <a:spcBef>
                <a:spcPts val="400"/>
              </a:spcBef>
              <a:spcAft>
                <a:spcPts val="0"/>
              </a:spcAft>
              <a:buClr>
                <a:srgbClr val="C00000"/>
              </a:buClr>
              <a:buSzPts val="2000"/>
              <a:buFont typeface="Noto Sans Symbols"/>
              <a:buChar char="✔"/>
            </a:pPr>
            <a:r>
              <a:rPr b="1" i="1" lang="en-US" sz="2000">
                <a:solidFill>
                  <a:srgbClr val="C00000"/>
                </a:solidFill>
              </a:rPr>
              <a:t>Organization -</a:t>
            </a:r>
            <a:r>
              <a:rPr b="0" i="0" lang="en-US" sz="2000">
                <a:solidFill>
                  <a:srgbClr val="2B2A2A"/>
                </a:solidFill>
              </a:rPr>
              <a:t> The ability </a:t>
            </a:r>
            <a:r>
              <a:rPr b="1" i="0" lang="en-US" sz="2000">
                <a:solidFill>
                  <a:srgbClr val="2B2A2A"/>
                </a:solidFill>
              </a:rPr>
              <a:t>to mold existing processes </a:t>
            </a:r>
            <a:r>
              <a:rPr b="0" i="0" lang="en-US" sz="2000">
                <a:solidFill>
                  <a:srgbClr val="2B2A2A"/>
                </a:solidFill>
              </a:rPr>
              <a:t>(or invent new ones) that will enable the initial concept to be translated into a final product.</a:t>
            </a:r>
            <a:endParaRPr b="0" i="0" sz="2000">
              <a:solidFill>
                <a:srgbClr val="2B2A2A"/>
              </a:solidFill>
            </a:endParaRPr>
          </a:p>
          <a:p>
            <a:pPr indent="-342900" lvl="0" marL="342900" rtl="0" algn="just">
              <a:lnSpc>
                <a:spcPct val="150000"/>
              </a:lnSpc>
              <a:spcBef>
                <a:spcPts val="400"/>
              </a:spcBef>
              <a:spcAft>
                <a:spcPts val="0"/>
              </a:spcAft>
              <a:buClr>
                <a:srgbClr val="C00000"/>
              </a:buClr>
              <a:buSzPts val="2000"/>
              <a:buFont typeface="Noto Sans Symbols"/>
              <a:buChar char="✔"/>
            </a:pPr>
            <a:r>
              <a:rPr b="1" i="1" lang="en-US" sz="2000">
                <a:solidFill>
                  <a:srgbClr val="C00000"/>
                </a:solidFill>
              </a:rPr>
              <a:t>Ideas or innovation - </a:t>
            </a:r>
            <a:r>
              <a:rPr b="0" i="0" lang="en-US" sz="2000">
                <a:solidFill>
                  <a:srgbClr val="2B2A2A"/>
                </a:solidFill>
              </a:rPr>
              <a:t>The ability to </a:t>
            </a:r>
            <a:r>
              <a:rPr b="1" i="0" lang="en-US" sz="2000">
                <a:solidFill>
                  <a:srgbClr val="2B2A2A"/>
                </a:solidFill>
              </a:rPr>
              <a:t>encourage people to create </a:t>
            </a:r>
            <a:r>
              <a:rPr b="0" i="0" lang="en-US" sz="2000">
                <a:solidFill>
                  <a:srgbClr val="2B2A2A"/>
                </a:solidFill>
              </a:rPr>
              <a:t>and feel creative when they </a:t>
            </a:r>
            <a:r>
              <a:rPr lang="en-US" sz="2000">
                <a:solidFill>
                  <a:srgbClr val="2B2A2A"/>
                </a:solidFill>
              </a:rPr>
              <a:t>work </a:t>
            </a:r>
            <a:r>
              <a:rPr b="0" i="0" lang="en-US" sz="2000">
                <a:solidFill>
                  <a:srgbClr val="2B2A2A"/>
                </a:solidFill>
              </a:rPr>
              <a:t>within bounds established for a particular software product or application.</a:t>
            </a:r>
            <a:endParaRPr sz="2800">
              <a:solidFill>
                <a:srgbClr val="30303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People – Software Team</a:t>
            </a:r>
            <a:endParaRPr/>
          </a:p>
        </p:txBody>
      </p:sp>
      <p:sp>
        <p:nvSpPr>
          <p:cNvPr id="82" name="Google Shape;82;p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83" name="Google Shape;83;p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lang="en-US" sz="2000">
                <a:solidFill>
                  <a:srgbClr val="2B2A2A"/>
                </a:solidFill>
              </a:rPr>
              <a:t>Seven project factors that should be considered when planning the structure of software engineering teams:</a:t>
            </a:r>
            <a:endParaRPr/>
          </a:p>
          <a:p>
            <a:pPr indent="-285750" lvl="1" marL="742950" rtl="0" algn="just">
              <a:lnSpc>
                <a:spcPct val="150000"/>
              </a:lnSpc>
              <a:spcBef>
                <a:spcPts val="400"/>
              </a:spcBef>
              <a:spcAft>
                <a:spcPts val="0"/>
              </a:spcAft>
              <a:buClr>
                <a:srgbClr val="2B2A2A"/>
              </a:buClr>
              <a:buSzPts val="2000"/>
              <a:buChar char="–"/>
            </a:pPr>
            <a:r>
              <a:rPr b="1" lang="en-US" sz="2000">
                <a:solidFill>
                  <a:srgbClr val="2B2A2A"/>
                </a:solidFill>
              </a:rPr>
              <a:t>Difficulty</a:t>
            </a:r>
            <a:r>
              <a:rPr lang="en-US" sz="2000">
                <a:solidFill>
                  <a:srgbClr val="2B2A2A"/>
                </a:solidFill>
              </a:rPr>
              <a:t> of the problem to be solved</a:t>
            </a:r>
            <a:endParaRPr/>
          </a:p>
          <a:p>
            <a:pPr indent="-285750" lvl="1" marL="742950" rtl="0" algn="just">
              <a:lnSpc>
                <a:spcPct val="150000"/>
              </a:lnSpc>
              <a:spcBef>
                <a:spcPts val="400"/>
              </a:spcBef>
              <a:spcAft>
                <a:spcPts val="0"/>
              </a:spcAft>
              <a:buClr>
                <a:srgbClr val="2B2A2A"/>
              </a:buClr>
              <a:buSzPts val="2000"/>
              <a:buChar char="–"/>
            </a:pPr>
            <a:r>
              <a:rPr b="1" lang="en-US" sz="2000">
                <a:solidFill>
                  <a:srgbClr val="2B2A2A"/>
                </a:solidFill>
              </a:rPr>
              <a:t>“Size”</a:t>
            </a:r>
            <a:r>
              <a:rPr lang="en-US" sz="2000">
                <a:solidFill>
                  <a:srgbClr val="2B2A2A"/>
                </a:solidFill>
              </a:rPr>
              <a:t> of the resultant program(s) in lines of code or function points</a:t>
            </a:r>
            <a:endParaRPr/>
          </a:p>
          <a:p>
            <a:pPr indent="-285750" lvl="1" marL="742950" rtl="0" algn="just">
              <a:lnSpc>
                <a:spcPct val="150000"/>
              </a:lnSpc>
              <a:spcBef>
                <a:spcPts val="400"/>
              </a:spcBef>
              <a:spcAft>
                <a:spcPts val="0"/>
              </a:spcAft>
              <a:buClr>
                <a:srgbClr val="2B2A2A"/>
              </a:buClr>
              <a:buSzPts val="2000"/>
              <a:buChar char="–"/>
            </a:pPr>
            <a:r>
              <a:rPr b="1" lang="en-US" sz="2000">
                <a:solidFill>
                  <a:srgbClr val="2B2A2A"/>
                </a:solidFill>
              </a:rPr>
              <a:t>Time</a:t>
            </a:r>
            <a:r>
              <a:rPr lang="en-US" sz="2000">
                <a:solidFill>
                  <a:srgbClr val="2B2A2A"/>
                </a:solidFill>
              </a:rPr>
              <a:t> that the team will stay together (team lifetime)</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Degree to which the problem can be </a:t>
            </a:r>
            <a:r>
              <a:rPr b="1" lang="en-US" sz="2000">
                <a:solidFill>
                  <a:srgbClr val="2B2A2A"/>
                </a:solidFill>
              </a:rPr>
              <a:t>modularized</a:t>
            </a:r>
            <a:endParaRPr b="1"/>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Required </a:t>
            </a:r>
            <a:r>
              <a:rPr b="1" lang="en-US" sz="2000">
                <a:solidFill>
                  <a:srgbClr val="2B2A2A"/>
                </a:solidFill>
              </a:rPr>
              <a:t>quality and reliability </a:t>
            </a:r>
            <a:r>
              <a:rPr lang="en-US" sz="2000">
                <a:solidFill>
                  <a:srgbClr val="2B2A2A"/>
                </a:solidFill>
              </a:rPr>
              <a:t>of the system to be built</a:t>
            </a:r>
            <a:endParaRPr/>
          </a:p>
          <a:p>
            <a:pPr indent="-285750" lvl="1" marL="742950" rtl="0" algn="just">
              <a:lnSpc>
                <a:spcPct val="150000"/>
              </a:lnSpc>
              <a:spcBef>
                <a:spcPts val="400"/>
              </a:spcBef>
              <a:spcAft>
                <a:spcPts val="0"/>
              </a:spcAft>
              <a:buClr>
                <a:srgbClr val="2B2A2A"/>
              </a:buClr>
              <a:buSzPts val="2000"/>
              <a:buChar char="–"/>
            </a:pPr>
            <a:r>
              <a:rPr b="1" lang="en-US" sz="2000">
                <a:solidFill>
                  <a:srgbClr val="2B2A2A"/>
                </a:solidFill>
              </a:rPr>
              <a:t>Rigidity</a:t>
            </a:r>
            <a:r>
              <a:rPr lang="en-US" sz="2000">
                <a:solidFill>
                  <a:srgbClr val="2B2A2A"/>
                </a:solidFill>
              </a:rPr>
              <a:t> of the delivery date</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Degree of </a:t>
            </a:r>
            <a:r>
              <a:rPr b="1" lang="en-US" sz="2000">
                <a:solidFill>
                  <a:srgbClr val="2B2A2A"/>
                </a:solidFill>
              </a:rPr>
              <a:t>sociability </a:t>
            </a:r>
            <a:r>
              <a:rPr lang="en-US" sz="2000">
                <a:solidFill>
                  <a:srgbClr val="2B2A2A"/>
                </a:solidFill>
              </a:rPr>
              <a:t>(communication) required for the project</a:t>
            </a:r>
            <a:endParaRPr/>
          </a:p>
          <a:p>
            <a:pPr indent="0" lvl="1" marL="457200" rtl="0" algn="just">
              <a:lnSpc>
                <a:spcPct val="150000"/>
              </a:lnSpc>
              <a:spcBef>
                <a:spcPts val="400"/>
              </a:spcBef>
              <a:spcAft>
                <a:spcPts val="0"/>
              </a:spcAft>
              <a:buClr>
                <a:srgbClr val="2B2A2A"/>
              </a:buClr>
              <a:buSzPts val="2000"/>
              <a:buNone/>
            </a:pPr>
            <a:r>
              <a:rPr lang="en-US" sz="2000">
                <a:solidFill>
                  <a:srgbClr val="2B2A2A"/>
                </a:solidFill>
              </a:rPr>
              <a:t> </a:t>
            </a:r>
            <a:br>
              <a:rPr lang="en-US" sz="1600"/>
            </a:br>
            <a:r>
              <a:rPr lang="en-US" sz="2000">
                <a:solidFill>
                  <a:srgbClr val="2B2A2A"/>
                </a:solidFill>
              </a:rPr>
              <a:t> </a:t>
            </a:r>
            <a:br>
              <a:rPr lang="en-US" sz="1600"/>
            </a:br>
            <a:endParaRPr b="0" i="0" sz="2000">
              <a:solidFill>
                <a:srgbClr val="2B2A2A"/>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Second P - Product</a:t>
            </a:r>
            <a:endParaRPr/>
          </a:p>
        </p:txBody>
      </p:sp>
      <p:sp>
        <p:nvSpPr>
          <p:cNvPr id="89" name="Google Shape;89;p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90" name="Google Shape;90;p8"/>
          <p:cNvSpPr txBox="1"/>
          <p:nvPr>
            <p:ph idx="1" type="body"/>
          </p:nvPr>
        </p:nvSpPr>
        <p:spPr>
          <a:xfrm>
            <a:off x="257175" y="1114425"/>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1800">
                <a:solidFill>
                  <a:srgbClr val="2B2A2A"/>
                </a:solidFill>
              </a:rPr>
              <a:t>. </a:t>
            </a:r>
            <a:r>
              <a:rPr lang="en-US" sz="1800">
                <a:solidFill>
                  <a:srgbClr val="2B2A2A"/>
                </a:solidFill>
              </a:rPr>
              <a:t>Customers and software developers must meet:</a:t>
            </a:r>
            <a:endParaRPr sz="1800"/>
          </a:p>
          <a:p>
            <a:pPr indent="-355600" lvl="1" marL="914400" rtl="0" algn="just">
              <a:lnSpc>
                <a:spcPct val="150000"/>
              </a:lnSpc>
              <a:spcBef>
                <a:spcPts val="400"/>
              </a:spcBef>
              <a:spcAft>
                <a:spcPts val="0"/>
              </a:spcAft>
              <a:buClr>
                <a:srgbClr val="2B2A2A"/>
              </a:buClr>
              <a:buSzPts val="2000"/>
              <a:buChar char="–"/>
            </a:pPr>
            <a:r>
              <a:rPr lang="en-US" sz="1800">
                <a:solidFill>
                  <a:srgbClr val="2B2A2A"/>
                </a:solidFill>
              </a:rPr>
              <a:t>To </a:t>
            </a:r>
            <a:r>
              <a:rPr b="1" lang="en-US" sz="1800">
                <a:solidFill>
                  <a:srgbClr val="2B2A2A"/>
                </a:solidFill>
              </a:rPr>
              <a:t>define objectives </a:t>
            </a:r>
            <a:r>
              <a:rPr lang="en-US" sz="1800">
                <a:solidFill>
                  <a:srgbClr val="2B2A2A"/>
                </a:solidFill>
              </a:rPr>
              <a:t>and scope of the project.</a:t>
            </a:r>
            <a:endParaRPr sz="1800"/>
          </a:p>
          <a:p>
            <a:pPr indent="-355600" lvl="1" marL="914400" rtl="0" algn="just">
              <a:lnSpc>
                <a:spcPct val="150000"/>
              </a:lnSpc>
              <a:spcBef>
                <a:spcPts val="400"/>
              </a:spcBef>
              <a:spcAft>
                <a:spcPts val="0"/>
              </a:spcAft>
              <a:buClr>
                <a:srgbClr val="2B2A2A"/>
              </a:buClr>
              <a:buSzPts val="2000"/>
              <a:buChar char="–"/>
            </a:pPr>
            <a:r>
              <a:rPr lang="en-US" sz="1800">
                <a:solidFill>
                  <a:srgbClr val="2B2A2A"/>
                </a:solidFill>
              </a:rPr>
              <a:t>To </a:t>
            </a:r>
            <a:r>
              <a:rPr b="1" lang="en-US" sz="1800">
                <a:solidFill>
                  <a:srgbClr val="2B2A2A"/>
                </a:solidFill>
              </a:rPr>
              <a:t>consider alternative solutions </a:t>
            </a:r>
            <a:r>
              <a:rPr lang="en-US" sz="1800">
                <a:solidFill>
                  <a:srgbClr val="2B2A2A"/>
                </a:solidFill>
              </a:rPr>
              <a:t>and to select the best possible approach. </a:t>
            </a:r>
            <a:endParaRPr sz="1800"/>
          </a:p>
          <a:p>
            <a:pPr indent="-355600" lvl="1" marL="914400" rtl="0" algn="just">
              <a:lnSpc>
                <a:spcPct val="150000"/>
              </a:lnSpc>
              <a:spcBef>
                <a:spcPts val="400"/>
              </a:spcBef>
              <a:spcAft>
                <a:spcPts val="0"/>
              </a:spcAft>
              <a:buClr>
                <a:srgbClr val="2B2A2A"/>
              </a:buClr>
              <a:buSzPts val="2000"/>
              <a:buChar char="–"/>
            </a:pPr>
            <a:r>
              <a:rPr lang="en-US" sz="1800">
                <a:solidFill>
                  <a:srgbClr val="2B2A2A"/>
                </a:solidFill>
              </a:rPr>
              <a:t>To </a:t>
            </a:r>
            <a:r>
              <a:rPr b="1" lang="en-US" sz="1800">
                <a:solidFill>
                  <a:srgbClr val="2B2A2A"/>
                </a:solidFill>
              </a:rPr>
              <a:t>identify</a:t>
            </a:r>
            <a:r>
              <a:rPr lang="en-US" sz="1800">
                <a:solidFill>
                  <a:srgbClr val="2B2A2A"/>
                </a:solidFill>
              </a:rPr>
              <a:t> technical and management </a:t>
            </a:r>
            <a:r>
              <a:rPr b="1" lang="en-US" sz="1800">
                <a:solidFill>
                  <a:srgbClr val="2B2A2A"/>
                </a:solidFill>
              </a:rPr>
              <a:t>constraints</a:t>
            </a:r>
            <a:endParaRPr sz="1800">
              <a:solidFill>
                <a:srgbClr val="2B2A2A"/>
              </a:solidFill>
            </a:endParaRPr>
          </a:p>
          <a:p>
            <a:pPr indent="-342900" lvl="0" marL="342900" rtl="0" algn="just">
              <a:lnSpc>
                <a:spcPct val="150000"/>
              </a:lnSpc>
              <a:spcBef>
                <a:spcPts val="400"/>
              </a:spcBef>
              <a:spcAft>
                <a:spcPts val="0"/>
              </a:spcAft>
              <a:buClr>
                <a:srgbClr val="C00000"/>
              </a:buClr>
              <a:buSzPts val="2000"/>
              <a:buChar char="•"/>
            </a:pPr>
            <a:r>
              <a:rPr b="0" i="1" lang="en-US" sz="1800">
                <a:solidFill>
                  <a:srgbClr val="C00000"/>
                </a:solidFill>
              </a:rPr>
              <a:t>Objectives </a:t>
            </a:r>
            <a:r>
              <a:rPr b="0" i="0" lang="en-US" sz="1800">
                <a:solidFill>
                  <a:srgbClr val="2B2A2A"/>
                </a:solidFill>
              </a:rPr>
              <a:t>identify the overall goals for the product (from the customers’ point of view) without considering how these goals will be achieved. </a:t>
            </a:r>
            <a:endParaRPr sz="1800"/>
          </a:p>
          <a:p>
            <a:pPr indent="-342900" lvl="0" marL="342900" rtl="0" algn="just">
              <a:lnSpc>
                <a:spcPct val="150000"/>
              </a:lnSpc>
              <a:spcBef>
                <a:spcPts val="400"/>
              </a:spcBef>
              <a:spcAft>
                <a:spcPts val="0"/>
              </a:spcAft>
              <a:buClr>
                <a:srgbClr val="C00000"/>
              </a:buClr>
              <a:buSzPts val="2000"/>
              <a:buChar char="•"/>
            </a:pPr>
            <a:r>
              <a:rPr b="0" i="1" lang="en-US" sz="1800">
                <a:solidFill>
                  <a:srgbClr val="C00000"/>
                </a:solidFill>
              </a:rPr>
              <a:t>Scope</a:t>
            </a:r>
            <a:r>
              <a:rPr b="0" i="0" lang="en-US" sz="1800">
                <a:solidFill>
                  <a:srgbClr val="2B2A2A"/>
                </a:solidFill>
              </a:rPr>
              <a:t> identifies the primary data, functions and behaviors that characterize the product, and more important, attempts to bound these characteristics in a quantitative manner.</a:t>
            </a:r>
            <a:endParaRPr sz="1800"/>
          </a:p>
          <a:p>
            <a:pPr indent="-342900" lvl="0" marL="342900" rtl="0" algn="just">
              <a:lnSpc>
                <a:spcPct val="100000"/>
              </a:lnSpc>
              <a:spcBef>
                <a:spcPts val="360"/>
              </a:spcBef>
              <a:spcAft>
                <a:spcPts val="0"/>
              </a:spcAft>
              <a:buClr>
                <a:schemeClr val="dk1"/>
              </a:buClr>
              <a:buSzPts val="1800"/>
              <a:buChar char="•"/>
            </a:pPr>
            <a:r>
              <a:rPr i="1" lang="en-US" sz="1800"/>
              <a:t>If scope and objectives are not defined, then it will be impossible: </a:t>
            </a:r>
            <a:endParaRPr sz="1800"/>
          </a:p>
          <a:p>
            <a:pPr indent="-285750" lvl="1" marL="742950" rtl="0" algn="just">
              <a:lnSpc>
                <a:spcPct val="100000"/>
              </a:lnSpc>
              <a:spcBef>
                <a:spcPts val="360"/>
              </a:spcBef>
              <a:spcAft>
                <a:spcPts val="0"/>
              </a:spcAft>
              <a:buClr>
                <a:schemeClr val="dk1"/>
              </a:buClr>
              <a:buSzPts val="1800"/>
              <a:buChar char="–"/>
            </a:pPr>
            <a:r>
              <a:rPr i="1" lang="en-US" sz="1800"/>
              <a:t>To define a reasonable and </a:t>
            </a:r>
            <a:r>
              <a:rPr b="1" i="1" lang="en-US" sz="1800"/>
              <a:t>accurate estimate of cost</a:t>
            </a:r>
            <a:r>
              <a:rPr i="1" lang="en-US" sz="1800"/>
              <a:t>.</a:t>
            </a:r>
            <a:endParaRPr sz="1800"/>
          </a:p>
          <a:p>
            <a:pPr indent="-285750" lvl="1" marL="742950" rtl="0" algn="just">
              <a:lnSpc>
                <a:spcPct val="100000"/>
              </a:lnSpc>
              <a:spcBef>
                <a:spcPts val="360"/>
              </a:spcBef>
              <a:spcAft>
                <a:spcPts val="0"/>
              </a:spcAft>
              <a:buClr>
                <a:schemeClr val="dk1"/>
              </a:buClr>
              <a:buSzPts val="1800"/>
              <a:buChar char="–"/>
            </a:pPr>
            <a:r>
              <a:rPr i="1" lang="en-US" sz="1800"/>
              <a:t>To </a:t>
            </a:r>
            <a:r>
              <a:rPr b="1" i="1" lang="en-US" sz="1800"/>
              <a:t>assess possible risks  </a:t>
            </a:r>
            <a:r>
              <a:rPr i="1" lang="en-US" sz="1800"/>
              <a:t>and to define a manageable project schedule.</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Product/Software Scope</a:t>
            </a:r>
            <a:endParaRPr/>
          </a:p>
        </p:txBody>
      </p:sp>
      <p:sp>
        <p:nvSpPr>
          <p:cNvPr id="96" name="Google Shape;96;p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97" name="Google Shape;97;p9"/>
          <p:cNvSpPr txBox="1"/>
          <p:nvPr>
            <p:ph idx="1" type="body"/>
          </p:nvPr>
        </p:nvSpPr>
        <p:spPr>
          <a:xfrm>
            <a:off x="457200" y="8382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2000">
                <a:solidFill>
                  <a:srgbClr val="242021"/>
                </a:solidFill>
              </a:rPr>
              <a:t>The first software project management activity is the determination of </a:t>
            </a:r>
            <a:r>
              <a:rPr b="0" i="1" lang="en-US" sz="2000">
                <a:solidFill>
                  <a:srgbClr val="242021"/>
                </a:solidFill>
              </a:rPr>
              <a:t>software scope.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Scope is defined by answering the following questions:</a:t>
            </a:r>
            <a:r>
              <a:rPr lang="en-US" sz="2000"/>
              <a:t> </a:t>
            </a:r>
            <a:endParaRPr/>
          </a:p>
          <a:p>
            <a:pPr indent="-285750" lvl="1" marL="742950" rtl="0" algn="just">
              <a:lnSpc>
                <a:spcPct val="150000"/>
              </a:lnSpc>
              <a:spcBef>
                <a:spcPts val="400"/>
              </a:spcBef>
              <a:spcAft>
                <a:spcPts val="0"/>
              </a:spcAft>
              <a:buClr>
                <a:srgbClr val="C00000"/>
              </a:buClr>
              <a:buSzPts val="2000"/>
              <a:buChar char="–"/>
            </a:pPr>
            <a:r>
              <a:rPr b="1" i="1" lang="en-US" sz="2000">
                <a:solidFill>
                  <a:srgbClr val="C00000"/>
                </a:solidFill>
              </a:rPr>
              <a:t>Context:</a:t>
            </a:r>
            <a:r>
              <a:rPr b="0" i="0" lang="en-US" sz="2000">
                <a:solidFill>
                  <a:srgbClr val="2B2A2A"/>
                </a:solidFill>
              </a:rPr>
              <a:t> How does the </a:t>
            </a:r>
            <a:r>
              <a:rPr b="1" i="0" lang="en-US" sz="2000">
                <a:solidFill>
                  <a:srgbClr val="2B2A2A"/>
                </a:solidFill>
              </a:rPr>
              <a:t>software to be built fit into a larger system</a:t>
            </a:r>
            <a:r>
              <a:rPr b="0" i="0" lang="en-US" sz="2000">
                <a:solidFill>
                  <a:srgbClr val="2B2A2A"/>
                </a:solidFill>
              </a:rPr>
              <a:t>, product, or business context and </a:t>
            </a:r>
            <a:r>
              <a:rPr b="1" i="0" lang="en-US" sz="2000">
                <a:solidFill>
                  <a:srgbClr val="2B2A2A"/>
                </a:solidFill>
              </a:rPr>
              <a:t>what constraints are imposed </a:t>
            </a:r>
            <a:r>
              <a:rPr b="0" i="0" lang="en-US" sz="2000">
                <a:solidFill>
                  <a:srgbClr val="2B2A2A"/>
                </a:solidFill>
              </a:rPr>
              <a:t>as a result of the context? </a:t>
            </a:r>
            <a:endParaRPr/>
          </a:p>
          <a:p>
            <a:pPr indent="-285750" lvl="1" marL="742950" rtl="0" algn="just">
              <a:lnSpc>
                <a:spcPct val="150000"/>
              </a:lnSpc>
              <a:spcBef>
                <a:spcPts val="400"/>
              </a:spcBef>
              <a:spcAft>
                <a:spcPts val="0"/>
              </a:spcAft>
              <a:buClr>
                <a:srgbClr val="C00000"/>
              </a:buClr>
              <a:buSzPts val="2000"/>
              <a:buChar char="–"/>
            </a:pPr>
            <a:r>
              <a:rPr b="1" i="1" lang="en-US" sz="2000">
                <a:solidFill>
                  <a:srgbClr val="C00000"/>
                </a:solidFill>
              </a:rPr>
              <a:t>Information objectives: </a:t>
            </a:r>
            <a:r>
              <a:rPr b="0" i="0" lang="en-US" sz="2000">
                <a:solidFill>
                  <a:srgbClr val="2B2A2A"/>
                </a:solidFill>
              </a:rPr>
              <a:t>What customer-visible </a:t>
            </a:r>
            <a:r>
              <a:rPr b="1" i="0" lang="en-US" sz="2000">
                <a:solidFill>
                  <a:srgbClr val="2B2A2A"/>
                </a:solidFill>
              </a:rPr>
              <a:t>data objects are produced as output</a:t>
            </a:r>
            <a:r>
              <a:rPr b="0" i="0" lang="en-US" sz="2000">
                <a:solidFill>
                  <a:srgbClr val="2B2A2A"/>
                </a:solidFill>
              </a:rPr>
              <a:t> from the software? What data objects are required for input? </a:t>
            </a:r>
            <a:endParaRPr/>
          </a:p>
          <a:p>
            <a:pPr indent="-285750" lvl="1" marL="742950" rtl="0" algn="just">
              <a:lnSpc>
                <a:spcPct val="150000"/>
              </a:lnSpc>
              <a:spcBef>
                <a:spcPts val="400"/>
              </a:spcBef>
              <a:spcAft>
                <a:spcPts val="0"/>
              </a:spcAft>
              <a:buClr>
                <a:srgbClr val="C00000"/>
              </a:buClr>
              <a:buSzPts val="2000"/>
              <a:buChar char="–"/>
            </a:pPr>
            <a:r>
              <a:rPr b="1" i="1" lang="en-US" sz="2000">
                <a:solidFill>
                  <a:srgbClr val="C00000"/>
                </a:solidFill>
              </a:rPr>
              <a:t>Function and performance: </a:t>
            </a:r>
            <a:r>
              <a:rPr b="0" i="0" lang="en-US" sz="2000">
                <a:solidFill>
                  <a:srgbClr val="2B2A2A"/>
                </a:solidFill>
              </a:rPr>
              <a:t>What function does the software perform to </a:t>
            </a:r>
            <a:r>
              <a:rPr b="1" i="0" lang="en-US" sz="2000">
                <a:solidFill>
                  <a:srgbClr val="2B2A2A"/>
                </a:solidFill>
              </a:rPr>
              <a:t>transform input data into output</a:t>
            </a:r>
            <a:r>
              <a:rPr b="0" i="0" lang="en-US" sz="2000">
                <a:solidFill>
                  <a:srgbClr val="2B2A2A"/>
                </a:solidFill>
              </a:rPr>
              <a:t>? Are any special performance characteristics to be addressed?</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Problem Decomposition</a:t>
            </a:r>
            <a:endParaRPr/>
          </a:p>
        </p:txBody>
      </p:sp>
      <p:sp>
        <p:nvSpPr>
          <p:cNvPr id="103" name="Google Shape;103;p1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04" name="Google Shape;104;p10"/>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Sometimes called </a:t>
            </a:r>
            <a:r>
              <a:rPr b="0" i="1" lang="en-US" sz="2000">
                <a:solidFill>
                  <a:srgbClr val="2B2A2A"/>
                </a:solidFill>
              </a:rPr>
              <a:t>partitioning</a:t>
            </a:r>
            <a:r>
              <a:rPr b="0" i="0" lang="en-US" sz="2000">
                <a:solidFill>
                  <a:srgbClr val="2B2A2A"/>
                </a:solidFill>
              </a:rPr>
              <a:t> or </a:t>
            </a:r>
            <a:r>
              <a:rPr b="0" i="1" lang="en-US" sz="2000">
                <a:solidFill>
                  <a:srgbClr val="2B2A2A"/>
                </a:solidFill>
              </a:rPr>
              <a:t>problem elaboration</a:t>
            </a:r>
            <a:r>
              <a:rPr b="0" i="0" lang="en-US" sz="2000">
                <a:solidFill>
                  <a:srgbClr val="2B2A2A"/>
                </a:solidFill>
              </a:rPr>
              <a:t>. </a:t>
            </a:r>
            <a:endParaRPr/>
          </a:p>
          <a:p>
            <a:pPr indent="-342900" lvl="0" marL="342900" rtl="0" algn="just">
              <a:lnSpc>
                <a:spcPct val="150000"/>
              </a:lnSpc>
              <a:spcBef>
                <a:spcPts val="400"/>
              </a:spcBef>
              <a:spcAft>
                <a:spcPts val="0"/>
              </a:spcAft>
              <a:buClr>
                <a:srgbClr val="2B2A2A"/>
              </a:buClr>
              <a:buSzPts val="2000"/>
              <a:buChar char="•"/>
            </a:pPr>
            <a:r>
              <a:rPr lang="en-US" sz="2000">
                <a:solidFill>
                  <a:srgbClr val="2B2A2A"/>
                </a:solidFill>
              </a:rPr>
              <a:t>Once scope is defined … </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It is decomposed into constituent functions </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It is decomposed into </a:t>
            </a:r>
            <a:r>
              <a:rPr b="1" lang="en-US" sz="2000">
                <a:solidFill>
                  <a:srgbClr val="2B2A2A"/>
                </a:solidFill>
              </a:rPr>
              <a:t>user-visible</a:t>
            </a:r>
            <a:r>
              <a:rPr lang="en-US" sz="2000">
                <a:solidFill>
                  <a:srgbClr val="2B2A2A"/>
                </a:solidFill>
              </a:rPr>
              <a:t> data objects </a:t>
            </a:r>
            <a:endParaRPr/>
          </a:p>
          <a:p>
            <a:pPr indent="0" lvl="2" marL="914400" rtl="0" algn="just">
              <a:lnSpc>
                <a:spcPct val="150000"/>
              </a:lnSpc>
              <a:spcBef>
                <a:spcPts val="400"/>
              </a:spcBef>
              <a:spcAft>
                <a:spcPts val="0"/>
              </a:spcAft>
              <a:buClr>
                <a:srgbClr val="2B2A2A"/>
              </a:buClr>
              <a:buSzPts val="2000"/>
              <a:buNone/>
            </a:pPr>
            <a:r>
              <a:rPr lang="en-US" sz="2000">
                <a:solidFill>
                  <a:srgbClr val="2B2A2A"/>
                </a:solidFill>
              </a:rPr>
              <a:t>		or  </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It is decomposed into a set of problem classes </a:t>
            </a:r>
            <a:endParaRPr/>
          </a:p>
          <a:p>
            <a:pPr indent="-342900" lvl="0" marL="342900" rtl="0" algn="just">
              <a:lnSpc>
                <a:spcPct val="150000"/>
              </a:lnSpc>
              <a:spcBef>
                <a:spcPts val="400"/>
              </a:spcBef>
              <a:spcAft>
                <a:spcPts val="0"/>
              </a:spcAft>
              <a:buClr>
                <a:srgbClr val="2B2A2A"/>
              </a:buClr>
              <a:buSzPts val="2000"/>
              <a:buChar char="•"/>
            </a:pPr>
            <a:r>
              <a:rPr lang="en-US" sz="2000">
                <a:solidFill>
                  <a:srgbClr val="2B2A2A"/>
                </a:solidFill>
              </a:rPr>
              <a:t>Decomposition process continues </a:t>
            </a:r>
            <a:r>
              <a:rPr b="1" lang="en-US" sz="2000">
                <a:solidFill>
                  <a:srgbClr val="2B2A2A"/>
                </a:solidFill>
              </a:rPr>
              <a:t>until all functions or problem classes have been defined</a:t>
            </a:r>
            <a:endParaRPr b="1"/>
          </a:p>
          <a:p>
            <a:pPr indent="-215900" lvl="0" marL="342900" rtl="0" algn="just">
              <a:lnSpc>
                <a:spcPct val="150000"/>
              </a:lnSpc>
              <a:spcBef>
                <a:spcPts val="400"/>
              </a:spcBef>
              <a:spcAft>
                <a:spcPts val="0"/>
              </a:spcAft>
              <a:buClr>
                <a:schemeClr val="dk1"/>
              </a:buClr>
              <a:buSzPts val="2000"/>
              <a:buNone/>
            </a:pPr>
            <a:r>
              <a:t/>
            </a:r>
            <a:endParaRPr b="0" i="0" sz="2000">
              <a:solidFill>
                <a:srgbClr val="2B2A2A"/>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Third P - Process</a:t>
            </a:r>
            <a:endParaRPr/>
          </a:p>
        </p:txBody>
      </p:sp>
      <p:sp>
        <p:nvSpPr>
          <p:cNvPr id="110" name="Google Shape;110;p1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11" name="Google Shape;111;p11"/>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The project manager must decide </a:t>
            </a:r>
            <a:r>
              <a:rPr b="1" i="0" lang="en-US" sz="2000">
                <a:solidFill>
                  <a:srgbClr val="2B2A2A"/>
                </a:solidFill>
              </a:rPr>
              <a:t>which process model is appropriate </a:t>
            </a:r>
            <a:r>
              <a:rPr b="0" i="0" lang="en-US" sz="2000">
                <a:solidFill>
                  <a:srgbClr val="2B2A2A"/>
                </a:solidFill>
              </a:rPr>
              <a:t>for: </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The customers who have requested the product and the people who will do the work</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The characteristics of the product itself</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The project environment in which the software team works. </a:t>
            </a:r>
            <a:endParaRPr sz="2000">
              <a:solidFill>
                <a:srgbClr val="2B2A2A"/>
              </a:solidFill>
            </a:endParaRPr>
          </a:p>
          <a:p>
            <a:pPr indent="-342900" lvl="0" marL="342900" rtl="0" algn="just">
              <a:lnSpc>
                <a:spcPct val="150000"/>
              </a:lnSpc>
              <a:spcBef>
                <a:spcPts val="400"/>
              </a:spcBef>
              <a:spcAft>
                <a:spcPts val="0"/>
              </a:spcAft>
              <a:buClr>
                <a:srgbClr val="2B2A2A"/>
              </a:buClr>
              <a:buSzPts val="2000"/>
              <a:buChar char="•"/>
            </a:pPr>
            <a:r>
              <a:rPr b="0" i="0" lang="en-US" sz="2000">
                <a:solidFill>
                  <a:srgbClr val="2B2A2A"/>
                </a:solidFill>
              </a:rPr>
              <a:t>When a process model has been selected, </a:t>
            </a:r>
            <a:r>
              <a:rPr b="1" i="0" lang="en-US" sz="2000">
                <a:solidFill>
                  <a:srgbClr val="2B2A2A"/>
                </a:solidFill>
              </a:rPr>
              <a:t>define a preliminary project plan on the set of common process framework activities.</a:t>
            </a:r>
            <a:endParaRPr b="1" i="0" sz="2800">
              <a:solidFill>
                <a:srgbClr val="2B2A2A"/>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Third P – Process (contd.)</a:t>
            </a:r>
            <a:endParaRPr/>
          </a:p>
        </p:txBody>
      </p:sp>
      <p:sp>
        <p:nvSpPr>
          <p:cNvPr id="117" name="Google Shape;117;p1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18" name="Google Shape;118;p12"/>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Once a process framework has been established </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Consider project characteristics</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Determine the degree of rigor required </a:t>
            </a:r>
            <a:endParaRPr/>
          </a:p>
          <a:p>
            <a:pPr indent="-285750" lvl="1" marL="742950" rtl="0" algn="just">
              <a:lnSpc>
                <a:spcPct val="150000"/>
              </a:lnSpc>
              <a:spcBef>
                <a:spcPts val="400"/>
              </a:spcBef>
              <a:spcAft>
                <a:spcPts val="0"/>
              </a:spcAft>
              <a:buClr>
                <a:srgbClr val="2B2A2A"/>
              </a:buClr>
              <a:buSzPts val="2000"/>
              <a:buChar char="–"/>
            </a:pPr>
            <a:r>
              <a:rPr b="1" i="0" lang="en-US" sz="2000">
                <a:solidFill>
                  <a:srgbClr val="2B2A2A"/>
                </a:solidFill>
              </a:rPr>
              <a:t>Define a task set for each software engineering activity </a:t>
            </a:r>
            <a:endParaRPr b="1"/>
          </a:p>
          <a:p>
            <a:pPr indent="-228600" lvl="2" marL="1143000" rtl="0" algn="just">
              <a:lnSpc>
                <a:spcPct val="150000"/>
              </a:lnSpc>
              <a:spcBef>
                <a:spcPts val="400"/>
              </a:spcBef>
              <a:spcAft>
                <a:spcPts val="0"/>
              </a:spcAft>
              <a:buClr>
                <a:srgbClr val="2B2A2A"/>
              </a:buClr>
              <a:buSzPts val="2000"/>
              <a:buFont typeface="Noto Sans Symbols"/>
              <a:buChar char="⮚"/>
            </a:pPr>
            <a:r>
              <a:rPr b="0" i="0" lang="en-US" sz="2000">
                <a:solidFill>
                  <a:srgbClr val="2B2A2A"/>
                </a:solidFill>
              </a:rPr>
              <a:t>Task set : </a:t>
            </a:r>
            <a:endParaRPr/>
          </a:p>
          <a:p>
            <a:pPr indent="-228600" lvl="3" marL="1600200" rtl="0" algn="just">
              <a:lnSpc>
                <a:spcPct val="150000"/>
              </a:lnSpc>
              <a:spcBef>
                <a:spcPts val="400"/>
              </a:spcBef>
              <a:spcAft>
                <a:spcPts val="0"/>
              </a:spcAft>
              <a:buClr>
                <a:srgbClr val="2B2A2A"/>
              </a:buClr>
              <a:buSzPts val="2000"/>
              <a:buFont typeface="Noto Sans Symbols"/>
              <a:buChar char="✔"/>
            </a:pPr>
            <a:r>
              <a:rPr b="0" i="0" lang="en-US" sz="2000">
                <a:solidFill>
                  <a:srgbClr val="2B2A2A"/>
                </a:solidFill>
              </a:rPr>
              <a:t>Software engineering tasks</a:t>
            </a:r>
            <a:endParaRPr/>
          </a:p>
          <a:p>
            <a:pPr indent="-228600" lvl="3" marL="1600200" rtl="0" algn="just">
              <a:lnSpc>
                <a:spcPct val="150000"/>
              </a:lnSpc>
              <a:spcBef>
                <a:spcPts val="400"/>
              </a:spcBef>
              <a:spcAft>
                <a:spcPts val="0"/>
              </a:spcAft>
              <a:buClr>
                <a:srgbClr val="2B2A2A"/>
              </a:buClr>
              <a:buSzPts val="2000"/>
              <a:buFont typeface="Noto Sans Symbols"/>
              <a:buChar char="✔"/>
            </a:pPr>
            <a:r>
              <a:rPr b="0" i="0" lang="en-US" sz="2000">
                <a:solidFill>
                  <a:srgbClr val="2B2A2A"/>
                </a:solidFill>
              </a:rPr>
              <a:t>Work products </a:t>
            </a:r>
            <a:endParaRPr/>
          </a:p>
          <a:p>
            <a:pPr indent="-228600" lvl="3" marL="1600200" rtl="0" algn="just">
              <a:lnSpc>
                <a:spcPct val="150000"/>
              </a:lnSpc>
              <a:spcBef>
                <a:spcPts val="400"/>
              </a:spcBef>
              <a:spcAft>
                <a:spcPts val="0"/>
              </a:spcAft>
              <a:buClr>
                <a:srgbClr val="2B2A2A"/>
              </a:buClr>
              <a:buSzPts val="2000"/>
              <a:buFont typeface="Noto Sans Symbols"/>
              <a:buChar char="✔"/>
            </a:pPr>
            <a:r>
              <a:rPr b="0" i="0" lang="en-US" sz="2000">
                <a:solidFill>
                  <a:srgbClr val="2B2A2A"/>
                </a:solidFill>
              </a:rPr>
              <a:t>Quality assurance points </a:t>
            </a:r>
            <a:endParaRPr/>
          </a:p>
          <a:p>
            <a:pPr indent="-228600" lvl="3" marL="1600200" rtl="0" algn="just">
              <a:lnSpc>
                <a:spcPct val="150000"/>
              </a:lnSpc>
              <a:spcBef>
                <a:spcPts val="400"/>
              </a:spcBef>
              <a:spcAft>
                <a:spcPts val="0"/>
              </a:spcAft>
              <a:buClr>
                <a:srgbClr val="2B2A2A"/>
              </a:buClr>
              <a:buSzPts val="2000"/>
              <a:buFont typeface="Noto Sans Symbols"/>
              <a:buChar char="✔"/>
            </a:pPr>
            <a:r>
              <a:rPr b="0" i="0" lang="en-US" sz="2000">
                <a:solidFill>
                  <a:srgbClr val="2B2A2A"/>
                </a:solidFill>
              </a:rPr>
              <a:t>Milestones</a:t>
            </a:r>
            <a:endParaRPr b="0" i="0" sz="2800">
              <a:solidFill>
                <a:srgbClr val="2B2A2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Fourth P - Project</a:t>
            </a:r>
            <a:endParaRPr/>
          </a:p>
        </p:txBody>
      </p:sp>
      <p:sp>
        <p:nvSpPr>
          <p:cNvPr id="124" name="Google Shape;124;p1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25" name="Google Shape;125;p13"/>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B2A2A"/>
              </a:buClr>
              <a:buSzPts val="2000"/>
              <a:buChar char="•"/>
            </a:pPr>
            <a:r>
              <a:rPr b="0" i="0" lang="en-US" sz="2000">
                <a:solidFill>
                  <a:srgbClr val="2B2A2A"/>
                </a:solidFill>
              </a:rPr>
              <a:t>For a successful project, we must understand what can go wrong </a:t>
            </a:r>
            <a:endParaRPr/>
          </a:p>
          <a:p>
            <a:pPr indent="-342900" lvl="0" marL="342900" rtl="0" algn="just">
              <a:lnSpc>
                <a:spcPct val="150000"/>
              </a:lnSpc>
              <a:spcBef>
                <a:spcPts val="400"/>
              </a:spcBef>
              <a:spcAft>
                <a:spcPts val="0"/>
              </a:spcAft>
              <a:buClr>
                <a:srgbClr val="2B2A2A"/>
              </a:buClr>
              <a:buSzPts val="2000"/>
              <a:buChar char="•"/>
            </a:pPr>
            <a:r>
              <a:rPr b="0" i="0" lang="en-US" sz="2000">
                <a:solidFill>
                  <a:srgbClr val="2B2A2A"/>
                </a:solidFill>
              </a:rPr>
              <a:t>Projects get into trouble when … </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Software people don’t understand their </a:t>
            </a:r>
            <a:r>
              <a:rPr b="1" i="0" lang="en-US" sz="2000">
                <a:solidFill>
                  <a:srgbClr val="2B2A2A"/>
                </a:solidFill>
              </a:rPr>
              <a:t>customer’s needs</a:t>
            </a:r>
            <a:r>
              <a:rPr b="0" i="0" lang="en-US" sz="2000">
                <a:solidFill>
                  <a:srgbClr val="2B2A2A"/>
                </a:solidFill>
              </a:rPr>
              <a:t>.</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The product </a:t>
            </a:r>
            <a:r>
              <a:rPr b="1" i="0" lang="en-US" sz="2000">
                <a:solidFill>
                  <a:srgbClr val="2B2A2A"/>
                </a:solidFill>
              </a:rPr>
              <a:t>scope is poorly defined. </a:t>
            </a:r>
            <a:endParaRPr b="1"/>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Changes are managed poorly. </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The chosen </a:t>
            </a:r>
            <a:r>
              <a:rPr b="1" i="0" lang="en-US" sz="2000">
                <a:solidFill>
                  <a:srgbClr val="2B2A2A"/>
                </a:solidFill>
              </a:rPr>
              <a:t>technology changes</a:t>
            </a:r>
            <a:r>
              <a:rPr b="0" i="0" lang="en-US" sz="2000">
                <a:solidFill>
                  <a:srgbClr val="2B2A2A"/>
                </a:solidFill>
              </a:rPr>
              <a:t>.</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Business </a:t>
            </a:r>
            <a:r>
              <a:rPr b="1" i="0" lang="en-US" sz="2000">
                <a:solidFill>
                  <a:srgbClr val="2B2A2A"/>
                </a:solidFill>
              </a:rPr>
              <a:t>needs change </a:t>
            </a:r>
            <a:r>
              <a:rPr b="0" i="0" lang="en-US" sz="2000">
                <a:solidFill>
                  <a:srgbClr val="2B2A2A"/>
                </a:solidFill>
              </a:rPr>
              <a:t>[or are ill-defined].</a:t>
            </a:r>
            <a:endParaRPr/>
          </a:p>
          <a:p>
            <a:pPr indent="-285750" lvl="1" marL="742950" rtl="0" algn="just">
              <a:lnSpc>
                <a:spcPct val="100000"/>
              </a:lnSpc>
              <a:spcBef>
                <a:spcPts val="400"/>
              </a:spcBef>
              <a:spcAft>
                <a:spcPts val="0"/>
              </a:spcAft>
              <a:buClr>
                <a:srgbClr val="2B2A2A"/>
              </a:buClr>
              <a:buSzPts val="2000"/>
              <a:buChar char="–"/>
            </a:pPr>
            <a:r>
              <a:rPr b="1" i="0" lang="en-US" sz="2000">
                <a:solidFill>
                  <a:srgbClr val="2B2A2A"/>
                </a:solidFill>
              </a:rPr>
              <a:t>Deadlines are unrealistic </a:t>
            </a:r>
            <a:r>
              <a:rPr b="0" i="0" lang="en-US" sz="2000">
                <a:solidFill>
                  <a:srgbClr val="2B2A2A"/>
                </a:solidFill>
              </a:rPr>
              <a:t>and Users are resistant. </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Sponsorship is lost [or was never properly obtained].</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The project team </a:t>
            </a:r>
            <a:r>
              <a:rPr b="1" i="0" lang="en-US" sz="2000">
                <a:solidFill>
                  <a:srgbClr val="2B2A2A"/>
                </a:solidFill>
              </a:rPr>
              <a:t>lacks people with appropriate skills</a:t>
            </a:r>
            <a:r>
              <a:rPr b="0" i="0" lang="en-US" sz="2000">
                <a:solidFill>
                  <a:srgbClr val="2B2A2A"/>
                </a:solidFill>
              </a:rPr>
              <a:t>. </a:t>
            </a:r>
            <a:endParaRPr/>
          </a:p>
          <a:p>
            <a:pPr indent="-285750" lvl="1" marL="742950" rtl="0" algn="just">
              <a:lnSpc>
                <a:spcPct val="100000"/>
              </a:lnSpc>
              <a:spcBef>
                <a:spcPts val="400"/>
              </a:spcBef>
              <a:spcAft>
                <a:spcPts val="0"/>
              </a:spcAft>
              <a:buClr>
                <a:srgbClr val="2B2A2A"/>
              </a:buClr>
              <a:buSzPts val="2000"/>
              <a:buChar char="–"/>
            </a:pPr>
            <a:r>
              <a:rPr b="0" i="0" lang="en-US" sz="2000">
                <a:solidFill>
                  <a:srgbClr val="2B2A2A"/>
                </a:solidFill>
              </a:rPr>
              <a:t>Managers [and practitioners] </a:t>
            </a:r>
            <a:r>
              <a:rPr b="1" i="0" lang="en-US" sz="2000">
                <a:solidFill>
                  <a:srgbClr val="2B2A2A"/>
                </a:solidFill>
              </a:rPr>
              <a:t>avoid best practices </a:t>
            </a:r>
            <a:r>
              <a:rPr b="0" i="0" lang="en-US" sz="2000">
                <a:solidFill>
                  <a:srgbClr val="2B2A2A"/>
                </a:solidFill>
              </a:rPr>
              <a:t>and lessons learned.</a:t>
            </a:r>
            <a:endParaRPr/>
          </a:p>
          <a:p>
            <a:pPr indent="-215900" lvl="1" marL="342900" rtl="0" algn="just">
              <a:lnSpc>
                <a:spcPct val="100000"/>
              </a:lnSpc>
              <a:spcBef>
                <a:spcPts val="400"/>
              </a:spcBef>
              <a:spcAft>
                <a:spcPts val="0"/>
              </a:spcAft>
              <a:buClr>
                <a:schemeClr val="dk1"/>
              </a:buClr>
              <a:buSzPts val="2000"/>
              <a:buFont typeface="Arial"/>
              <a:buNone/>
            </a:pPr>
            <a:r>
              <a:t/>
            </a:r>
            <a:endParaRPr sz="2000">
              <a:solidFill>
                <a:srgbClr val="2B2A2A"/>
              </a:solidFill>
            </a:endParaRPr>
          </a:p>
          <a:p>
            <a:pPr indent="-342900" lvl="1" marL="342900" rtl="0" algn="just">
              <a:lnSpc>
                <a:spcPct val="100000"/>
              </a:lnSpc>
              <a:spcBef>
                <a:spcPts val="400"/>
              </a:spcBef>
              <a:spcAft>
                <a:spcPts val="0"/>
              </a:spcAft>
              <a:buClr>
                <a:srgbClr val="2B2A2A"/>
              </a:buClr>
              <a:buSzPts val="2000"/>
              <a:buFont typeface="Arial"/>
              <a:buChar char="•"/>
            </a:pPr>
            <a:r>
              <a:rPr lang="en-US" sz="2000">
                <a:solidFill>
                  <a:srgbClr val="2B2A2A"/>
                </a:solidFill>
              </a:rPr>
              <a:t>Manager acts to avoid these problems by using </a:t>
            </a:r>
            <a:r>
              <a:rPr i="1" lang="en-US" sz="2000">
                <a:solidFill>
                  <a:srgbClr val="2B2A2A"/>
                </a:solidFill>
              </a:rPr>
              <a:t>five-part commonsense approach</a:t>
            </a:r>
            <a:r>
              <a:rPr lang="en-US" sz="2000">
                <a:solidFill>
                  <a:srgbClr val="2B2A2A"/>
                </a:solidFill>
              </a:rPr>
              <a:t> to software projects</a:t>
            </a:r>
            <a:endParaRPr/>
          </a:p>
          <a:p>
            <a:pPr indent="0" lvl="1" marL="0" rtl="0" algn="just">
              <a:lnSpc>
                <a:spcPct val="100000"/>
              </a:lnSpc>
              <a:spcBef>
                <a:spcPts val="400"/>
              </a:spcBef>
              <a:spcAft>
                <a:spcPts val="0"/>
              </a:spcAft>
              <a:buClr>
                <a:srgbClr val="2B2A2A"/>
              </a:buClr>
              <a:buSzPts val="2000"/>
              <a:buNone/>
            </a:pPr>
            <a:r>
              <a:rPr lang="en-US" sz="2000">
                <a:solidFill>
                  <a:srgbClr val="2B2A2A"/>
                </a:solidFill>
              </a:rPr>
              <a:t> </a:t>
            </a:r>
            <a:br>
              <a:rPr lang="en-US" sz="2000">
                <a:solidFill>
                  <a:srgbClr val="2B2A2A"/>
                </a:solidFill>
              </a:rPr>
            </a:br>
            <a:endParaRPr sz="2000">
              <a:solidFill>
                <a:srgbClr val="2B2A2A"/>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Common Sense Approaches to Projects</a:t>
            </a:r>
            <a:endParaRPr/>
          </a:p>
        </p:txBody>
      </p:sp>
      <p:sp>
        <p:nvSpPr>
          <p:cNvPr id="131" name="Google Shape;131;p1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32" name="Google Shape;132;p1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a:pPr>
            <a:r>
              <a:rPr b="1" i="1" lang="en-US" sz="2000">
                <a:solidFill>
                  <a:srgbClr val="C00000"/>
                </a:solidFill>
              </a:rPr>
              <a:t>Start on the right foot:</a:t>
            </a:r>
            <a:r>
              <a:rPr b="0" i="0" lang="en-US" sz="2000">
                <a:solidFill>
                  <a:srgbClr val="2B2A2A"/>
                </a:solidFill>
              </a:rPr>
              <a:t> This is accomplished by working hard (very hard) </a:t>
            </a:r>
            <a:r>
              <a:rPr b="1" i="0" lang="en-US" sz="2000">
                <a:solidFill>
                  <a:srgbClr val="2B2A2A"/>
                </a:solidFill>
              </a:rPr>
              <a:t>to understand the problem </a:t>
            </a:r>
            <a:r>
              <a:rPr b="0" i="0" lang="en-US" sz="2000">
                <a:solidFill>
                  <a:srgbClr val="2B2A2A"/>
                </a:solidFill>
              </a:rPr>
              <a:t>that is to be solved and then setting realistic objectives and expectations.</a:t>
            </a:r>
            <a:endParaRPr/>
          </a:p>
          <a:p>
            <a:pPr indent="-330200" lvl="0" marL="457200" rtl="0" algn="just">
              <a:lnSpc>
                <a:spcPct val="150000"/>
              </a:lnSpc>
              <a:spcBef>
                <a:spcPts val="0"/>
              </a:spcBef>
              <a:spcAft>
                <a:spcPts val="0"/>
              </a:spcAft>
              <a:buClr>
                <a:srgbClr val="C00000"/>
              </a:buClr>
              <a:buSzPts val="2000"/>
              <a:buFont typeface="Calibri"/>
              <a:buNone/>
            </a:pPr>
            <a:r>
              <a:t/>
            </a:r>
            <a:endParaRPr b="1" i="1" sz="2000">
              <a:solidFill>
                <a:srgbClr val="C00000"/>
              </a:solidFill>
            </a:endParaRPr>
          </a:p>
          <a:p>
            <a:pPr indent="-457200" lvl="0" marL="457200" rtl="0" algn="just">
              <a:lnSpc>
                <a:spcPct val="150000"/>
              </a:lnSpc>
              <a:spcBef>
                <a:spcPts val="0"/>
              </a:spcBef>
              <a:spcAft>
                <a:spcPts val="0"/>
              </a:spcAft>
              <a:buClr>
                <a:srgbClr val="C00000"/>
              </a:buClr>
              <a:buSzPts val="2000"/>
              <a:buFont typeface="Calibri"/>
              <a:buAutoNum type="arabicPeriod"/>
            </a:pPr>
            <a:r>
              <a:rPr b="1" i="1" lang="en-US" sz="2000">
                <a:solidFill>
                  <a:srgbClr val="C00000"/>
                </a:solidFill>
              </a:rPr>
              <a:t>Maintain momentum: </a:t>
            </a:r>
            <a:r>
              <a:rPr b="0" i="0" lang="en-US" sz="2000">
                <a:solidFill>
                  <a:srgbClr val="2B2A2A"/>
                </a:solidFill>
              </a:rPr>
              <a:t>The project </a:t>
            </a:r>
            <a:r>
              <a:rPr b="1" i="0" lang="en-US" sz="2000">
                <a:solidFill>
                  <a:srgbClr val="2B2A2A"/>
                </a:solidFill>
              </a:rPr>
              <a:t>manager must provide incentives to keep turnover of personnel to an absolute minimum</a:t>
            </a:r>
            <a:r>
              <a:rPr b="0" i="0" lang="en-US" sz="2000">
                <a:solidFill>
                  <a:srgbClr val="2B2A2A"/>
                </a:solidFill>
              </a:rPr>
              <a:t>, the team should emphasize quality in every task it performs, and senior management should do everything possible to stay out of the team’s way.</a:t>
            </a:r>
            <a:endParaRPr/>
          </a:p>
          <a:p>
            <a:pPr indent="-393700" lvl="0" marL="457200" rtl="0" algn="just">
              <a:lnSpc>
                <a:spcPct val="150000"/>
              </a:lnSpc>
              <a:spcBef>
                <a:spcPts val="200"/>
              </a:spcBef>
              <a:spcAft>
                <a:spcPts val="0"/>
              </a:spcAft>
              <a:buClr>
                <a:schemeClr val="dk1"/>
              </a:buClr>
              <a:buSzPts val="1000"/>
              <a:buFont typeface="Calibri"/>
              <a:buNone/>
            </a:pPr>
            <a:r>
              <a:t/>
            </a:r>
            <a:endParaRPr b="0" i="0" sz="1000">
              <a:solidFill>
                <a:srgbClr val="2B2A2A"/>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Common Sense Approaches to Projects</a:t>
            </a:r>
            <a:endParaRPr/>
          </a:p>
        </p:txBody>
      </p:sp>
      <p:sp>
        <p:nvSpPr>
          <p:cNvPr id="138" name="Google Shape;138;p1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39" name="Google Shape;139;p1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startAt="3"/>
            </a:pPr>
            <a:r>
              <a:rPr b="1" i="1" lang="en-US" sz="2000">
                <a:solidFill>
                  <a:srgbClr val="C00000"/>
                </a:solidFill>
              </a:rPr>
              <a:t>Track progress</a:t>
            </a:r>
            <a:r>
              <a:rPr lang="en-US" sz="2000">
                <a:solidFill>
                  <a:srgbClr val="2B2A2A"/>
                </a:solidFill>
              </a:rPr>
              <a:t>:</a:t>
            </a:r>
            <a:r>
              <a:rPr b="0" i="0" lang="en-US" sz="2000">
                <a:solidFill>
                  <a:srgbClr val="2B2A2A"/>
                </a:solidFill>
              </a:rPr>
              <a:t> For a software project, </a:t>
            </a:r>
            <a:r>
              <a:rPr b="1" i="0" lang="en-US" sz="2000">
                <a:solidFill>
                  <a:srgbClr val="2B2A2A"/>
                </a:solidFill>
              </a:rPr>
              <a:t>progress is tracked as work products (e.g., models, source code, sets of test cases) are produced and approved</a:t>
            </a:r>
            <a:r>
              <a:rPr b="0" i="0" lang="en-US" sz="2000">
                <a:solidFill>
                  <a:srgbClr val="2B2A2A"/>
                </a:solidFill>
              </a:rPr>
              <a:t> (using formal technical reviews) as part of a quality assurance activity.</a:t>
            </a:r>
            <a:endParaRPr sz="2000">
              <a:solidFill>
                <a:srgbClr val="2B2A2A"/>
              </a:solidFill>
            </a:endParaRPr>
          </a:p>
          <a:p>
            <a:pPr indent="-330200" lvl="0" marL="457200" rtl="0" algn="just">
              <a:lnSpc>
                <a:spcPct val="150000"/>
              </a:lnSpc>
              <a:spcBef>
                <a:spcPts val="0"/>
              </a:spcBef>
              <a:spcAft>
                <a:spcPts val="0"/>
              </a:spcAft>
              <a:buClr>
                <a:srgbClr val="C00000"/>
              </a:buClr>
              <a:buSzPts val="2000"/>
              <a:buFont typeface="Calibri"/>
              <a:buNone/>
            </a:pPr>
            <a:r>
              <a:t/>
            </a:r>
            <a:endParaRPr b="1" i="1" sz="2000">
              <a:solidFill>
                <a:srgbClr val="2B2A2A"/>
              </a:solidFill>
            </a:endParaRPr>
          </a:p>
          <a:p>
            <a:pPr indent="-457200" lvl="0" marL="457200" rtl="0" algn="just">
              <a:lnSpc>
                <a:spcPct val="150000"/>
              </a:lnSpc>
              <a:spcBef>
                <a:spcPts val="0"/>
              </a:spcBef>
              <a:spcAft>
                <a:spcPts val="0"/>
              </a:spcAft>
              <a:buClr>
                <a:srgbClr val="C00000"/>
              </a:buClr>
              <a:buSzPts val="2000"/>
              <a:buFont typeface="Calibri"/>
              <a:buAutoNum type="arabicPeriod" startAt="3"/>
            </a:pPr>
            <a:r>
              <a:rPr b="1" i="1" lang="en-US" sz="2000">
                <a:solidFill>
                  <a:srgbClr val="C00000"/>
                </a:solidFill>
              </a:rPr>
              <a:t>Make smart decisions: </a:t>
            </a:r>
            <a:r>
              <a:rPr b="0" i="0" lang="en-US" sz="2000">
                <a:solidFill>
                  <a:srgbClr val="2B2A2A"/>
                </a:solidFill>
              </a:rPr>
              <a:t>In essence, the decisions of the project manager and the software team should be to “</a:t>
            </a:r>
            <a:r>
              <a:rPr b="1" i="0" lang="en-US" sz="2000">
                <a:solidFill>
                  <a:srgbClr val="2B2A2A"/>
                </a:solidFill>
              </a:rPr>
              <a:t>keep it simple</a:t>
            </a:r>
            <a:r>
              <a:rPr b="0" i="0" lang="en-US" sz="2000">
                <a:solidFill>
                  <a:srgbClr val="2B2A2A"/>
                </a:solidFill>
              </a:rPr>
              <a:t>.”</a:t>
            </a:r>
            <a:endParaRPr/>
          </a:p>
          <a:p>
            <a:pPr indent="-330200" lvl="0" marL="457200" rtl="0" algn="just">
              <a:lnSpc>
                <a:spcPct val="150000"/>
              </a:lnSpc>
              <a:spcBef>
                <a:spcPts val="0"/>
              </a:spcBef>
              <a:spcAft>
                <a:spcPts val="0"/>
              </a:spcAft>
              <a:buClr>
                <a:srgbClr val="C00000"/>
              </a:buClr>
              <a:buSzPts val="2000"/>
              <a:buFont typeface="Calibri"/>
              <a:buNone/>
            </a:pPr>
            <a:r>
              <a:t/>
            </a:r>
            <a:endParaRPr b="1" i="1" sz="2000">
              <a:solidFill>
                <a:srgbClr val="C00000"/>
              </a:solidFill>
            </a:endParaRPr>
          </a:p>
          <a:p>
            <a:pPr indent="-457200" lvl="0" marL="457200" rtl="0" algn="just">
              <a:lnSpc>
                <a:spcPct val="150000"/>
              </a:lnSpc>
              <a:spcBef>
                <a:spcPts val="0"/>
              </a:spcBef>
              <a:spcAft>
                <a:spcPts val="0"/>
              </a:spcAft>
              <a:buClr>
                <a:srgbClr val="C00000"/>
              </a:buClr>
              <a:buSzPts val="2000"/>
              <a:buFont typeface="Calibri"/>
              <a:buAutoNum type="arabicPeriod" startAt="3"/>
            </a:pPr>
            <a:r>
              <a:rPr b="1" i="1" lang="en-US" sz="2000">
                <a:solidFill>
                  <a:srgbClr val="C00000"/>
                </a:solidFill>
              </a:rPr>
              <a:t>Conduct a postmortem analysis: </a:t>
            </a:r>
            <a:r>
              <a:rPr b="0" i="0" lang="en-US" sz="2000">
                <a:solidFill>
                  <a:srgbClr val="2B2A2A"/>
                </a:solidFill>
              </a:rPr>
              <a:t>Establish a consistent mechanism for </a:t>
            </a:r>
            <a:r>
              <a:rPr b="1" i="0" lang="en-US" sz="2000">
                <a:solidFill>
                  <a:srgbClr val="2B2A2A"/>
                </a:solidFill>
              </a:rPr>
              <a:t>extracting lessons learned for each project</a:t>
            </a:r>
            <a:r>
              <a:rPr b="0" i="0" lang="en-US" sz="2000">
                <a:solidFill>
                  <a:srgbClr val="2B2A2A"/>
                </a:solidFill>
              </a:rPr>
              <a:t>.</a:t>
            </a:r>
            <a:endParaRPr/>
          </a:p>
          <a:p>
            <a:pPr indent="0" lvl="0" marL="0" rtl="0" algn="just">
              <a:lnSpc>
                <a:spcPct val="150000"/>
              </a:lnSpc>
              <a:spcBef>
                <a:spcPts val="400"/>
              </a:spcBef>
              <a:spcAft>
                <a:spcPts val="0"/>
              </a:spcAft>
              <a:buClr>
                <a:srgbClr val="2B2A2A"/>
              </a:buClr>
              <a:buSzPts val="2000"/>
              <a:buNone/>
            </a:pPr>
            <a:r>
              <a:rPr lang="en-US" sz="2000">
                <a:solidFill>
                  <a:srgbClr val="2B2A2A"/>
                </a:solidFill>
              </a:rPr>
              <a:t> </a:t>
            </a:r>
            <a:br>
              <a:rPr lang="en-US" sz="2000">
                <a:solidFill>
                  <a:srgbClr val="2B2A2A"/>
                </a:solidFill>
              </a:rPr>
            </a:br>
            <a:endParaRPr sz="2000">
              <a:solidFill>
                <a:srgbClr val="2B2A2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6"/>
          <p:cNvSpPr txBox="1"/>
          <p:nvPr/>
        </p:nvSpPr>
        <p:spPr>
          <a:xfrm>
            <a:off x="152400" y="914400"/>
            <a:ext cx="8763000" cy="4038600"/>
          </a:xfrm>
          <a:prstGeom prst="rect">
            <a:avLst/>
          </a:prstGeom>
          <a:noFill/>
          <a:ln>
            <a:noFill/>
          </a:ln>
        </p:spPr>
        <p:txBody>
          <a:bodyPr anchorCtr="0" anchor="ctr" bIns="45700" lIns="91425" spcFirstLastPara="1" rIns="91425" wrap="square" tIns="331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3A30FA"/>
                </a:solidFill>
                <a:latin typeface="Times New Roman"/>
                <a:ea typeface="Times New Roman"/>
                <a:cs typeface="Times New Roman"/>
                <a:sym typeface="Times New Roman"/>
              </a:rPr>
              <a:t>Metrics in Process and Project Domains</a:t>
            </a:r>
            <a:endParaRPr b="0" i="0" sz="1400" u="none" cap="none" strike="noStrike">
              <a:solidFill>
                <a:srgbClr val="000000"/>
              </a:solidFill>
              <a:latin typeface="Arial"/>
              <a:ea typeface="Arial"/>
              <a:cs typeface="Arial"/>
              <a:sym typeface="Arial"/>
            </a:endParaRPr>
          </a:p>
        </p:txBody>
      </p:sp>
      <p:sp>
        <p:nvSpPr>
          <p:cNvPr id="146" name="Google Shape;146;p1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Introduction</a:t>
            </a:r>
            <a:endParaRPr/>
          </a:p>
        </p:txBody>
      </p:sp>
      <p:sp>
        <p:nvSpPr>
          <p:cNvPr id="152" name="Google Shape;152;p1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53" name="Google Shape;153;p1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C00000"/>
              </a:buClr>
              <a:buSzPts val="2000"/>
              <a:buChar char="•"/>
            </a:pPr>
            <a:r>
              <a:rPr b="0" i="1" lang="en-US" sz="2000">
                <a:solidFill>
                  <a:srgbClr val="C00000"/>
                </a:solidFill>
              </a:rPr>
              <a:t>Process metrics </a:t>
            </a:r>
            <a:r>
              <a:rPr b="0" i="0" lang="en-US" sz="2000">
                <a:solidFill>
                  <a:srgbClr val="242021"/>
                </a:solidFill>
              </a:rPr>
              <a:t>are collected across all projects and over long periods of time. Their intent is to provide </a:t>
            </a:r>
            <a:r>
              <a:rPr b="1" i="0" lang="en-US" sz="2000">
                <a:solidFill>
                  <a:srgbClr val="242021"/>
                </a:solidFill>
              </a:rPr>
              <a:t>a set of process indicators that lead to long-term software process improvement. </a:t>
            </a:r>
            <a:endParaRPr b="1"/>
          </a:p>
          <a:p>
            <a:pPr indent="-342900" lvl="0" marL="342900" rtl="0" algn="just">
              <a:lnSpc>
                <a:spcPct val="150000"/>
              </a:lnSpc>
              <a:spcBef>
                <a:spcPts val="400"/>
              </a:spcBef>
              <a:spcAft>
                <a:spcPts val="0"/>
              </a:spcAft>
              <a:buClr>
                <a:srgbClr val="C00000"/>
              </a:buClr>
              <a:buSzPts val="2000"/>
              <a:buChar char="•"/>
            </a:pPr>
            <a:r>
              <a:rPr b="0" i="1" lang="en-US" sz="2000">
                <a:solidFill>
                  <a:srgbClr val="C00000"/>
                </a:solidFill>
              </a:rPr>
              <a:t>Project metrics </a:t>
            </a:r>
            <a:r>
              <a:rPr b="0" i="0" lang="en-US" sz="2000">
                <a:solidFill>
                  <a:srgbClr val="242021"/>
                </a:solidFill>
              </a:rPr>
              <a:t>enable a software project manager to:</a:t>
            </a:r>
            <a:endParaRPr/>
          </a:p>
          <a:p>
            <a:pPr indent="0" lvl="1" marL="457200" rtl="0" algn="just">
              <a:lnSpc>
                <a:spcPct val="150000"/>
              </a:lnSpc>
              <a:spcBef>
                <a:spcPts val="400"/>
              </a:spcBef>
              <a:spcAft>
                <a:spcPts val="0"/>
              </a:spcAft>
              <a:buClr>
                <a:srgbClr val="242021"/>
              </a:buClr>
              <a:buSzPts val="2000"/>
              <a:buNone/>
            </a:pPr>
            <a:r>
              <a:rPr b="0" i="0" lang="en-US" sz="2000">
                <a:solidFill>
                  <a:srgbClr val="242021"/>
                </a:solidFill>
              </a:rPr>
              <a:t>(1) assess </a:t>
            </a:r>
            <a:r>
              <a:rPr b="1" i="0" lang="en-US" sz="2000">
                <a:solidFill>
                  <a:srgbClr val="242021"/>
                </a:solidFill>
              </a:rPr>
              <a:t>the status</a:t>
            </a:r>
            <a:r>
              <a:rPr b="0" i="0" lang="en-US" sz="2000">
                <a:solidFill>
                  <a:srgbClr val="242021"/>
                </a:solidFill>
              </a:rPr>
              <a:t> of an ongoing project, </a:t>
            </a:r>
            <a:endParaRPr/>
          </a:p>
          <a:p>
            <a:pPr indent="0" lvl="1" marL="457200" rtl="0" algn="just">
              <a:lnSpc>
                <a:spcPct val="150000"/>
              </a:lnSpc>
              <a:spcBef>
                <a:spcPts val="400"/>
              </a:spcBef>
              <a:spcAft>
                <a:spcPts val="0"/>
              </a:spcAft>
              <a:buClr>
                <a:srgbClr val="242021"/>
              </a:buClr>
              <a:buSzPts val="2000"/>
              <a:buNone/>
            </a:pPr>
            <a:r>
              <a:rPr b="0" i="0" lang="en-US" sz="2000">
                <a:solidFill>
                  <a:srgbClr val="242021"/>
                </a:solidFill>
              </a:rPr>
              <a:t>(2) track </a:t>
            </a:r>
            <a:r>
              <a:rPr b="1" i="0" lang="en-US" sz="2000">
                <a:solidFill>
                  <a:srgbClr val="242021"/>
                </a:solidFill>
              </a:rPr>
              <a:t>potential risks</a:t>
            </a:r>
            <a:r>
              <a:rPr b="0" i="0" lang="en-US" sz="2000">
                <a:solidFill>
                  <a:srgbClr val="242021"/>
                </a:solidFill>
              </a:rPr>
              <a:t>, </a:t>
            </a:r>
            <a:endParaRPr/>
          </a:p>
          <a:p>
            <a:pPr indent="0" lvl="1" marL="457200" rtl="0" algn="just">
              <a:lnSpc>
                <a:spcPct val="150000"/>
              </a:lnSpc>
              <a:spcBef>
                <a:spcPts val="400"/>
              </a:spcBef>
              <a:spcAft>
                <a:spcPts val="0"/>
              </a:spcAft>
              <a:buClr>
                <a:srgbClr val="242021"/>
              </a:buClr>
              <a:buSzPts val="2000"/>
              <a:buNone/>
            </a:pPr>
            <a:r>
              <a:rPr b="0" i="0" lang="en-US" sz="2000">
                <a:solidFill>
                  <a:srgbClr val="242021"/>
                </a:solidFill>
              </a:rPr>
              <a:t>(3) </a:t>
            </a:r>
            <a:r>
              <a:rPr b="1" i="0" lang="en-US" sz="2000">
                <a:solidFill>
                  <a:srgbClr val="242021"/>
                </a:solidFill>
              </a:rPr>
              <a:t>uncover problem areas </a:t>
            </a:r>
            <a:r>
              <a:rPr b="0" i="0" lang="en-US" sz="2000">
                <a:solidFill>
                  <a:srgbClr val="242021"/>
                </a:solidFill>
              </a:rPr>
              <a:t>before they go “critical,” </a:t>
            </a:r>
            <a:endParaRPr/>
          </a:p>
          <a:p>
            <a:pPr indent="0" lvl="1" marL="457200" rtl="0" algn="just">
              <a:lnSpc>
                <a:spcPct val="150000"/>
              </a:lnSpc>
              <a:spcBef>
                <a:spcPts val="400"/>
              </a:spcBef>
              <a:spcAft>
                <a:spcPts val="0"/>
              </a:spcAft>
              <a:buClr>
                <a:srgbClr val="242021"/>
              </a:buClr>
              <a:buSzPts val="2000"/>
              <a:buNone/>
            </a:pPr>
            <a:r>
              <a:rPr b="0" i="0" lang="en-US" sz="2000">
                <a:solidFill>
                  <a:srgbClr val="242021"/>
                </a:solidFill>
              </a:rPr>
              <a:t>(4) </a:t>
            </a:r>
            <a:r>
              <a:rPr b="1" i="0" lang="en-US" sz="2000">
                <a:solidFill>
                  <a:srgbClr val="242021"/>
                </a:solidFill>
              </a:rPr>
              <a:t>adjust work flow </a:t>
            </a:r>
            <a:r>
              <a:rPr b="0" i="0" lang="en-US" sz="2000">
                <a:solidFill>
                  <a:srgbClr val="242021"/>
                </a:solidFill>
              </a:rPr>
              <a:t>or tasks, and </a:t>
            </a:r>
            <a:endParaRPr/>
          </a:p>
          <a:p>
            <a:pPr indent="0" lvl="1" marL="457200" rtl="0" algn="just">
              <a:lnSpc>
                <a:spcPct val="150000"/>
              </a:lnSpc>
              <a:spcBef>
                <a:spcPts val="400"/>
              </a:spcBef>
              <a:spcAft>
                <a:spcPts val="0"/>
              </a:spcAft>
              <a:buClr>
                <a:srgbClr val="242021"/>
              </a:buClr>
              <a:buSzPts val="2000"/>
              <a:buNone/>
            </a:pPr>
            <a:r>
              <a:rPr b="0" i="0" lang="en-US" sz="2000">
                <a:solidFill>
                  <a:srgbClr val="242021"/>
                </a:solidFill>
              </a:rPr>
              <a:t>(5) </a:t>
            </a:r>
            <a:r>
              <a:rPr b="1" i="0" lang="en-US" sz="2000">
                <a:solidFill>
                  <a:srgbClr val="242021"/>
                </a:solidFill>
              </a:rPr>
              <a:t>evaluate the project team’s ability </a:t>
            </a:r>
            <a:r>
              <a:rPr b="0" i="0" lang="en-US" sz="2000">
                <a:solidFill>
                  <a:srgbClr val="242021"/>
                </a:solidFill>
              </a:rPr>
              <a:t>to control quality of software work products.</a:t>
            </a:r>
            <a:endParaRPr/>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7" name="Shape 157"/>
        <p:cNvGrpSpPr/>
        <p:nvPr/>
      </p:nvGrpSpPr>
      <p:grpSpPr>
        <a:xfrm>
          <a:off x="0" y="0"/>
          <a:ext cx="0" cy="0"/>
          <a:chOff x="0" y="0"/>
          <a:chExt cx="0" cy="0"/>
        </a:xfrm>
      </p:grpSpPr>
      <p:sp>
        <p:nvSpPr>
          <p:cNvPr id="158" name="Google Shape;158;p1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a:t>
            </a:r>
            <a:endParaRPr/>
          </a:p>
        </p:txBody>
      </p:sp>
      <p:sp>
        <p:nvSpPr>
          <p:cNvPr id="159" name="Google Shape;159;p1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60" name="Google Shape;160;p1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2000">
                <a:solidFill>
                  <a:srgbClr val="242021"/>
                </a:solidFill>
              </a:rPr>
              <a:t>The only rational way to improve any process is to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measure</a:t>
            </a:r>
            <a:r>
              <a:rPr lang="en-US" sz="2000">
                <a:solidFill>
                  <a:srgbClr val="242021"/>
                </a:solidFill>
              </a:rPr>
              <a:t> </a:t>
            </a:r>
            <a:r>
              <a:rPr b="0" i="0" lang="en-US" sz="2000">
                <a:solidFill>
                  <a:srgbClr val="242021"/>
                </a:solidFill>
              </a:rPr>
              <a:t>specific attributes of the process,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develop a set of meaningful metrics based on these attributes, and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then use the metrics to provide indicators that will lead to a strategy for improvement.</a:t>
            </a:r>
            <a:endParaRPr/>
          </a:p>
          <a:p>
            <a:pPr indent="-342900" lvl="0" marL="342900" rtl="0" algn="just">
              <a:lnSpc>
                <a:spcPct val="150000"/>
              </a:lnSpc>
              <a:spcBef>
                <a:spcPts val="400"/>
              </a:spcBef>
              <a:spcAft>
                <a:spcPts val="0"/>
              </a:spcAft>
              <a:buClr>
                <a:srgbClr val="242021"/>
              </a:buClr>
              <a:buSzPts val="2000"/>
              <a:buChar char="•"/>
            </a:pPr>
            <a:r>
              <a:rPr lang="en-US" sz="2000">
                <a:solidFill>
                  <a:srgbClr val="242021"/>
                </a:solidFill>
              </a:rPr>
              <a:t>Process is only one of a number of “controllable factors” in improving software quality and organizational performance.</a:t>
            </a:r>
            <a:endParaRPr/>
          </a:p>
          <a:p>
            <a:pPr indent="0" lvl="0" marL="0" rtl="0" algn="just">
              <a:lnSpc>
                <a:spcPct val="150000"/>
              </a:lnSpc>
              <a:spcBef>
                <a:spcPts val="400"/>
              </a:spcBef>
              <a:spcAft>
                <a:spcPts val="0"/>
              </a:spcAft>
              <a:buClr>
                <a:srgbClr val="242021"/>
              </a:buClr>
              <a:buSzPts val="2000"/>
              <a:buNone/>
            </a:pPr>
            <a:r>
              <a:rPr lang="en-US" sz="2000">
                <a:solidFill>
                  <a:srgbClr val="242021"/>
                </a:solidFill>
              </a:rPr>
              <a:t> </a:t>
            </a:r>
            <a:br>
              <a:rPr lang="en-US" sz="1600"/>
            </a:br>
            <a:endParaRPr b="0" i="0" sz="2000">
              <a:solidFill>
                <a:srgbClr val="242021"/>
              </a:solidFill>
            </a:endParaRPr>
          </a:p>
          <a:p>
            <a:pPr indent="0" lvl="0" marL="0" rtl="0" algn="just">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 (contd.)</a:t>
            </a:r>
            <a:endParaRPr/>
          </a:p>
        </p:txBody>
      </p:sp>
      <p:sp>
        <p:nvSpPr>
          <p:cNvPr id="166" name="Google Shape;166;p1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67" name="Google Shape;167;p19"/>
          <p:cNvSpPr txBox="1"/>
          <p:nvPr>
            <p:ph idx="1" type="body"/>
          </p:nvPr>
        </p:nvSpPr>
        <p:spPr>
          <a:xfrm>
            <a:off x="457200" y="1371600"/>
            <a:ext cx="8229600" cy="4278758"/>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chemeClr val="dk1"/>
              </a:buClr>
              <a:buSzPts val="2000"/>
              <a:buNone/>
            </a:pPr>
            <a:r>
              <a:t/>
            </a:r>
            <a:endParaRPr sz="2000">
              <a:solidFill>
                <a:srgbClr val="242021"/>
              </a:solidFill>
            </a:endParaRPr>
          </a:p>
          <a:p>
            <a:pPr indent="0" lvl="0" marL="0" rtl="0" algn="just">
              <a:lnSpc>
                <a:spcPct val="150000"/>
              </a:lnSpc>
              <a:spcBef>
                <a:spcPts val="400"/>
              </a:spcBef>
              <a:spcAft>
                <a:spcPts val="0"/>
              </a:spcAft>
              <a:buClr>
                <a:srgbClr val="242021"/>
              </a:buClr>
              <a:buSzPts val="2000"/>
              <a:buNone/>
            </a:pPr>
            <a:r>
              <a:rPr lang="en-US" sz="2000">
                <a:solidFill>
                  <a:srgbClr val="242021"/>
                </a:solidFill>
              </a:rPr>
              <a:t>  Figure1: </a:t>
            </a:r>
            <a:r>
              <a:rPr b="0" i="0" lang="en-US" sz="2000">
                <a:solidFill>
                  <a:srgbClr val="242021"/>
                </a:solidFill>
              </a:rPr>
              <a:t>Determinants for software quality and organizational effectiveness.</a:t>
            </a:r>
            <a:endParaRPr/>
          </a:p>
          <a:p>
            <a:pPr indent="0" lvl="0" marL="0" rtl="0" algn="just">
              <a:lnSpc>
                <a:spcPct val="150000"/>
              </a:lnSpc>
              <a:spcBef>
                <a:spcPts val="400"/>
              </a:spcBef>
              <a:spcAft>
                <a:spcPts val="0"/>
              </a:spcAft>
              <a:buClr>
                <a:schemeClr val="dk1"/>
              </a:buClr>
              <a:buSzPts val="2000"/>
              <a:buNone/>
            </a:pPr>
            <a:r>
              <a:rPr lang="en-US" sz="2000"/>
              <a:t> </a:t>
            </a:r>
            <a:br>
              <a:rPr lang="en-US" sz="2000"/>
            </a:br>
            <a:r>
              <a:rPr lang="en-US" sz="2000">
                <a:solidFill>
                  <a:srgbClr val="242021"/>
                </a:solidFill>
              </a:rPr>
              <a:t> </a:t>
            </a:r>
            <a:br>
              <a:rPr lang="en-US" sz="2000"/>
            </a:br>
            <a:endParaRPr b="0" i="0" sz="2000">
              <a:solidFill>
                <a:srgbClr val="242021"/>
              </a:solidFill>
            </a:endParaRPr>
          </a:p>
          <a:p>
            <a:pPr indent="0" lvl="0" marL="0" rtl="0" algn="just">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pic>
        <p:nvPicPr>
          <p:cNvPr id="168" name="Google Shape;168;p19"/>
          <p:cNvPicPr preferRelativeResize="0"/>
          <p:nvPr/>
        </p:nvPicPr>
        <p:blipFill rotWithShape="1">
          <a:blip r:embed="rId3">
            <a:alphaModFix/>
          </a:blip>
          <a:srcRect b="0" l="0" r="0" t="0"/>
          <a:stretch/>
        </p:blipFill>
        <p:spPr>
          <a:xfrm>
            <a:off x="1616424" y="990600"/>
            <a:ext cx="5911151" cy="450735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 (contd.)</a:t>
            </a:r>
            <a:endParaRPr/>
          </a:p>
        </p:txBody>
      </p:sp>
      <p:sp>
        <p:nvSpPr>
          <p:cNvPr id="174" name="Google Shape;174;p2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75" name="Google Shape;175;p20"/>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lang="en-US" sz="2000">
                <a:solidFill>
                  <a:srgbClr val="242021"/>
                </a:solidFill>
              </a:rPr>
              <a:t>P</a:t>
            </a:r>
            <a:r>
              <a:rPr b="0" i="0" lang="en-US" sz="2000">
                <a:solidFill>
                  <a:srgbClr val="242021"/>
                </a:solidFill>
              </a:rPr>
              <a:t>rocess sits at the center of a triangle connecting three factors that have a profound influence </a:t>
            </a:r>
            <a:r>
              <a:rPr lang="en-US" sz="2000">
                <a:solidFill>
                  <a:srgbClr val="242021"/>
                </a:solidFill>
              </a:rPr>
              <a:t>on organizational</a:t>
            </a:r>
            <a:r>
              <a:rPr lang="en-US" sz="2000"/>
              <a:t> </a:t>
            </a:r>
            <a:r>
              <a:rPr lang="en-US" sz="2000">
                <a:solidFill>
                  <a:srgbClr val="242021"/>
                </a:solidFill>
              </a:rPr>
              <a:t>performance and </a:t>
            </a:r>
            <a:r>
              <a:rPr b="0" i="0" lang="en-US" sz="2000">
                <a:solidFill>
                  <a:srgbClr val="242021"/>
                </a:solidFill>
              </a:rPr>
              <a:t>software quality.</a:t>
            </a:r>
            <a:r>
              <a:rPr lang="en-US" sz="2000"/>
              <a:t>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In addition, the process triangle exists within a circle of environmental conditions that include the: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development environment (e.g., integrated software tools),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business conditions (e.g., deadlines, business rules), and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customer characteristics (e.g., ease of communication and collaboration)</a:t>
            </a:r>
            <a:r>
              <a:rPr lang="en-US" sz="2000"/>
              <a:t> </a:t>
            </a:r>
            <a:br>
              <a:rPr lang="en-US" sz="2000"/>
            </a:br>
            <a:r>
              <a:rPr lang="en-US" sz="2000"/>
              <a:t> </a:t>
            </a:r>
            <a:br>
              <a:rPr lang="en-US" sz="2000"/>
            </a:br>
            <a:r>
              <a:rPr lang="en-US" sz="2000">
                <a:solidFill>
                  <a:srgbClr val="242021"/>
                </a:solidFill>
              </a:rPr>
              <a:t> </a:t>
            </a:r>
            <a:br>
              <a:rPr lang="en-US" sz="2000"/>
            </a:br>
            <a:endParaRPr b="0" i="0" sz="2000">
              <a:solidFill>
                <a:srgbClr val="242021"/>
              </a:solidFill>
            </a:endParaRPr>
          </a:p>
          <a:p>
            <a:pPr indent="0" lvl="0" marL="0" rtl="0" algn="just">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 (contd.)</a:t>
            </a:r>
            <a:endParaRPr/>
          </a:p>
        </p:txBody>
      </p:sp>
      <p:sp>
        <p:nvSpPr>
          <p:cNvPr id="181" name="Google Shape;181;p2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82" name="Google Shape;182;p21"/>
          <p:cNvSpPr txBox="1"/>
          <p:nvPr>
            <p:ph idx="1" type="body"/>
          </p:nvPr>
        </p:nvSpPr>
        <p:spPr>
          <a:xfrm>
            <a:off x="457200" y="1100137"/>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Process metrics can be either </a:t>
            </a:r>
            <a:r>
              <a:rPr b="1" i="1" lang="en-US" sz="2000">
                <a:solidFill>
                  <a:srgbClr val="C00000"/>
                </a:solidFill>
              </a:rPr>
              <a:t>Public</a:t>
            </a:r>
            <a:r>
              <a:rPr lang="en-US" sz="2000"/>
              <a:t> or </a:t>
            </a:r>
            <a:r>
              <a:rPr b="1" i="1" lang="en-US" sz="2000">
                <a:solidFill>
                  <a:srgbClr val="C00000"/>
                </a:solidFill>
              </a:rPr>
              <a:t>Private</a:t>
            </a:r>
            <a:r>
              <a:rPr lang="en-US" sz="2000"/>
              <a:t>.</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Examples of </a:t>
            </a:r>
            <a:r>
              <a:rPr b="1" i="1" lang="en-US" sz="2000">
                <a:solidFill>
                  <a:srgbClr val="C00000"/>
                </a:solidFill>
              </a:rPr>
              <a:t>private metrics </a:t>
            </a:r>
            <a:r>
              <a:rPr b="0" i="0" lang="en-US" sz="2000">
                <a:solidFill>
                  <a:srgbClr val="242021"/>
                </a:solidFill>
              </a:rPr>
              <a:t>include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defect rates (by individual),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defect rates (by component), and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errors found during development</a:t>
            </a:r>
            <a:r>
              <a:rPr lang="en-US" sz="2000"/>
              <a:t> </a:t>
            </a:r>
            <a:endParaRPr/>
          </a:p>
          <a:p>
            <a:pPr indent="-342900" lvl="0" marL="342900" rtl="0" algn="just">
              <a:lnSpc>
                <a:spcPct val="150000"/>
              </a:lnSpc>
              <a:spcBef>
                <a:spcPts val="400"/>
              </a:spcBef>
              <a:spcAft>
                <a:spcPts val="0"/>
              </a:spcAft>
              <a:buClr>
                <a:srgbClr val="C00000"/>
              </a:buClr>
              <a:buSzPts val="2000"/>
              <a:buChar char="•"/>
            </a:pPr>
            <a:r>
              <a:rPr b="1" i="1" lang="en-US" sz="2000">
                <a:solidFill>
                  <a:srgbClr val="C00000"/>
                </a:solidFill>
              </a:rPr>
              <a:t>Public metrics</a:t>
            </a:r>
            <a:r>
              <a:rPr b="0" i="0" lang="en-US" sz="2000">
                <a:solidFill>
                  <a:srgbClr val="242021"/>
                </a:solidFill>
              </a:rPr>
              <a:t> generally assimilate information that originally was private to individuals and teams.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Project-level defect rates (absolutely not attributed to an individual), </a:t>
            </a:r>
            <a:r>
              <a:rPr b="1" i="0" lang="en-US" sz="2000">
                <a:solidFill>
                  <a:srgbClr val="242021"/>
                </a:solidFill>
              </a:rPr>
              <a:t>effort, calendar times, and related data are collected and evaluated </a:t>
            </a:r>
            <a:r>
              <a:rPr i="0" lang="en-US" sz="2000">
                <a:solidFill>
                  <a:srgbClr val="242021"/>
                </a:solidFill>
              </a:rPr>
              <a:t>i</a:t>
            </a:r>
            <a:r>
              <a:rPr b="0" i="0" lang="en-US" sz="2000">
                <a:solidFill>
                  <a:srgbClr val="242021"/>
                </a:solidFill>
              </a:rPr>
              <a:t>n an attempt to uncover indicators that can improve organizational process performance.</a:t>
            </a:r>
            <a:endParaRPr/>
          </a:p>
          <a:p>
            <a:pPr indent="0" lvl="0" marL="0" rtl="0" algn="just">
              <a:lnSpc>
                <a:spcPct val="150000"/>
              </a:lnSpc>
              <a:spcBef>
                <a:spcPts val="400"/>
              </a:spcBef>
              <a:spcAft>
                <a:spcPts val="0"/>
              </a:spcAft>
              <a:buClr>
                <a:schemeClr val="dk1"/>
              </a:buClr>
              <a:buSzPts val="2000"/>
              <a:buNone/>
            </a:pPr>
            <a:br>
              <a:rPr lang="en-US" sz="2000"/>
            </a:br>
            <a:br>
              <a:rPr lang="en-US" sz="2000"/>
            </a:br>
            <a:r>
              <a:rPr lang="en-US" sz="2000"/>
              <a:t> </a:t>
            </a:r>
            <a:br>
              <a:rPr lang="en-US" sz="2000"/>
            </a:br>
            <a:r>
              <a:rPr lang="en-US" sz="2000">
                <a:solidFill>
                  <a:srgbClr val="242021"/>
                </a:solidFill>
              </a:rPr>
              <a:t> </a:t>
            </a:r>
            <a:br>
              <a:rPr lang="en-US" sz="2000"/>
            </a:br>
            <a:endParaRPr b="0" i="0" sz="2000">
              <a:solidFill>
                <a:srgbClr val="242021"/>
              </a:solidFill>
            </a:endParaRPr>
          </a:p>
          <a:p>
            <a:pPr indent="0" lvl="0" marL="0" rtl="0" algn="just">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 (contd.)</a:t>
            </a:r>
            <a:endParaRPr/>
          </a:p>
        </p:txBody>
      </p:sp>
      <p:sp>
        <p:nvSpPr>
          <p:cNvPr id="188" name="Google Shape;188;p2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89" name="Google Shape;189;p22"/>
          <p:cNvSpPr txBox="1"/>
          <p:nvPr>
            <p:ph idx="1" type="body"/>
          </p:nvPr>
        </p:nvSpPr>
        <p:spPr>
          <a:xfrm>
            <a:off x="457200" y="1042987"/>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2000">
                <a:solidFill>
                  <a:srgbClr val="242021"/>
                </a:solidFill>
              </a:rPr>
              <a:t>Some process metrics are private to the software project team but public to all team members.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Examples include:</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defects reported for major software functions (that have been developed by a number of practitioners),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errors found during technical reviews, and </a:t>
            </a:r>
            <a:endParaRPr/>
          </a:p>
          <a:p>
            <a:pPr indent="-285750" lvl="1" marL="742950" rtl="0" algn="just">
              <a:lnSpc>
                <a:spcPct val="150000"/>
              </a:lnSpc>
              <a:spcBef>
                <a:spcPts val="400"/>
              </a:spcBef>
              <a:spcAft>
                <a:spcPts val="0"/>
              </a:spcAft>
              <a:buClr>
                <a:srgbClr val="242021"/>
              </a:buClr>
              <a:buSzPts val="2000"/>
              <a:buChar char="–"/>
            </a:pPr>
            <a:r>
              <a:rPr b="0" i="0" lang="en-US" sz="2000">
                <a:solidFill>
                  <a:srgbClr val="242021"/>
                </a:solidFill>
              </a:rPr>
              <a:t>lines of code or function points per component or function.</a:t>
            </a:r>
            <a:endParaRPr/>
          </a:p>
          <a:p>
            <a:pPr indent="-342900" lvl="0" marL="342900" rtl="0" algn="just">
              <a:lnSpc>
                <a:spcPct val="150000"/>
              </a:lnSpc>
              <a:spcBef>
                <a:spcPts val="400"/>
              </a:spcBef>
              <a:spcAft>
                <a:spcPts val="0"/>
              </a:spcAft>
              <a:buClr>
                <a:srgbClr val="242021"/>
              </a:buClr>
              <a:buSzPts val="2000"/>
              <a:buChar char="•"/>
            </a:pPr>
            <a:r>
              <a:rPr lang="en-US" sz="2000">
                <a:solidFill>
                  <a:srgbClr val="242021"/>
                </a:solidFill>
              </a:rPr>
              <a:t>Software process metrics can provide significant benefit as an organization works to improve its overall level of process maturity. However, like </a:t>
            </a:r>
            <a:r>
              <a:rPr b="1" lang="en-US" sz="2000">
                <a:solidFill>
                  <a:srgbClr val="242021"/>
                </a:solidFill>
              </a:rPr>
              <a:t>all metrics, these can be misused, creating more problems than they solve. </a:t>
            </a:r>
            <a:r>
              <a:rPr lang="en-US" sz="2000">
                <a:solidFill>
                  <a:srgbClr val="242021"/>
                </a:solidFill>
              </a:rPr>
              <a:t>Hence, </a:t>
            </a:r>
            <a:r>
              <a:rPr b="1" i="1" lang="en-US" sz="2000">
                <a:solidFill>
                  <a:srgbClr val="C00000"/>
                </a:solidFill>
              </a:rPr>
              <a:t>“Software Metrics Etiquette” </a:t>
            </a:r>
            <a:r>
              <a:rPr lang="en-US" sz="2000"/>
              <a:t>are suggested.</a:t>
            </a:r>
            <a:endParaRPr/>
          </a:p>
          <a:p>
            <a:pPr indent="0" lvl="0" marL="0" rtl="0" algn="just">
              <a:lnSpc>
                <a:spcPct val="150000"/>
              </a:lnSpc>
              <a:spcBef>
                <a:spcPts val="400"/>
              </a:spcBef>
              <a:spcAft>
                <a:spcPts val="0"/>
              </a:spcAft>
              <a:buClr>
                <a:schemeClr val="dk1"/>
              </a:buClr>
              <a:buSzPts val="2000"/>
              <a:buNone/>
            </a:pPr>
            <a:r>
              <a:rPr lang="en-US" sz="2000"/>
              <a:t> </a:t>
            </a:r>
            <a:br>
              <a:rPr lang="en-US" sz="2000"/>
            </a:br>
            <a:br>
              <a:rPr lang="en-US" sz="2000"/>
            </a:br>
            <a:r>
              <a:rPr lang="en-US" sz="2000"/>
              <a:t> </a:t>
            </a:r>
            <a:br>
              <a:rPr lang="en-US" sz="2000"/>
            </a:br>
            <a:r>
              <a:rPr lang="en-US" sz="2000">
                <a:solidFill>
                  <a:srgbClr val="242021"/>
                </a:solidFill>
              </a:rPr>
              <a:t> </a:t>
            </a:r>
            <a:br>
              <a:rPr lang="en-US" sz="2000"/>
            </a:br>
            <a:endParaRPr b="0" i="0" sz="2000">
              <a:solidFill>
                <a:srgbClr val="242021"/>
              </a:solidFill>
            </a:endParaRPr>
          </a:p>
          <a:p>
            <a:pPr indent="0" lvl="0" marL="0" rtl="0" algn="just">
              <a:lnSpc>
                <a:spcPct val="150000"/>
              </a:lnSpc>
              <a:spcBef>
                <a:spcPts val="400"/>
              </a:spcBef>
              <a:spcAft>
                <a:spcPts val="0"/>
              </a:spcAft>
              <a:buClr>
                <a:schemeClr val="dk1"/>
              </a:buClr>
              <a:buSzPts val="2000"/>
              <a:buNone/>
            </a:pPr>
            <a:r>
              <a:rPr lang="en-US" sz="2000"/>
              <a:t> </a:t>
            </a:r>
            <a:br>
              <a:rPr lang="en-US" sz="2000"/>
            </a:br>
            <a:endParaRPr sz="2000">
              <a:solidFill>
                <a:srgbClr val="303030"/>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Process Metrics and Software Process Improvement (contd.)</a:t>
            </a:r>
            <a:endParaRPr/>
          </a:p>
        </p:txBody>
      </p:sp>
      <p:sp>
        <p:nvSpPr>
          <p:cNvPr id="196" name="Google Shape;196;p2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197" name="Google Shape;197;p23"/>
          <p:cNvSpPr txBox="1"/>
          <p:nvPr>
            <p:ph idx="1" type="body"/>
          </p:nvPr>
        </p:nvSpPr>
        <p:spPr>
          <a:xfrm>
            <a:off x="457200" y="838200"/>
            <a:ext cx="8229600" cy="5791200"/>
          </a:xfrm>
          <a:prstGeom prst="rect">
            <a:avLst/>
          </a:prstGeom>
          <a:noFill/>
          <a:ln>
            <a:noFill/>
          </a:ln>
        </p:spPr>
        <p:txBody>
          <a:bodyPr anchorCtr="0" anchor="t" bIns="45700" lIns="91425" spcFirstLastPara="1" rIns="91425" wrap="square" tIns="45700">
            <a:noAutofit/>
          </a:bodyPr>
          <a:lstStyle/>
          <a:p>
            <a:pPr indent="0" lvl="0" marL="0" rtl="0" algn="l">
              <a:lnSpc>
                <a:spcPct val="150000"/>
              </a:lnSpc>
              <a:spcBef>
                <a:spcPts val="0"/>
              </a:spcBef>
              <a:spcAft>
                <a:spcPts val="0"/>
              </a:spcAft>
              <a:buClr>
                <a:srgbClr val="C00000"/>
              </a:buClr>
              <a:buSzPts val="1800"/>
              <a:buNone/>
            </a:pPr>
            <a:r>
              <a:rPr b="1" i="1" lang="en-US" sz="1800">
                <a:solidFill>
                  <a:srgbClr val="C00000"/>
                </a:solidFill>
              </a:rPr>
              <a:t>“Software Metrics Etiquette” </a:t>
            </a:r>
            <a:r>
              <a:rPr b="0" i="0" lang="en-US" sz="1800">
                <a:solidFill>
                  <a:srgbClr val="242021"/>
                </a:solidFill>
              </a:rPr>
              <a:t>that is appropriate for both managers and practitioners as they institute a process metrics program:</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Use common sense and organizational sensitivity when interpreting metrics data.</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Provide </a:t>
            </a:r>
            <a:r>
              <a:rPr b="1" i="0" lang="en-US" sz="1800">
                <a:solidFill>
                  <a:srgbClr val="242021"/>
                </a:solidFill>
              </a:rPr>
              <a:t>regular feedback to the individuals </a:t>
            </a:r>
            <a:r>
              <a:rPr b="0" i="0" lang="en-US" sz="1800">
                <a:solidFill>
                  <a:srgbClr val="242021"/>
                </a:solidFill>
              </a:rPr>
              <a:t>and teams who collect measures and metrics.</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Don’t use metrics </a:t>
            </a:r>
            <a:r>
              <a:rPr b="1" i="0" lang="en-US" sz="1800">
                <a:solidFill>
                  <a:srgbClr val="242021"/>
                </a:solidFill>
              </a:rPr>
              <a:t>to appraise individuals</a:t>
            </a:r>
            <a:r>
              <a:rPr b="0" i="0" lang="en-US" sz="1800">
                <a:solidFill>
                  <a:srgbClr val="242021"/>
                </a:solidFill>
              </a:rPr>
              <a:t>.</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Work with practitioners and teams to set clear goals and metrics that will be used to achieve them.</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Never use </a:t>
            </a:r>
            <a:r>
              <a:rPr b="1" i="0" lang="en-US" sz="1800">
                <a:solidFill>
                  <a:srgbClr val="242021"/>
                </a:solidFill>
              </a:rPr>
              <a:t>metrics to threaten individuals </a:t>
            </a:r>
            <a:r>
              <a:rPr b="0" i="0" lang="en-US" sz="1800">
                <a:solidFill>
                  <a:srgbClr val="242021"/>
                </a:solidFill>
              </a:rPr>
              <a:t>or teams.</a:t>
            </a:r>
            <a:endParaRPr/>
          </a:p>
          <a:p>
            <a:pPr indent="-285750" lvl="1" marL="742950" rtl="0" algn="l">
              <a:lnSpc>
                <a:spcPct val="150000"/>
              </a:lnSpc>
              <a:spcBef>
                <a:spcPts val="360"/>
              </a:spcBef>
              <a:spcAft>
                <a:spcPts val="0"/>
              </a:spcAft>
              <a:buClr>
                <a:srgbClr val="242021"/>
              </a:buClr>
              <a:buSzPts val="1800"/>
              <a:buChar char="–"/>
            </a:pPr>
            <a:r>
              <a:rPr b="0" i="0" lang="en-US" sz="1800">
                <a:solidFill>
                  <a:srgbClr val="242021"/>
                </a:solidFill>
              </a:rPr>
              <a:t>Metrics data that indicate a problem area should not be considered “negative.” These data are merely an indicator for process improvement.</a:t>
            </a:r>
            <a:endParaRPr/>
          </a:p>
          <a:p>
            <a:pPr indent="-285750" lvl="1" marL="742950" rtl="0" algn="l">
              <a:lnSpc>
                <a:spcPct val="150000"/>
              </a:lnSpc>
              <a:spcBef>
                <a:spcPts val="400"/>
              </a:spcBef>
              <a:spcAft>
                <a:spcPts val="0"/>
              </a:spcAft>
              <a:buClr>
                <a:srgbClr val="242021"/>
              </a:buClr>
              <a:buSzPts val="1800"/>
              <a:buChar char="–"/>
            </a:pPr>
            <a:r>
              <a:rPr b="0" i="0" lang="en-US" sz="1800">
                <a:solidFill>
                  <a:srgbClr val="242021"/>
                </a:solidFill>
              </a:rPr>
              <a:t>Don’t </a:t>
            </a:r>
            <a:r>
              <a:rPr b="1" i="0" lang="en-US" sz="1800">
                <a:solidFill>
                  <a:srgbClr val="242021"/>
                </a:solidFill>
              </a:rPr>
              <a:t>obsess on a single metric </a:t>
            </a:r>
            <a:r>
              <a:rPr b="0" i="0" lang="en-US" sz="1800">
                <a:solidFill>
                  <a:srgbClr val="242021"/>
                </a:solidFill>
              </a:rPr>
              <a:t>to the exclusion of other important metrics.</a:t>
            </a:r>
            <a:r>
              <a:rPr lang="en-US" sz="1800"/>
              <a:t> </a:t>
            </a:r>
            <a:br>
              <a:rPr lang="en-US" sz="2000"/>
            </a:b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Project Metrics</a:t>
            </a:r>
            <a:endParaRPr/>
          </a:p>
        </p:txBody>
      </p:sp>
      <p:sp>
        <p:nvSpPr>
          <p:cNvPr id="203" name="Google Shape;203;p2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04" name="Google Shape;204;p24"/>
          <p:cNvSpPr txBox="1"/>
          <p:nvPr>
            <p:ph idx="1" type="body"/>
          </p:nvPr>
        </p:nvSpPr>
        <p:spPr>
          <a:xfrm>
            <a:off x="428624" y="1100137"/>
            <a:ext cx="8229600" cy="5114925"/>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Project metrics and the indicators derived from them are used by a project manager and a software team to adapt project workflow and technical activities.</a:t>
            </a:r>
            <a:endParaRPr/>
          </a:p>
          <a:p>
            <a:pPr indent="-342900" lvl="0" marL="342900" rtl="0" algn="just">
              <a:lnSpc>
                <a:spcPct val="150000"/>
              </a:lnSpc>
              <a:spcBef>
                <a:spcPts val="400"/>
              </a:spcBef>
              <a:spcAft>
                <a:spcPts val="0"/>
              </a:spcAft>
              <a:buClr>
                <a:schemeClr val="dk1"/>
              </a:buClr>
              <a:buSzPts val="2000"/>
              <a:buChar char="•"/>
            </a:pPr>
            <a:r>
              <a:rPr lang="en-US" sz="2000"/>
              <a:t>The </a:t>
            </a:r>
            <a:r>
              <a:rPr b="1" lang="en-US" sz="2000"/>
              <a:t>first application of project metrics </a:t>
            </a:r>
            <a:r>
              <a:rPr lang="en-US" sz="2000"/>
              <a:t>on most software projects occurs </a:t>
            </a:r>
            <a:r>
              <a:rPr b="1" lang="en-US" sz="2000"/>
              <a:t>during estimation. </a:t>
            </a:r>
            <a:endParaRPr b="1"/>
          </a:p>
          <a:p>
            <a:pPr indent="-342900" lvl="0" marL="342900" rtl="0" algn="just">
              <a:lnSpc>
                <a:spcPct val="150000"/>
              </a:lnSpc>
              <a:spcBef>
                <a:spcPts val="400"/>
              </a:spcBef>
              <a:spcAft>
                <a:spcPts val="0"/>
              </a:spcAft>
              <a:buClr>
                <a:schemeClr val="dk1"/>
              </a:buClr>
              <a:buSzPts val="2000"/>
              <a:buChar char="•"/>
            </a:pPr>
            <a:r>
              <a:rPr b="1" lang="en-US" sz="2000"/>
              <a:t>Metrics collected from past projects are used as a basis </a:t>
            </a:r>
            <a:r>
              <a:rPr lang="en-US" sz="2000"/>
              <a:t>from which </a:t>
            </a:r>
            <a:r>
              <a:rPr b="1" i="1" lang="en-US" sz="2000"/>
              <a:t>effort and time estimates </a:t>
            </a:r>
            <a:r>
              <a:rPr lang="en-US" sz="2000"/>
              <a:t>are made for current software work. </a:t>
            </a:r>
            <a:endParaRPr/>
          </a:p>
          <a:p>
            <a:pPr indent="-342900" lvl="0" marL="342900" rtl="0" algn="just">
              <a:lnSpc>
                <a:spcPct val="150000"/>
              </a:lnSpc>
              <a:spcBef>
                <a:spcPts val="400"/>
              </a:spcBef>
              <a:spcAft>
                <a:spcPts val="0"/>
              </a:spcAft>
              <a:buClr>
                <a:schemeClr val="dk1"/>
              </a:buClr>
              <a:buSzPts val="2000"/>
              <a:buChar char="•"/>
            </a:pPr>
            <a:r>
              <a:rPr lang="en-US" sz="2000"/>
              <a:t>As a project proceeds, measures of effort and calendar time expended are compared to original estimates (and the project schedule). </a:t>
            </a:r>
            <a:endParaRPr/>
          </a:p>
          <a:p>
            <a:pPr indent="-342900" lvl="0" marL="342900" rtl="0" algn="just">
              <a:lnSpc>
                <a:spcPct val="150000"/>
              </a:lnSpc>
              <a:spcBef>
                <a:spcPts val="400"/>
              </a:spcBef>
              <a:spcAft>
                <a:spcPts val="0"/>
              </a:spcAft>
              <a:buClr>
                <a:schemeClr val="dk1"/>
              </a:buClr>
              <a:buSzPts val="2000"/>
              <a:buChar char="•"/>
            </a:pPr>
            <a:r>
              <a:rPr lang="en-US" sz="2000"/>
              <a:t>The project manager uses this data to monitor and control progress.</a:t>
            </a:r>
            <a:endParaRPr/>
          </a:p>
          <a:p>
            <a:pPr indent="0" lvl="0" marL="0" rtl="0" algn="just">
              <a:lnSpc>
                <a:spcPct val="150000"/>
              </a:lnSpc>
              <a:spcBef>
                <a:spcPts val="400"/>
              </a:spcBef>
              <a:spcAft>
                <a:spcPts val="0"/>
              </a:spcAft>
              <a:buClr>
                <a:schemeClr val="dk1"/>
              </a:buClr>
              <a:buSzPts val="2000"/>
              <a:buNone/>
            </a:pPr>
            <a:r>
              <a:rPr lang="en-US" sz="2000"/>
              <a:t> </a:t>
            </a:r>
            <a:br>
              <a:rPr lang="en-US" sz="2000"/>
            </a:br>
            <a:r>
              <a:rPr lang="en-US" sz="2000"/>
              <a:t> </a:t>
            </a:r>
            <a:br>
              <a:rPr lang="en-US" sz="2000"/>
            </a:br>
            <a:endParaRPr sz="2000"/>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Project Metrics (contd.)</a:t>
            </a:r>
            <a:endParaRPr/>
          </a:p>
        </p:txBody>
      </p:sp>
      <p:sp>
        <p:nvSpPr>
          <p:cNvPr id="210" name="Google Shape;210;p2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11" name="Google Shape;211;p2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2000">
                <a:solidFill>
                  <a:srgbClr val="242021"/>
                </a:solidFill>
              </a:rPr>
              <a:t>As technical work commences, other project metrics begin to have significance.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Production rates represented in terms of </a:t>
            </a:r>
            <a:r>
              <a:rPr b="1" i="0" lang="en-US" sz="2000">
                <a:solidFill>
                  <a:srgbClr val="242021"/>
                </a:solidFill>
              </a:rPr>
              <a:t>models created, review hours, function points, and delivered source lines are measured</a:t>
            </a:r>
            <a:r>
              <a:rPr b="0" i="0" lang="en-US" sz="2000">
                <a:solidFill>
                  <a:srgbClr val="242021"/>
                </a:solidFill>
              </a:rPr>
              <a:t>.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In addition, </a:t>
            </a:r>
            <a:r>
              <a:rPr b="1" i="0" lang="en-US" sz="2000">
                <a:solidFill>
                  <a:srgbClr val="242021"/>
                </a:solidFill>
              </a:rPr>
              <a:t>errors uncovered </a:t>
            </a:r>
            <a:r>
              <a:rPr b="0" i="0" lang="en-US" sz="2000">
                <a:solidFill>
                  <a:srgbClr val="242021"/>
                </a:solidFill>
              </a:rPr>
              <a:t>during each software engineering task are tracked.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As the software evolves from requirements into design, </a:t>
            </a:r>
            <a:r>
              <a:rPr b="1" i="0" lang="en-US" sz="2000">
                <a:solidFill>
                  <a:srgbClr val="242021"/>
                </a:solidFill>
              </a:rPr>
              <a:t>technical metrics are collected to assess design quality </a:t>
            </a:r>
            <a:r>
              <a:rPr b="0" i="0" lang="en-US" sz="2000">
                <a:solidFill>
                  <a:srgbClr val="242021"/>
                </a:solidFill>
              </a:rPr>
              <a:t>and to provide indicators that will influence the approach taken to code generation and testing.</a:t>
            </a:r>
            <a:endParaRPr/>
          </a:p>
          <a:p>
            <a:pPr indent="0" lvl="0" marL="0" rtl="0" algn="just">
              <a:lnSpc>
                <a:spcPct val="150000"/>
              </a:lnSpc>
              <a:spcBef>
                <a:spcPts val="400"/>
              </a:spcBef>
              <a:spcAft>
                <a:spcPts val="0"/>
              </a:spcAft>
              <a:buClr>
                <a:schemeClr val="dk1"/>
              </a:buClr>
              <a:buSzPts val="2000"/>
              <a:buNone/>
            </a:pPr>
            <a:r>
              <a:rPr lang="en-US" sz="2000"/>
              <a:t> </a:t>
            </a:r>
            <a:br>
              <a:rPr lang="en-US" sz="2000"/>
            </a:br>
            <a:r>
              <a:rPr lang="en-US" sz="2000"/>
              <a:t> </a:t>
            </a:r>
            <a:br>
              <a:rPr lang="en-US" sz="2000"/>
            </a:br>
            <a:r>
              <a:rPr lang="en-US" sz="2000"/>
              <a:t> </a:t>
            </a:r>
            <a:br>
              <a:rPr lang="en-US" sz="2000"/>
            </a:br>
            <a:endParaRPr sz="2000"/>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Project Metrices (contd.)</a:t>
            </a:r>
            <a:endParaRPr/>
          </a:p>
        </p:txBody>
      </p:sp>
      <p:sp>
        <p:nvSpPr>
          <p:cNvPr id="217" name="Google Shape;217;p2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18" name="Google Shape;218;p26"/>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2000">
                <a:solidFill>
                  <a:srgbClr val="242021"/>
                </a:solidFill>
              </a:rPr>
              <a:t>The intent of project metrics is twofold. </a:t>
            </a:r>
            <a:endParaRPr/>
          </a:p>
          <a:p>
            <a:pPr indent="-342900" lvl="0" marL="342900" rtl="0" algn="just">
              <a:lnSpc>
                <a:spcPct val="150000"/>
              </a:lnSpc>
              <a:spcBef>
                <a:spcPts val="400"/>
              </a:spcBef>
              <a:spcAft>
                <a:spcPts val="0"/>
              </a:spcAft>
              <a:buClr>
                <a:srgbClr val="C00000"/>
              </a:buClr>
              <a:buSzPts val="2000"/>
              <a:buChar char="•"/>
            </a:pPr>
            <a:r>
              <a:rPr b="0" i="0" lang="en-US" sz="2000">
                <a:solidFill>
                  <a:srgbClr val="C00000"/>
                </a:solidFill>
              </a:rPr>
              <a:t>First</a:t>
            </a:r>
            <a:r>
              <a:rPr b="0" i="0" lang="en-US" sz="2000">
                <a:solidFill>
                  <a:srgbClr val="242021"/>
                </a:solidFill>
              </a:rPr>
              <a:t>, these metrics are used </a:t>
            </a:r>
            <a:r>
              <a:rPr b="1" i="0" lang="en-US" sz="2000">
                <a:solidFill>
                  <a:srgbClr val="242021"/>
                </a:solidFill>
              </a:rPr>
              <a:t>to minimize the development schedule </a:t>
            </a:r>
            <a:r>
              <a:rPr b="0" i="0" lang="en-US" sz="2000">
                <a:solidFill>
                  <a:srgbClr val="242021"/>
                </a:solidFill>
              </a:rPr>
              <a:t>by making the adjustments necessary to avoid delays and mitigate potential problems and risks. </a:t>
            </a:r>
            <a:endParaRPr/>
          </a:p>
          <a:p>
            <a:pPr indent="-342900" lvl="0" marL="342900" rtl="0" algn="just">
              <a:lnSpc>
                <a:spcPct val="150000"/>
              </a:lnSpc>
              <a:spcBef>
                <a:spcPts val="400"/>
              </a:spcBef>
              <a:spcAft>
                <a:spcPts val="0"/>
              </a:spcAft>
              <a:buClr>
                <a:srgbClr val="C00000"/>
              </a:buClr>
              <a:buSzPts val="2000"/>
              <a:buChar char="•"/>
            </a:pPr>
            <a:r>
              <a:rPr b="0" i="0" lang="en-US" sz="2000">
                <a:solidFill>
                  <a:srgbClr val="C00000"/>
                </a:solidFill>
              </a:rPr>
              <a:t>Second</a:t>
            </a:r>
            <a:r>
              <a:rPr b="0" i="0" lang="en-US" sz="2000">
                <a:solidFill>
                  <a:srgbClr val="242021"/>
                </a:solidFill>
              </a:rPr>
              <a:t>, project metrics are used </a:t>
            </a:r>
            <a:r>
              <a:rPr b="1" i="0" lang="en-US" sz="2000">
                <a:solidFill>
                  <a:srgbClr val="242021"/>
                </a:solidFill>
              </a:rPr>
              <a:t>to assess product quality on an ongoing basis</a:t>
            </a:r>
            <a:r>
              <a:rPr b="0" i="0" lang="en-US" sz="2000">
                <a:solidFill>
                  <a:srgbClr val="242021"/>
                </a:solidFill>
              </a:rPr>
              <a:t> and, when necessary, modify the technical approach to improve quality.</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As quality improves, defects are minimized, and as the defect count goes down, the amount of rework required during the project is also reduced.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This leads to a </a:t>
            </a:r>
            <a:r>
              <a:rPr b="1" i="0" lang="en-US" sz="2000">
                <a:solidFill>
                  <a:srgbClr val="242021"/>
                </a:solidFill>
              </a:rPr>
              <a:t>reduction in overall project cost.</a:t>
            </a:r>
            <a:endParaRPr b="1"/>
          </a:p>
          <a:p>
            <a:pPr indent="0" lvl="0" marL="0" rtl="0" algn="just">
              <a:lnSpc>
                <a:spcPct val="150000"/>
              </a:lnSpc>
              <a:spcBef>
                <a:spcPts val="400"/>
              </a:spcBef>
              <a:spcAft>
                <a:spcPts val="0"/>
              </a:spcAft>
              <a:buClr>
                <a:schemeClr val="dk1"/>
              </a:buClr>
              <a:buSzPts val="2000"/>
              <a:buNone/>
            </a:pPr>
            <a:r>
              <a:rPr lang="en-US" sz="2000"/>
              <a:t> </a:t>
            </a:r>
            <a:br>
              <a:rPr lang="en-US" sz="1600"/>
            </a:br>
            <a:r>
              <a:rPr lang="en-US" sz="2000"/>
              <a:t> </a:t>
            </a:r>
            <a:br>
              <a:rPr lang="en-US" sz="2000"/>
            </a:br>
            <a:r>
              <a:rPr lang="en-US" sz="2000"/>
              <a:t> </a:t>
            </a:r>
            <a:br>
              <a:rPr lang="en-US" sz="2000"/>
            </a:br>
            <a:r>
              <a:rPr lang="en-US" sz="2000"/>
              <a:t> </a:t>
            </a:r>
            <a:br>
              <a:rPr lang="en-US" sz="2000"/>
            </a:br>
            <a:endParaRPr sz="2000"/>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nvSpPr>
        <p:spPr>
          <a:xfrm>
            <a:off x="152400" y="914400"/>
            <a:ext cx="8763000" cy="4038600"/>
          </a:xfrm>
          <a:prstGeom prst="rect">
            <a:avLst/>
          </a:prstGeom>
          <a:noFill/>
          <a:ln>
            <a:noFill/>
          </a:ln>
        </p:spPr>
        <p:txBody>
          <a:bodyPr anchorCtr="0" anchor="ctr" bIns="45700" lIns="91425" spcFirstLastPara="1" rIns="91425" wrap="square" tIns="331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3A30FA"/>
                </a:solidFill>
                <a:latin typeface="Times New Roman"/>
                <a:ea typeface="Times New Roman"/>
                <a:cs typeface="Times New Roman"/>
                <a:sym typeface="Times New Roman"/>
              </a:rPr>
              <a:t>Metrics for Software Quality</a:t>
            </a:r>
            <a:endParaRPr b="0" i="0" sz="1400" u="none" cap="none" strike="noStrike">
              <a:solidFill>
                <a:srgbClr val="000000"/>
              </a:solidFill>
              <a:latin typeface="Arial"/>
              <a:ea typeface="Arial"/>
              <a:cs typeface="Arial"/>
              <a:sym typeface="Arial"/>
            </a:endParaRPr>
          </a:p>
        </p:txBody>
      </p:sp>
      <p:sp>
        <p:nvSpPr>
          <p:cNvPr id="225" name="Google Shape;225;p2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of Software Quality</a:t>
            </a:r>
            <a:endParaRPr/>
          </a:p>
        </p:txBody>
      </p:sp>
      <p:sp>
        <p:nvSpPr>
          <p:cNvPr id="231" name="Google Shape;231;p2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32" name="Google Shape;232;p2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a:pPr>
            <a:r>
              <a:rPr b="1" i="1" lang="en-US" sz="2000">
                <a:solidFill>
                  <a:srgbClr val="C00000"/>
                </a:solidFill>
              </a:rPr>
              <a:t>Correctness: </a:t>
            </a:r>
            <a:endParaRPr/>
          </a:p>
          <a:p>
            <a:pPr indent="-285750" lvl="1" marL="742950" rtl="0" algn="just">
              <a:lnSpc>
                <a:spcPct val="150000"/>
              </a:lnSpc>
              <a:spcBef>
                <a:spcPts val="400"/>
              </a:spcBef>
              <a:spcAft>
                <a:spcPts val="0"/>
              </a:spcAft>
              <a:buClr>
                <a:srgbClr val="2B2A2A"/>
              </a:buClr>
              <a:buSzPts val="2000"/>
              <a:buChar char="–"/>
            </a:pPr>
            <a:r>
              <a:rPr b="0" i="0" lang="en-US" sz="2000">
                <a:solidFill>
                  <a:srgbClr val="2B2A2A"/>
                </a:solidFill>
              </a:rPr>
              <a:t>Is the degree to which the software performs its required function. </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The most common </a:t>
            </a:r>
            <a:r>
              <a:rPr b="1" lang="en-US" sz="2000">
                <a:solidFill>
                  <a:srgbClr val="2B2A2A"/>
                </a:solidFill>
              </a:rPr>
              <a:t>measure for correctness is defects per KLOC (thousand line of codes)</a:t>
            </a:r>
            <a:r>
              <a:rPr lang="en-US" sz="2000">
                <a:solidFill>
                  <a:srgbClr val="2B2A2A"/>
                </a:solidFill>
              </a:rPr>
              <a:t>, where a defect is defined as a verified lack of conformance to requirements.</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When considering the overall quality of a software product, defects are those problems reported by a user of the program after the program has been released for general use. </a:t>
            </a:r>
            <a:endParaRPr/>
          </a:p>
          <a:p>
            <a:pPr indent="-285750" lvl="1" marL="742950" rtl="0" algn="just">
              <a:lnSpc>
                <a:spcPct val="150000"/>
              </a:lnSpc>
              <a:spcBef>
                <a:spcPts val="400"/>
              </a:spcBef>
              <a:spcAft>
                <a:spcPts val="0"/>
              </a:spcAft>
              <a:buClr>
                <a:srgbClr val="2B2A2A"/>
              </a:buClr>
              <a:buSzPts val="2000"/>
              <a:buChar char="–"/>
            </a:pPr>
            <a:r>
              <a:rPr lang="en-US" sz="2000">
                <a:solidFill>
                  <a:srgbClr val="2B2A2A"/>
                </a:solidFill>
              </a:rPr>
              <a:t>For quality assessment purposes, </a:t>
            </a:r>
            <a:r>
              <a:rPr b="1" lang="en-US" sz="2000">
                <a:solidFill>
                  <a:srgbClr val="2B2A2A"/>
                </a:solidFill>
              </a:rPr>
              <a:t>defects are counted over a standard period of time, typically one year.</a:t>
            </a:r>
            <a:endParaRPr b="1"/>
          </a:p>
          <a:p>
            <a:pPr indent="0" lvl="1" marL="457200" rtl="0" algn="just">
              <a:lnSpc>
                <a:spcPct val="150000"/>
              </a:lnSpc>
              <a:spcBef>
                <a:spcPts val="400"/>
              </a:spcBef>
              <a:spcAft>
                <a:spcPts val="0"/>
              </a:spcAft>
              <a:buClr>
                <a:srgbClr val="2B2A2A"/>
              </a:buClr>
              <a:buSzPts val="2000"/>
              <a:buNone/>
            </a:pPr>
            <a:r>
              <a:rPr lang="en-US" sz="2000">
                <a:solidFill>
                  <a:srgbClr val="2B2A2A"/>
                </a:solidFill>
              </a:rPr>
              <a:t> </a:t>
            </a:r>
            <a:br>
              <a:rPr lang="en-US" sz="1600"/>
            </a:br>
            <a:endParaRPr sz="2800">
              <a:solidFill>
                <a:srgbClr val="30303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of Software Quality</a:t>
            </a:r>
            <a:endParaRPr/>
          </a:p>
        </p:txBody>
      </p:sp>
      <p:sp>
        <p:nvSpPr>
          <p:cNvPr id="238" name="Google Shape;238;p2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39" name="Google Shape;239;p29"/>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startAt="2"/>
            </a:pPr>
            <a:r>
              <a:rPr b="1" i="1" lang="en-US" sz="2000">
                <a:solidFill>
                  <a:srgbClr val="C00000"/>
                </a:solidFill>
              </a:rPr>
              <a:t>Maintainability:</a:t>
            </a:r>
            <a:r>
              <a:rPr b="0" i="0" lang="en-US" sz="2000">
                <a:solidFill>
                  <a:srgbClr val="2B2A2A"/>
                </a:solidFill>
              </a:rPr>
              <a:t> It is the ease with which a program can be</a:t>
            </a:r>
            <a:endParaRPr/>
          </a:p>
          <a:p>
            <a:pPr indent="-228600" lvl="2" marL="1143000" rtl="0" algn="just">
              <a:lnSpc>
                <a:spcPct val="150000"/>
              </a:lnSpc>
              <a:spcBef>
                <a:spcPts val="400"/>
              </a:spcBef>
              <a:spcAft>
                <a:spcPts val="0"/>
              </a:spcAft>
              <a:buClr>
                <a:srgbClr val="2B2A2A"/>
              </a:buClr>
              <a:buSzPts val="2000"/>
              <a:buFont typeface="Noto Sans Symbols"/>
              <a:buChar char="✔"/>
            </a:pPr>
            <a:r>
              <a:rPr b="1" i="0" lang="en-US" sz="2000">
                <a:solidFill>
                  <a:srgbClr val="2B2A2A"/>
                </a:solidFill>
              </a:rPr>
              <a:t>Corrected</a:t>
            </a:r>
            <a:r>
              <a:rPr lang="en-US" sz="2000">
                <a:solidFill>
                  <a:srgbClr val="2B2A2A"/>
                </a:solidFill>
              </a:rPr>
              <a:t>, if an error is encountered</a:t>
            </a:r>
            <a:r>
              <a:rPr b="0" i="0" lang="en-US" sz="2000">
                <a:solidFill>
                  <a:srgbClr val="2B2A2A"/>
                </a:solidFill>
              </a:rPr>
              <a:t> </a:t>
            </a:r>
            <a:endParaRPr/>
          </a:p>
          <a:p>
            <a:pPr indent="-228600" lvl="2" marL="1143000" rtl="0" algn="just">
              <a:lnSpc>
                <a:spcPct val="150000"/>
              </a:lnSpc>
              <a:spcBef>
                <a:spcPts val="400"/>
              </a:spcBef>
              <a:spcAft>
                <a:spcPts val="0"/>
              </a:spcAft>
              <a:buClr>
                <a:srgbClr val="2B2A2A"/>
              </a:buClr>
              <a:buSzPts val="2000"/>
              <a:buFont typeface="Noto Sans Symbols"/>
              <a:buChar char="✔"/>
            </a:pPr>
            <a:r>
              <a:rPr b="1" lang="en-US" sz="2000">
                <a:solidFill>
                  <a:srgbClr val="2B2A2A"/>
                </a:solidFill>
              </a:rPr>
              <a:t>A</a:t>
            </a:r>
            <a:r>
              <a:rPr b="1" i="0" lang="en-US" sz="2000">
                <a:solidFill>
                  <a:srgbClr val="2B2A2A"/>
                </a:solidFill>
              </a:rPr>
              <a:t>dapted, </a:t>
            </a:r>
            <a:r>
              <a:rPr b="0" i="0" lang="en-US" sz="2000">
                <a:solidFill>
                  <a:srgbClr val="2B2A2A"/>
                </a:solidFill>
              </a:rPr>
              <a:t>if the environment changes</a:t>
            </a:r>
            <a:r>
              <a:rPr lang="en-US" sz="2000">
                <a:solidFill>
                  <a:srgbClr val="2B2A2A"/>
                </a:solidFill>
              </a:rPr>
              <a:t>, or</a:t>
            </a:r>
            <a:r>
              <a:rPr b="0" i="0" lang="en-US" sz="2000">
                <a:solidFill>
                  <a:srgbClr val="2B2A2A"/>
                </a:solidFill>
              </a:rPr>
              <a:t> </a:t>
            </a:r>
            <a:endParaRPr/>
          </a:p>
          <a:p>
            <a:pPr indent="-228600" lvl="2" marL="1143000" rtl="0" algn="just">
              <a:lnSpc>
                <a:spcPct val="150000"/>
              </a:lnSpc>
              <a:spcBef>
                <a:spcPts val="400"/>
              </a:spcBef>
              <a:spcAft>
                <a:spcPts val="0"/>
              </a:spcAft>
              <a:buClr>
                <a:srgbClr val="2B2A2A"/>
              </a:buClr>
              <a:buSzPts val="2000"/>
              <a:buFont typeface="Noto Sans Symbols"/>
              <a:buChar char="✔"/>
            </a:pPr>
            <a:r>
              <a:rPr b="1" i="0" lang="en-US" sz="2000">
                <a:solidFill>
                  <a:srgbClr val="2B2A2A"/>
                </a:solidFill>
              </a:rPr>
              <a:t>Enhanced</a:t>
            </a:r>
            <a:r>
              <a:rPr b="0" i="0" lang="en-US" sz="2000">
                <a:solidFill>
                  <a:srgbClr val="2B2A2A"/>
                </a:solidFill>
              </a:rPr>
              <a:t>, if the customer desires changes in requirements.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There is no way to measure maintainability directly; therefore, you must </a:t>
            </a:r>
            <a:r>
              <a:rPr b="1" i="0" lang="en-US" sz="2000">
                <a:solidFill>
                  <a:srgbClr val="242021"/>
                </a:solidFill>
              </a:rPr>
              <a:t>use indirect measures</a:t>
            </a:r>
            <a:r>
              <a:rPr b="0" i="0" lang="en-US" sz="2000">
                <a:solidFill>
                  <a:srgbClr val="242021"/>
                </a:solidFill>
              </a:rPr>
              <a:t>.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A simple time-oriented metric is </a:t>
            </a:r>
            <a:r>
              <a:rPr b="0" i="1" lang="en-US" sz="2000">
                <a:solidFill>
                  <a:srgbClr val="C00000"/>
                </a:solidFill>
              </a:rPr>
              <a:t>mean-time-to-change </a:t>
            </a:r>
            <a:r>
              <a:rPr b="0" i="0" lang="en-US" sz="2000">
                <a:solidFill>
                  <a:srgbClr val="C00000"/>
                </a:solidFill>
              </a:rPr>
              <a:t>(MTTC)</a:t>
            </a:r>
            <a:r>
              <a:rPr b="0" i="0" lang="en-US" sz="2000">
                <a:solidFill>
                  <a:srgbClr val="242021"/>
                </a:solidFill>
              </a:rPr>
              <a:t>, the time it takes to analyze the change request, design an appropriate modification, implement the change, test it, and distribute the change to all users. On average, programs that are </a:t>
            </a:r>
            <a:r>
              <a:rPr b="1" i="0" lang="en-US" sz="2000">
                <a:solidFill>
                  <a:srgbClr val="242021"/>
                </a:solidFill>
              </a:rPr>
              <a:t>maintainable will have a lower MTTC.</a:t>
            </a:r>
            <a:endParaRPr b="1"/>
          </a:p>
          <a:p>
            <a:pPr indent="0" lvl="0" marL="0" rtl="0" algn="just">
              <a:lnSpc>
                <a:spcPct val="150000"/>
              </a:lnSpc>
              <a:spcBef>
                <a:spcPts val="400"/>
              </a:spcBef>
              <a:spcAft>
                <a:spcPts val="0"/>
              </a:spcAft>
              <a:buClr>
                <a:schemeClr val="dk1"/>
              </a:buClr>
              <a:buSzPts val="2000"/>
              <a:buNone/>
            </a:pPr>
            <a:br>
              <a:rPr lang="en-US" sz="2000"/>
            </a:br>
            <a:endParaRPr b="0" i="0" sz="2000">
              <a:solidFill>
                <a:srgbClr val="2B2A2A"/>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of Software Quality</a:t>
            </a:r>
            <a:endParaRPr/>
          </a:p>
        </p:txBody>
      </p:sp>
      <p:sp>
        <p:nvSpPr>
          <p:cNvPr id="245" name="Google Shape;245;p3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46" name="Google Shape;246;p30"/>
          <p:cNvSpPr txBox="1"/>
          <p:nvPr>
            <p:ph idx="1" type="body"/>
          </p:nvPr>
        </p:nvSpPr>
        <p:spPr>
          <a:xfrm>
            <a:off x="457200" y="1042988"/>
            <a:ext cx="8229600" cy="542925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startAt="3"/>
            </a:pPr>
            <a:r>
              <a:rPr b="1" i="1" lang="en-US" sz="2000">
                <a:solidFill>
                  <a:srgbClr val="C00000"/>
                </a:solidFill>
              </a:rPr>
              <a:t>Integrity: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This attribute measures a </a:t>
            </a:r>
            <a:r>
              <a:rPr b="1" i="0" lang="en-US" sz="2000">
                <a:solidFill>
                  <a:srgbClr val="242021"/>
                </a:solidFill>
              </a:rPr>
              <a:t>system’s ability to withstand attacks </a:t>
            </a:r>
            <a:r>
              <a:rPr b="0" i="0" lang="en-US" sz="2000">
                <a:solidFill>
                  <a:srgbClr val="242021"/>
                </a:solidFill>
              </a:rPr>
              <a:t>(both accidental and intentional) to its security.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Attacks can be made on all three components of software: </a:t>
            </a:r>
            <a:r>
              <a:rPr b="0" i="1" lang="en-US" sz="2000">
                <a:solidFill>
                  <a:srgbClr val="242021"/>
                </a:solidFill>
              </a:rPr>
              <a:t>programs</a:t>
            </a:r>
            <a:r>
              <a:rPr b="0" i="0" lang="en-US" sz="2000">
                <a:solidFill>
                  <a:srgbClr val="242021"/>
                </a:solidFill>
              </a:rPr>
              <a:t>, </a:t>
            </a:r>
            <a:r>
              <a:rPr b="0" i="1" lang="en-US" sz="2000">
                <a:solidFill>
                  <a:srgbClr val="242021"/>
                </a:solidFill>
              </a:rPr>
              <a:t>data</a:t>
            </a:r>
            <a:r>
              <a:rPr b="0" i="0" lang="en-US" sz="2000">
                <a:solidFill>
                  <a:srgbClr val="242021"/>
                </a:solidFill>
              </a:rPr>
              <a:t>, and </a:t>
            </a:r>
            <a:r>
              <a:rPr b="0" i="1" lang="en-US" sz="2000">
                <a:solidFill>
                  <a:srgbClr val="242021"/>
                </a:solidFill>
              </a:rPr>
              <a:t>documentation</a:t>
            </a:r>
            <a:r>
              <a:rPr b="0" i="0" lang="en-US" sz="2000">
                <a:solidFill>
                  <a:srgbClr val="242021"/>
                </a:solidFill>
              </a:rPr>
              <a:t>.</a:t>
            </a:r>
            <a:endParaRPr/>
          </a:p>
          <a:p>
            <a:pPr indent="-342900" lvl="0" marL="342900" rtl="0" algn="just">
              <a:lnSpc>
                <a:spcPct val="150000"/>
              </a:lnSpc>
              <a:spcBef>
                <a:spcPts val="400"/>
              </a:spcBef>
              <a:spcAft>
                <a:spcPts val="0"/>
              </a:spcAft>
              <a:buClr>
                <a:srgbClr val="242021"/>
              </a:buClr>
              <a:buSzPts val="2000"/>
              <a:buChar char="•"/>
            </a:pPr>
            <a:r>
              <a:rPr lang="en-US" sz="2000">
                <a:solidFill>
                  <a:srgbClr val="242021"/>
                </a:solidFill>
              </a:rPr>
              <a:t>To measure integrity, two additional attributes must be defined: </a:t>
            </a:r>
            <a:r>
              <a:rPr i="1" lang="en-US" sz="2000">
                <a:solidFill>
                  <a:srgbClr val="242021"/>
                </a:solidFill>
              </a:rPr>
              <a:t>threat</a:t>
            </a:r>
            <a:r>
              <a:rPr lang="en-US" sz="2000">
                <a:solidFill>
                  <a:srgbClr val="242021"/>
                </a:solidFill>
              </a:rPr>
              <a:t> and </a:t>
            </a:r>
            <a:r>
              <a:rPr i="1" lang="en-US" sz="2000">
                <a:solidFill>
                  <a:srgbClr val="242021"/>
                </a:solidFill>
              </a:rPr>
              <a:t>security</a:t>
            </a:r>
            <a:r>
              <a:rPr lang="en-US" sz="2000">
                <a:solidFill>
                  <a:srgbClr val="242021"/>
                </a:solidFill>
              </a:rPr>
              <a:t>. </a:t>
            </a:r>
            <a:endParaRPr/>
          </a:p>
          <a:p>
            <a:pPr indent="-285750" lvl="1" marL="742950" rtl="0" algn="just">
              <a:lnSpc>
                <a:spcPct val="150000"/>
              </a:lnSpc>
              <a:spcBef>
                <a:spcPts val="400"/>
              </a:spcBef>
              <a:spcAft>
                <a:spcPts val="0"/>
              </a:spcAft>
              <a:buClr>
                <a:srgbClr val="00B0F0"/>
              </a:buClr>
              <a:buSzPts val="2000"/>
              <a:buChar char="–"/>
            </a:pPr>
            <a:r>
              <a:rPr b="1" i="1" lang="en-US" sz="2000">
                <a:solidFill>
                  <a:srgbClr val="00B0F0"/>
                </a:solidFill>
              </a:rPr>
              <a:t>Threat</a:t>
            </a:r>
            <a:r>
              <a:rPr lang="en-US" sz="2000">
                <a:solidFill>
                  <a:srgbClr val="242021"/>
                </a:solidFill>
              </a:rPr>
              <a:t> is </a:t>
            </a:r>
            <a:r>
              <a:rPr b="1" lang="en-US" sz="2000">
                <a:solidFill>
                  <a:srgbClr val="242021"/>
                </a:solidFill>
              </a:rPr>
              <a:t>the probability that an attack </a:t>
            </a:r>
            <a:r>
              <a:rPr lang="en-US" sz="2000">
                <a:solidFill>
                  <a:srgbClr val="242021"/>
                </a:solidFill>
              </a:rPr>
              <a:t>of a specific type </a:t>
            </a:r>
            <a:r>
              <a:rPr b="1" lang="en-US" sz="2000">
                <a:solidFill>
                  <a:srgbClr val="242021"/>
                </a:solidFill>
              </a:rPr>
              <a:t>will occur </a:t>
            </a:r>
            <a:r>
              <a:rPr lang="en-US" sz="2000">
                <a:solidFill>
                  <a:srgbClr val="242021"/>
                </a:solidFill>
              </a:rPr>
              <a:t>within a given time.</a:t>
            </a:r>
            <a:endParaRPr/>
          </a:p>
          <a:p>
            <a:pPr indent="-285750" lvl="1" marL="742950" rtl="0" algn="just">
              <a:lnSpc>
                <a:spcPct val="150000"/>
              </a:lnSpc>
              <a:spcBef>
                <a:spcPts val="400"/>
              </a:spcBef>
              <a:spcAft>
                <a:spcPts val="0"/>
              </a:spcAft>
              <a:buClr>
                <a:srgbClr val="00B0F0"/>
              </a:buClr>
              <a:buSzPts val="2000"/>
              <a:buChar char="–"/>
            </a:pPr>
            <a:r>
              <a:rPr b="1" i="1" lang="en-US" sz="2000">
                <a:solidFill>
                  <a:srgbClr val="00B0F0"/>
                </a:solidFill>
              </a:rPr>
              <a:t>Security</a:t>
            </a:r>
            <a:r>
              <a:rPr lang="en-US" sz="2000">
                <a:solidFill>
                  <a:srgbClr val="242021"/>
                </a:solidFill>
              </a:rPr>
              <a:t> is the </a:t>
            </a:r>
            <a:r>
              <a:rPr b="1" lang="en-US" sz="2000">
                <a:solidFill>
                  <a:srgbClr val="242021"/>
                </a:solidFill>
              </a:rPr>
              <a:t>probability that the attack </a:t>
            </a:r>
            <a:r>
              <a:rPr lang="en-US" sz="2000">
                <a:solidFill>
                  <a:srgbClr val="242021"/>
                </a:solidFill>
              </a:rPr>
              <a:t>of a specific type will be </a:t>
            </a:r>
            <a:r>
              <a:rPr b="1" lang="en-US" sz="2000">
                <a:solidFill>
                  <a:srgbClr val="242021"/>
                </a:solidFill>
              </a:rPr>
              <a:t>repelled. </a:t>
            </a:r>
            <a:endParaRPr b="1"/>
          </a:p>
          <a:p>
            <a:pPr indent="0" lvl="1" marL="457200" rtl="0" algn="just">
              <a:lnSpc>
                <a:spcPct val="150000"/>
              </a:lnSpc>
              <a:spcBef>
                <a:spcPts val="400"/>
              </a:spcBef>
              <a:spcAft>
                <a:spcPts val="0"/>
              </a:spcAft>
              <a:buClr>
                <a:schemeClr val="dk1"/>
              </a:buClr>
              <a:buSzPts val="2000"/>
              <a:buNone/>
            </a:pPr>
            <a:br>
              <a:rPr lang="en-US" sz="2000"/>
            </a:br>
            <a:br>
              <a:rPr lang="en-US" sz="2000"/>
            </a:br>
            <a:endParaRPr sz="2000">
              <a:solidFill>
                <a:srgbClr val="30303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of Software Quality</a:t>
            </a:r>
            <a:endParaRPr/>
          </a:p>
        </p:txBody>
      </p:sp>
      <p:sp>
        <p:nvSpPr>
          <p:cNvPr id="252" name="Google Shape;252;p3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53" name="Google Shape;253;p31"/>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startAt="3"/>
            </a:pPr>
            <a:r>
              <a:rPr b="1" i="1" lang="en-US" sz="2000">
                <a:solidFill>
                  <a:srgbClr val="C00000"/>
                </a:solidFill>
              </a:rPr>
              <a:t>Integrity (contd.):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The integrity of a system can then be defined as:</a:t>
            </a:r>
            <a:endParaRPr/>
          </a:p>
          <a:p>
            <a:pPr indent="-215900" lvl="0" marL="342900" rtl="0" algn="just">
              <a:lnSpc>
                <a:spcPct val="150000"/>
              </a:lnSpc>
              <a:spcBef>
                <a:spcPts val="400"/>
              </a:spcBef>
              <a:spcAft>
                <a:spcPts val="0"/>
              </a:spcAft>
              <a:buClr>
                <a:schemeClr val="dk1"/>
              </a:buClr>
              <a:buSzPts val="2000"/>
              <a:buNone/>
            </a:pPr>
            <a:r>
              <a:t/>
            </a:r>
            <a:endParaRPr sz="2000">
              <a:solidFill>
                <a:srgbClr val="242021"/>
              </a:solidFill>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For example, if threat (the probability that an attack will occur) is 0.25 and security (the likelihood of repelling an attack) is 0.95, the integrity of the system is 0.9875 (very high). </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If, on the other hand, the threat probability is 0.50 and the likelihood of repelling an attack is only 0.25, the integrity of the system is 0.625 (unacceptably low).</a:t>
            </a:r>
            <a:endParaRPr/>
          </a:p>
          <a:p>
            <a:pPr indent="0" lvl="0" marL="0" rtl="0" algn="just">
              <a:lnSpc>
                <a:spcPct val="150000"/>
              </a:lnSpc>
              <a:spcBef>
                <a:spcPts val="400"/>
              </a:spcBef>
              <a:spcAft>
                <a:spcPts val="0"/>
              </a:spcAft>
              <a:buClr>
                <a:schemeClr val="dk1"/>
              </a:buClr>
              <a:buSzPts val="2000"/>
              <a:buNone/>
            </a:pPr>
            <a:r>
              <a:rPr lang="en-US" sz="2000"/>
              <a:t> </a:t>
            </a:r>
            <a:br>
              <a:rPr lang="en-US" sz="2000"/>
            </a:br>
            <a:r>
              <a:rPr lang="en-US" sz="2000"/>
              <a:t> </a:t>
            </a:r>
            <a:endParaRPr/>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pic>
        <p:nvPicPr>
          <p:cNvPr id="254" name="Google Shape;254;p31"/>
          <p:cNvPicPr preferRelativeResize="0"/>
          <p:nvPr/>
        </p:nvPicPr>
        <p:blipFill rotWithShape="1">
          <a:blip r:embed="rId3">
            <a:alphaModFix/>
          </a:blip>
          <a:srcRect b="0" l="0" r="0" t="0"/>
          <a:stretch/>
        </p:blipFill>
        <p:spPr>
          <a:xfrm>
            <a:off x="2162175" y="2428875"/>
            <a:ext cx="4314825" cy="3524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of Software Quality</a:t>
            </a:r>
            <a:endParaRPr/>
          </a:p>
        </p:txBody>
      </p:sp>
      <p:sp>
        <p:nvSpPr>
          <p:cNvPr id="260" name="Google Shape;260;p3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61" name="Google Shape;261;p32"/>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Font typeface="Calibri"/>
              <a:buAutoNum type="arabicPeriod" startAt="4"/>
            </a:pPr>
            <a:r>
              <a:rPr b="1" i="1" lang="en-US" sz="2000">
                <a:solidFill>
                  <a:srgbClr val="C00000"/>
                </a:solidFill>
              </a:rPr>
              <a:t>Usability</a:t>
            </a:r>
            <a:endParaRPr/>
          </a:p>
          <a:p>
            <a:pPr indent="-342900" lvl="0" marL="342900" rtl="0" algn="just">
              <a:lnSpc>
                <a:spcPct val="150000"/>
              </a:lnSpc>
              <a:spcBef>
                <a:spcPts val="400"/>
              </a:spcBef>
              <a:spcAft>
                <a:spcPts val="0"/>
              </a:spcAft>
              <a:buClr>
                <a:srgbClr val="242021"/>
              </a:buClr>
              <a:buSzPts val="2000"/>
              <a:buChar char="•"/>
            </a:pPr>
            <a:r>
              <a:rPr b="0" i="0" lang="en-US" sz="2000">
                <a:solidFill>
                  <a:srgbClr val="242021"/>
                </a:solidFill>
              </a:rPr>
              <a:t>If a program is not easy to use, it is often doomed to failure, even if the functions that it performs are valuable.</a:t>
            </a:r>
            <a:r>
              <a:rPr lang="en-US" sz="2000"/>
              <a:t> </a:t>
            </a:r>
            <a:endParaRPr/>
          </a:p>
          <a:p>
            <a:pPr indent="-342900" lvl="0" marL="342900" rtl="0" algn="just">
              <a:lnSpc>
                <a:spcPct val="150000"/>
              </a:lnSpc>
              <a:spcBef>
                <a:spcPts val="400"/>
              </a:spcBef>
              <a:spcAft>
                <a:spcPts val="0"/>
              </a:spcAft>
              <a:buClr>
                <a:schemeClr val="dk1"/>
              </a:buClr>
              <a:buSzPts val="2000"/>
              <a:buChar char="•"/>
            </a:pPr>
            <a:r>
              <a:rPr b="1" lang="en-US" sz="2000"/>
              <a:t>Usability is </a:t>
            </a:r>
            <a:r>
              <a:rPr b="1" i="0" lang="en-US" sz="2000">
                <a:solidFill>
                  <a:srgbClr val="2B2A2A"/>
                </a:solidFill>
              </a:rPr>
              <a:t>an attempt to quantify “user friendliness”.</a:t>
            </a:r>
            <a:r>
              <a:rPr b="0" i="0" lang="en-US" sz="2000">
                <a:solidFill>
                  <a:srgbClr val="2B2A2A"/>
                </a:solidFill>
              </a:rPr>
              <a:t> </a:t>
            </a:r>
            <a:endParaRPr/>
          </a:p>
          <a:p>
            <a:pPr indent="0" lvl="1" marL="457200" rtl="0" algn="just">
              <a:lnSpc>
                <a:spcPct val="150000"/>
              </a:lnSpc>
              <a:spcBef>
                <a:spcPts val="400"/>
              </a:spcBef>
              <a:spcAft>
                <a:spcPts val="0"/>
              </a:spcAft>
              <a:buClr>
                <a:schemeClr val="dk1"/>
              </a:buClr>
              <a:buSzPts val="2000"/>
              <a:buNone/>
            </a:pPr>
            <a:r>
              <a:rPr lang="en-US" sz="2000"/>
              <a:t> </a:t>
            </a:r>
            <a:br>
              <a:rPr lang="en-US" sz="2000"/>
            </a:br>
            <a:r>
              <a:rPr lang="en-US" sz="2000"/>
              <a:t> </a:t>
            </a:r>
            <a:endParaRPr/>
          </a:p>
          <a:p>
            <a:pPr indent="0" lvl="0" marL="0" rtl="0" algn="just">
              <a:lnSpc>
                <a:spcPct val="150000"/>
              </a:lnSpc>
              <a:spcBef>
                <a:spcPts val="400"/>
              </a:spcBef>
              <a:spcAft>
                <a:spcPts val="0"/>
              </a:spcAft>
              <a:buClr>
                <a:schemeClr val="dk1"/>
              </a:buClr>
              <a:buSzPts val="2000"/>
              <a:buNone/>
            </a:pPr>
            <a:br>
              <a:rPr lang="en-US" sz="2000"/>
            </a:br>
            <a:endParaRPr sz="2000">
              <a:solidFill>
                <a:srgbClr val="30303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Defect Removal Efficiency</a:t>
            </a:r>
            <a:endParaRPr/>
          </a:p>
        </p:txBody>
      </p:sp>
      <p:sp>
        <p:nvSpPr>
          <p:cNvPr id="267" name="Google Shape;267;p3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68" name="Google Shape;268;p33"/>
          <p:cNvSpPr txBox="1"/>
          <p:nvPr>
            <p:ph idx="1" type="body"/>
          </p:nvPr>
        </p:nvSpPr>
        <p:spPr>
          <a:xfrm>
            <a:off x="457200" y="838200"/>
            <a:ext cx="8229600" cy="57912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2000"/>
              <a:buChar char="•"/>
            </a:pPr>
            <a:r>
              <a:rPr b="0" i="0" lang="en-US" sz="1900">
                <a:solidFill>
                  <a:srgbClr val="242021"/>
                </a:solidFill>
              </a:rPr>
              <a:t>A quality metric that provides benefit at both the project and process level is </a:t>
            </a:r>
            <a:r>
              <a:rPr b="0" i="1" lang="en-US" sz="1900">
                <a:solidFill>
                  <a:srgbClr val="242021"/>
                </a:solidFill>
              </a:rPr>
              <a:t>defect removal efficiency </a:t>
            </a:r>
            <a:r>
              <a:rPr b="0" i="0" lang="en-US" sz="1900">
                <a:solidFill>
                  <a:srgbClr val="242021"/>
                </a:solidFill>
              </a:rPr>
              <a:t>(DRE). </a:t>
            </a:r>
            <a:endParaRPr sz="1900"/>
          </a:p>
          <a:p>
            <a:pPr indent="-342900" lvl="0" marL="342900" rtl="0" algn="just">
              <a:lnSpc>
                <a:spcPct val="150000"/>
              </a:lnSpc>
              <a:spcBef>
                <a:spcPts val="400"/>
              </a:spcBef>
              <a:spcAft>
                <a:spcPts val="0"/>
              </a:spcAft>
              <a:buClr>
                <a:srgbClr val="242021"/>
              </a:buClr>
              <a:buSzPts val="2000"/>
              <a:buChar char="•"/>
            </a:pPr>
            <a:r>
              <a:rPr b="0" i="0" lang="en-US" sz="1900">
                <a:solidFill>
                  <a:srgbClr val="242021"/>
                </a:solidFill>
              </a:rPr>
              <a:t>In essence, DRE is a </a:t>
            </a:r>
            <a:r>
              <a:rPr b="1" i="0" lang="en-US" sz="1900">
                <a:solidFill>
                  <a:srgbClr val="242021"/>
                </a:solidFill>
              </a:rPr>
              <a:t>measure of the filtering ability of quality assurance and control actions </a:t>
            </a:r>
            <a:r>
              <a:rPr b="0" i="0" lang="en-US" sz="1900">
                <a:solidFill>
                  <a:srgbClr val="242021"/>
                </a:solidFill>
              </a:rPr>
              <a:t>as they are applied throughout all process framework activities.</a:t>
            </a:r>
            <a:r>
              <a:rPr lang="en-US" sz="1900"/>
              <a:t> </a:t>
            </a:r>
            <a:endParaRPr sz="1900"/>
          </a:p>
          <a:p>
            <a:pPr indent="-342900" lvl="0" marL="342900" rtl="0" algn="just">
              <a:lnSpc>
                <a:spcPct val="150000"/>
              </a:lnSpc>
              <a:spcBef>
                <a:spcPts val="400"/>
              </a:spcBef>
              <a:spcAft>
                <a:spcPts val="0"/>
              </a:spcAft>
              <a:buClr>
                <a:srgbClr val="242021"/>
              </a:buClr>
              <a:buSzPts val="2000"/>
              <a:buChar char="•"/>
            </a:pPr>
            <a:r>
              <a:rPr b="0" i="0" lang="en-US" sz="1900">
                <a:solidFill>
                  <a:srgbClr val="242021"/>
                </a:solidFill>
              </a:rPr>
              <a:t>When considered for a project as a whole, DRE is defined in the following manner:</a:t>
            </a:r>
            <a:endParaRPr sz="1900"/>
          </a:p>
          <a:p>
            <a:pPr indent="0" lvl="0" marL="0" rtl="0" algn="just">
              <a:lnSpc>
                <a:spcPct val="150000"/>
              </a:lnSpc>
              <a:spcBef>
                <a:spcPts val="400"/>
              </a:spcBef>
              <a:spcAft>
                <a:spcPts val="0"/>
              </a:spcAft>
              <a:buClr>
                <a:schemeClr val="dk1"/>
              </a:buClr>
              <a:buSzPts val="2000"/>
              <a:buNone/>
            </a:pPr>
            <a:r>
              <a:t/>
            </a:r>
            <a:endParaRPr b="0" i="0" sz="1900">
              <a:solidFill>
                <a:srgbClr val="242021"/>
              </a:solidFill>
            </a:endParaRPr>
          </a:p>
          <a:p>
            <a:pPr indent="-342900" lvl="0" marL="342900" rtl="0" algn="just">
              <a:lnSpc>
                <a:spcPct val="150000"/>
              </a:lnSpc>
              <a:spcBef>
                <a:spcPts val="400"/>
              </a:spcBef>
              <a:spcAft>
                <a:spcPts val="0"/>
              </a:spcAft>
              <a:buClr>
                <a:srgbClr val="242021"/>
              </a:buClr>
              <a:buSzPts val="2000"/>
              <a:buChar char="•"/>
            </a:pPr>
            <a:r>
              <a:rPr lang="en-US" sz="1900">
                <a:solidFill>
                  <a:srgbClr val="242021"/>
                </a:solidFill>
              </a:rPr>
              <a:t>Here,</a:t>
            </a:r>
            <a:r>
              <a:rPr b="0" i="0" lang="en-US" sz="1900">
                <a:solidFill>
                  <a:srgbClr val="242021"/>
                </a:solidFill>
              </a:rPr>
              <a:t> </a:t>
            </a:r>
            <a:r>
              <a:rPr b="0" i="1" lang="en-US" sz="1900">
                <a:solidFill>
                  <a:srgbClr val="242021"/>
                </a:solidFill>
              </a:rPr>
              <a:t>E </a:t>
            </a:r>
            <a:r>
              <a:rPr b="0" i="0" lang="en-US" sz="1900">
                <a:solidFill>
                  <a:srgbClr val="242021"/>
                </a:solidFill>
              </a:rPr>
              <a:t>is </a:t>
            </a:r>
            <a:r>
              <a:rPr b="1" i="0" lang="en-US" sz="1900">
                <a:solidFill>
                  <a:srgbClr val="242021"/>
                </a:solidFill>
              </a:rPr>
              <a:t>the number of errors found before delivery </a:t>
            </a:r>
            <a:r>
              <a:rPr b="0" i="0" lang="en-US" sz="1900">
                <a:solidFill>
                  <a:srgbClr val="242021"/>
                </a:solidFill>
              </a:rPr>
              <a:t>of the software to the end user and </a:t>
            </a:r>
            <a:r>
              <a:rPr b="0" i="1" lang="en-US" sz="1900">
                <a:solidFill>
                  <a:srgbClr val="242021"/>
                </a:solidFill>
              </a:rPr>
              <a:t>D </a:t>
            </a:r>
            <a:r>
              <a:rPr b="0" i="0" lang="en-US" sz="1900">
                <a:solidFill>
                  <a:srgbClr val="242021"/>
                </a:solidFill>
              </a:rPr>
              <a:t>is the number of </a:t>
            </a:r>
            <a:r>
              <a:rPr b="1" i="0" lang="en-US" sz="1900">
                <a:solidFill>
                  <a:srgbClr val="242021"/>
                </a:solidFill>
              </a:rPr>
              <a:t>defects found after delivery</a:t>
            </a:r>
            <a:r>
              <a:rPr b="0" i="0" lang="en-US" sz="1900">
                <a:solidFill>
                  <a:srgbClr val="242021"/>
                </a:solidFill>
              </a:rPr>
              <a:t>.</a:t>
            </a:r>
            <a:r>
              <a:rPr lang="en-US" sz="1900"/>
              <a:t> </a:t>
            </a:r>
            <a:endParaRPr sz="1900"/>
          </a:p>
          <a:p>
            <a:pPr indent="-342900" lvl="0" marL="342900" rtl="0" algn="just">
              <a:lnSpc>
                <a:spcPct val="150000"/>
              </a:lnSpc>
              <a:spcBef>
                <a:spcPts val="400"/>
              </a:spcBef>
              <a:spcAft>
                <a:spcPts val="0"/>
              </a:spcAft>
              <a:buClr>
                <a:srgbClr val="000000"/>
              </a:buClr>
              <a:buSzPts val="2000"/>
              <a:buFont typeface="Arial"/>
              <a:buChar char="•"/>
            </a:pPr>
            <a:r>
              <a:rPr b="0" i="0" lang="en-US" sz="1900" u="none" strike="noStrike">
                <a:solidFill>
                  <a:srgbClr val="000000"/>
                </a:solidFill>
              </a:rPr>
              <a:t>As D </a:t>
            </a:r>
            <a:r>
              <a:rPr b="0" i="0" lang="en-US" sz="1900" u="sng" strike="noStrike">
                <a:solidFill>
                  <a:srgbClr val="000000"/>
                </a:solidFill>
              </a:rPr>
              <a:t>increases</a:t>
            </a:r>
            <a:r>
              <a:rPr b="0" i="0" lang="en-US" sz="1900" u="none" strike="noStrike">
                <a:solidFill>
                  <a:srgbClr val="000000"/>
                </a:solidFill>
              </a:rPr>
              <a:t>, DRE </a:t>
            </a:r>
            <a:r>
              <a:rPr b="0" i="0" lang="en-US" sz="1900" u="sng" strike="noStrike">
                <a:solidFill>
                  <a:srgbClr val="000000"/>
                </a:solidFill>
              </a:rPr>
              <a:t>decreases</a:t>
            </a:r>
            <a:r>
              <a:rPr b="0" i="0" lang="en-US" sz="1900" u="none" strike="noStrike">
                <a:solidFill>
                  <a:srgbClr val="000000"/>
                </a:solidFill>
              </a:rPr>
              <a:t> (i.e., becomes a smaller and smaller fraction)</a:t>
            </a:r>
            <a:endParaRPr sz="1900"/>
          </a:p>
          <a:p>
            <a:pPr indent="-342900" lvl="0" marL="342900" rtl="0" algn="just">
              <a:lnSpc>
                <a:spcPct val="150000"/>
              </a:lnSpc>
              <a:spcBef>
                <a:spcPts val="400"/>
              </a:spcBef>
              <a:spcAft>
                <a:spcPts val="0"/>
              </a:spcAft>
              <a:buClr>
                <a:srgbClr val="000000"/>
              </a:buClr>
              <a:buSzPts val="2000"/>
              <a:buFont typeface="Arial"/>
              <a:buChar char="•"/>
            </a:pPr>
            <a:r>
              <a:rPr b="0" i="0" lang="en-US" sz="1900" u="none" strike="noStrike">
                <a:solidFill>
                  <a:srgbClr val="000000"/>
                </a:solidFill>
              </a:rPr>
              <a:t>The ideal value of DRE is 1, which means no defects are found after delivery.</a:t>
            </a:r>
            <a:br>
              <a:rPr lang="en-US" sz="1900"/>
            </a:br>
            <a:br>
              <a:rPr lang="en-US" sz="1900"/>
            </a:br>
            <a:r>
              <a:rPr lang="en-US" sz="1900"/>
              <a:t> </a:t>
            </a:r>
            <a:br>
              <a:rPr lang="en-US" sz="1900"/>
            </a:br>
            <a:r>
              <a:rPr lang="en-US" sz="1900"/>
              <a:t> </a:t>
            </a:r>
            <a:endParaRPr sz="1900"/>
          </a:p>
          <a:p>
            <a:pPr indent="0" lvl="0" marL="0" rtl="0" algn="just">
              <a:lnSpc>
                <a:spcPct val="150000"/>
              </a:lnSpc>
              <a:spcBef>
                <a:spcPts val="400"/>
              </a:spcBef>
              <a:spcAft>
                <a:spcPts val="0"/>
              </a:spcAft>
              <a:buClr>
                <a:schemeClr val="dk1"/>
              </a:buClr>
              <a:buSzPts val="2000"/>
              <a:buNone/>
            </a:pPr>
            <a:br>
              <a:rPr lang="en-US" sz="1900"/>
            </a:br>
            <a:endParaRPr sz="1900">
              <a:solidFill>
                <a:srgbClr val="303030"/>
              </a:solidFill>
            </a:endParaRPr>
          </a:p>
        </p:txBody>
      </p:sp>
      <p:pic>
        <p:nvPicPr>
          <p:cNvPr id="269" name="Google Shape;269;p33"/>
          <p:cNvPicPr preferRelativeResize="0"/>
          <p:nvPr/>
        </p:nvPicPr>
        <p:blipFill rotWithShape="1">
          <a:blip r:embed="rId3">
            <a:alphaModFix/>
          </a:blip>
          <a:srcRect b="0" l="0" r="0" t="0"/>
          <a:stretch/>
        </p:blipFill>
        <p:spPr>
          <a:xfrm>
            <a:off x="2100262" y="3843338"/>
            <a:ext cx="1543050" cy="638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nvSpPr>
        <p:spPr>
          <a:xfrm>
            <a:off x="152400" y="914400"/>
            <a:ext cx="8763000" cy="4038600"/>
          </a:xfrm>
          <a:prstGeom prst="rect">
            <a:avLst/>
          </a:prstGeom>
          <a:noFill/>
          <a:ln>
            <a:noFill/>
          </a:ln>
        </p:spPr>
        <p:txBody>
          <a:bodyPr anchorCtr="0" anchor="ctr" bIns="45700" lIns="91425" spcFirstLastPara="1" rIns="91425" wrap="square" tIns="33100">
            <a:noAutofit/>
          </a:bodyPr>
          <a:lstStyle/>
          <a:p>
            <a:pPr indent="0" lvl="0" marL="0" marR="0" rtl="0" algn="ctr">
              <a:lnSpc>
                <a:spcPct val="100000"/>
              </a:lnSpc>
              <a:spcBef>
                <a:spcPts val="0"/>
              </a:spcBef>
              <a:spcAft>
                <a:spcPts val="0"/>
              </a:spcAft>
              <a:buClr>
                <a:srgbClr val="000000"/>
              </a:buClr>
              <a:buSzPts val="5400"/>
              <a:buFont typeface="Arial"/>
              <a:buNone/>
            </a:pPr>
            <a:r>
              <a:rPr b="1" i="0" lang="en-US" sz="5400" u="none" cap="none" strike="noStrike">
                <a:solidFill>
                  <a:srgbClr val="3A30FA"/>
                </a:solidFill>
                <a:latin typeface="Times New Roman"/>
                <a:ea typeface="Times New Roman"/>
                <a:cs typeface="Times New Roman"/>
                <a:sym typeface="Times New Roman"/>
              </a:rPr>
              <a:t>Product Metrics</a:t>
            </a:r>
            <a:endParaRPr b="0" i="0" sz="1400" u="none" cap="none" strike="noStrike">
              <a:solidFill>
                <a:srgbClr val="000000"/>
              </a:solidFill>
              <a:latin typeface="Arial"/>
              <a:ea typeface="Arial"/>
              <a:cs typeface="Arial"/>
              <a:sym typeface="Arial"/>
            </a:endParaRPr>
          </a:p>
        </p:txBody>
      </p:sp>
      <p:sp>
        <p:nvSpPr>
          <p:cNvPr id="276" name="Google Shape;276;p3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Measures, Metrics and Indicators</a:t>
            </a:r>
            <a:endParaRPr/>
          </a:p>
        </p:txBody>
      </p:sp>
      <p:sp>
        <p:nvSpPr>
          <p:cNvPr id="282" name="Google Shape;282;p3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83" name="Google Shape;283;p3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A</a:t>
            </a:r>
            <a:r>
              <a:rPr lang="en-US" sz="2000">
                <a:solidFill>
                  <a:schemeClr val="folHlink"/>
                </a:solidFill>
              </a:rPr>
              <a:t> </a:t>
            </a:r>
            <a:r>
              <a:rPr i="1" lang="en-US" sz="2000">
                <a:solidFill>
                  <a:srgbClr val="C00000"/>
                </a:solidFill>
              </a:rPr>
              <a:t>measure</a:t>
            </a:r>
            <a:r>
              <a:rPr lang="en-US" sz="2000"/>
              <a:t> provides a </a:t>
            </a:r>
            <a:r>
              <a:rPr b="1" lang="en-US" sz="2000"/>
              <a:t>quantitative indication of the extent, amount, dimension, capacity, or size of some attribute </a:t>
            </a:r>
            <a:r>
              <a:rPr lang="en-US" sz="2000"/>
              <a:t>of a product or process.</a:t>
            </a:r>
            <a:endParaRPr/>
          </a:p>
          <a:p>
            <a:pPr indent="0" lvl="0" marL="0" rtl="0" algn="just">
              <a:lnSpc>
                <a:spcPct val="150000"/>
              </a:lnSpc>
              <a:spcBef>
                <a:spcPts val="200"/>
              </a:spcBef>
              <a:spcAft>
                <a:spcPts val="0"/>
              </a:spcAft>
              <a:buClr>
                <a:schemeClr val="dk1"/>
              </a:buClr>
              <a:buSzPts val="1000"/>
              <a:buNone/>
            </a:pPr>
            <a:r>
              <a:t/>
            </a:r>
            <a:endParaRPr sz="1000"/>
          </a:p>
          <a:p>
            <a:pPr indent="-342900" lvl="0" marL="342900" rtl="0" algn="just">
              <a:lnSpc>
                <a:spcPct val="150000"/>
              </a:lnSpc>
              <a:spcBef>
                <a:spcPts val="400"/>
              </a:spcBef>
              <a:spcAft>
                <a:spcPts val="0"/>
              </a:spcAft>
              <a:buClr>
                <a:schemeClr val="dk1"/>
              </a:buClr>
              <a:buSzPts val="2000"/>
              <a:buChar char="•"/>
            </a:pPr>
            <a:r>
              <a:rPr lang="en-US" sz="2000"/>
              <a:t>IEEE defines</a:t>
            </a:r>
            <a:r>
              <a:rPr i="1" lang="en-US" sz="2000">
                <a:solidFill>
                  <a:schemeClr val="folHlink"/>
                </a:solidFill>
              </a:rPr>
              <a:t> </a:t>
            </a:r>
            <a:r>
              <a:rPr i="1" lang="en-US" sz="2000">
                <a:solidFill>
                  <a:srgbClr val="C00000"/>
                </a:solidFill>
              </a:rPr>
              <a:t>metric</a:t>
            </a:r>
            <a:r>
              <a:rPr lang="en-US" sz="2000">
                <a:solidFill>
                  <a:schemeClr val="folHlink"/>
                </a:solidFill>
              </a:rPr>
              <a:t> </a:t>
            </a:r>
            <a:r>
              <a:rPr lang="en-US" sz="2000"/>
              <a:t>as “a quantitative measure of the degree to which a system, component, or </a:t>
            </a:r>
            <a:r>
              <a:rPr b="1" lang="en-US" sz="2000"/>
              <a:t>process possesses a given attribute</a:t>
            </a:r>
            <a:r>
              <a:rPr lang="en-US" sz="2000"/>
              <a:t>.”</a:t>
            </a:r>
            <a:endParaRPr/>
          </a:p>
          <a:p>
            <a:pPr indent="0" lvl="0" marL="0" rtl="0" algn="just">
              <a:lnSpc>
                <a:spcPct val="150000"/>
              </a:lnSpc>
              <a:spcBef>
                <a:spcPts val="200"/>
              </a:spcBef>
              <a:spcAft>
                <a:spcPts val="0"/>
              </a:spcAft>
              <a:buClr>
                <a:schemeClr val="dk1"/>
              </a:buClr>
              <a:buSzPts val="1000"/>
              <a:buNone/>
            </a:pPr>
            <a:r>
              <a:t/>
            </a:r>
            <a:endParaRPr sz="1000"/>
          </a:p>
          <a:p>
            <a:pPr indent="-342900" lvl="0" marL="342900" rtl="0" algn="just">
              <a:lnSpc>
                <a:spcPct val="150000"/>
              </a:lnSpc>
              <a:spcBef>
                <a:spcPts val="400"/>
              </a:spcBef>
              <a:spcAft>
                <a:spcPts val="0"/>
              </a:spcAft>
              <a:buClr>
                <a:schemeClr val="dk1"/>
              </a:buClr>
              <a:buSzPts val="2000"/>
              <a:buChar char="•"/>
            </a:pPr>
            <a:r>
              <a:rPr lang="en-US" sz="2000"/>
              <a:t>An </a:t>
            </a:r>
            <a:r>
              <a:rPr i="1" lang="en-US" sz="2000">
                <a:solidFill>
                  <a:srgbClr val="C00000"/>
                </a:solidFill>
              </a:rPr>
              <a:t>indicator</a:t>
            </a:r>
            <a:r>
              <a:rPr lang="en-US" sz="2000">
                <a:solidFill>
                  <a:srgbClr val="C00000"/>
                </a:solidFill>
              </a:rPr>
              <a:t> </a:t>
            </a:r>
            <a:r>
              <a:rPr lang="en-US" sz="2000"/>
              <a:t>is a metric or combination of metrics that </a:t>
            </a:r>
            <a:r>
              <a:rPr b="1" lang="en-US" sz="2000"/>
              <a:t>provide insight into the software process</a:t>
            </a:r>
            <a:r>
              <a:rPr lang="en-US" sz="2000"/>
              <a:t>, a software project, or the product itself. </a:t>
            </a:r>
            <a:endParaRPr/>
          </a:p>
          <a:p>
            <a:pPr indent="0" lvl="0" marL="0" rtl="0" algn="just">
              <a:lnSpc>
                <a:spcPct val="150000"/>
              </a:lnSpc>
              <a:spcBef>
                <a:spcPts val="200"/>
              </a:spcBef>
              <a:spcAft>
                <a:spcPts val="0"/>
              </a:spcAft>
              <a:buClr>
                <a:schemeClr val="dk1"/>
              </a:buClr>
              <a:buSzPts val="1000"/>
              <a:buNone/>
            </a:pPr>
            <a:r>
              <a:t/>
            </a:r>
            <a:endParaRPr sz="1000"/>
          </a:p>
          <a:p>
            <a:pPr indent="-342900" lvl="0" marL="342900" rtl="0" algn="just">
              <a:lnSpc>
                <a:spcPct val="150000"/>
              </a:lnSpc>
              <a:spcBef>
                <a:spcPts val="400"/>
              </a:spcBef>
              <a:spcAft>
                <a:spcPts val="0"/>
              </a:spcAft>
              <a:buClr>
                <a:schemeClr val="dk1"/>
              </a:buClr>
              <a:buSzPts val="2000"/>
              <a:buChar char="•"/>
            </a:pPr>
            <a:r>
              <a:rPr lang="en-US" sz="2000"/>
              <a:t>An indicator provides insight that enables the project manager or software engineers to adjust the process, the project, or the product to make things better. </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Measurement Process</a:t>
            </a:r>
            <a:endParaRPr/>
          </a:p>
        </p:txBody>
      </p:sp>
      <p:sp>
        <p:nvSpPr>
          <p:cNvPr id="289" name="Google Shape;289;p3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90" name="Google Shape;290;p36"/>
          <p:cNvSpPr txBox="1"/>
          <p:nvPr>
            <p:ph idx="1" type="body"/>
          </p:nvPr>
        </p:nvSpPr>
        <p:spPr>
          <a:xfrm>
            <a:off x="457200" y="1214437"/>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242021"/>
              </a:buClr>
              <a:buSzPts val="2000"/>
              <a:buNone/>
            </a:pPr>
            <a:r>
              <a:rPr lang="en-US" sz="2000">
                <a:solidFill>
                  <a:srgbClr val="242021"/>
                </a:solidFill>
              </a:rPr>
              <a:t>A </a:t>
            </a:r>
            <a:r>
              <a:rPr b="0" i="0" lang="en-US" sz="2000">
                <a:solidFill>
                  <a:srgbClr val="242021"/>
                </a:solidFill>
              </a:rPr>
              <a:t>measurement process can be characterized by five activities:</a:t>
            </a:r>
            <a:endParaRPr/>
          </a:p>
          <a:p>
            <a:pPr indent="-457200" lvl="0" marL="457200" rtl="0" algn="just">
              <a:lnSpc>
                <a:spcPct val="150000"/>
              </a:lnSpc>
              <a:spcBef>
                <a:spcPts val="300"/>
              </a:spcBef>
              <a:spcAft>
                <a:spcPts val="0"/>
              </a:spcAft>
              <a:buClr>
                <a:srgbClr val="C00000"/>
              </a:buClr>
              <a:buSzPts val="2000"/>
              <a:buFont typeface="Calibri"/>
              <a:buAutoNum type="arabicPeriod"/>
            </a:pPr>
            <a:r>
              <a:rPr i="1" lang="en-US" sz="2000">
                <a:solidFill>
                  <a:srgbClr val="C00000"/>
                </a:solidFill>
              </a:rPr>
              <a:t>Formulation.</a:t>
            </a:r>
            <a:r>
              <a:rPr lang="en-US" sz="2000">
                <a:solidFill>
                  <a:srgbClr val="C00000"/>
                </a:solidFill>
              </a:rPr>
              <a:t> </a:t>
            </a:r>
            <a:r>
              <a:rPr lang="en-US" sz="2000"/>
              <a:t>The </a:t>
            </a:r>
            <a:r>
              <a:rPr b="1" lang="en-US" sz="2000"/>
              <a:t>derivation of software measures and metrics </a:t>
            </a:r>
            <a:r>
              <a:rPr lang="en-US" sz="2000"/>
              <a:t>appropriate for the representation of the software that is being considered.</a:t>
            </a:r>
            <a:endParaRPr/>
          </a:p>
          <a:p>
            <a:pPr indent="-457200" lvl="0" marL="457200" rtl="0" algn="just">
              <a:lnSpc>
                <a:spcPct val="150000"/>
              </a:lnSpc>
              <a:spcBef>
                <a:spcPts val="400"/>
              </a:spcBef>
              <a:spcAft>
                <a:spcPts val="0"/>
              </a:spcAft>
              <a:buClr>
                <a:srgbClr val="C00000"/>
              </a:buClr>
              <a:buSzPts val="2000"/>
              <a:buFont typeface="Calibri"/>
              <a:buAutoNum type="arabicPeriod"/>
            </a:pPr>
            <a:r>
              <a:rPr i="1" lang="en-US" sz="2000">
                <a:solidFill>
                  <a:srgbClr val="C00000"/>
                </a:solidFill>
              </a:rPr>
              <a:t>Collection.</a:t>
            </a:r>
            <a:r>
              <a:rPr lang="en-US" sz="2000">
                <a:solidFill>
                  <a:srgbClr val="C00000"/>
                </a:solidFill>
              </a:rPr>
              <a:t> </a:t>
            </a:r>
            <a:r>
              <a:rPr lang="en-US" sz="2000"/>
              <a:t>The mechanism used </a:t>
            </a:r>
            <a:r>
              <a:rPr b="1" lang="en-US" sz="2000"/>
              <a:t>to accumulate data required </a:t>
            </a:r>
            <a:r>
              <a:rPr lang="en-US" sz="2000"/>
              <a:t>to derive the formulated metrics.</a:t>
            </a:r>
            <a:endParaRPr/>
          </a:p>
          <a:p>
            <a:pPr indent="-457200" lvl="0" marL="457200" rtl="0" algn="just">
              <a:lnSpc>
                <a:spcPct val="150000"/>
              </a:lnSpc>
              <a:spcBef>
                <a:spcPts val="400"/>
              </a:spcBef>
              <a:spcAft>
                <a:spcPts val="0"/>
              </a:spcAft>
              <a:buClr>
                <a:srgbClr val="C00000"/>
              </a:buClr>
              <a:buSzPts val="2000"/>
              <a:buFont typeface="Calibri"/>
              <a:buAutoNum type="arabicPeriod"/>
            </a:pPr>
            <a:r>
              <a:rPr i="1" lang="en-US" sz="2000">
                <a:solidFill>
                  <a:srgbClr val="C00000"/>
                </a:solidFill>
              </a:rPr>
              <a:t>Analysis. </a:t>
            </a:r>
            <a:r>
              <a:rPr lang="en-US" sz="2000"/>
              <a:t>The </a:t>
            </a:r>
            <a:r>
              <a:rPr b="1" lang="en-US" sz="2000"/>
              <a:t>computation of metrics </a:t>
            </a:r>
            <a:r>
              <a:rPr lang="en-US" sz="2000"/>
              <a:t>and the application of mathematical tools.</a:t>
            </a:r>
            <a:endParaRPr/>
          </a:p>
          <a:p>
            <a:pPr indent="-457200" lvl="0" marL="457200" rtl="0" algn="just">
              <a:lnSpc>
                <a:spcPct val="150000"/>
              </a:lnSpc>
              <a:spcBef>
                <a:spcPts val="400"/>
              </a:spcBef>
              <a:spcAft>
                <a:spcPts val="0"/>
              </a:spcAft>
              <a:buClr>
                <a:srgbClr val="C00000"/>
              </a:buClr>
              <a:buSzPts val="2000"/>
              <a:buFont typeface="Calibri"/>
              <a:buAutoNum type="arabicPeriod"/>
            </a:pPr>
            <a:r>
              <a:rPr i="1" lang="en-US" sz="2000">
                <a:solidFill>
                  <a:srgbClr val="C00000"/>
                </a:solidFill>
              </a:rPr>
              <a:t>Interpretation.</a:t>
            </a:r>
            <a:r>
              <a:rPr lang="en-US" sz="2000">
                <a:solidFill>
                  <a:srgbClr val="C00000"/>
                </a:solidFill>
              </a:rPr>
              <a:t> </a:t>
            </a:r>
            <a:r>
              <a:rPr lang="en-US" sz="2000"/>
              <a:t>The </a:t>
            </a:r>
            <a:r>
              <a:rPr b="1" lang="en-US" sz="2000"/>
              <a:t>evaluation of metrics </a:t>
            </a:r>
            <a:r>
              <a:rPr lang="en-US" sz="2000"/>
              <a:t>results in an effort to gain insight into the quality of the representation.</a:t>
            </a:r>
            <a:endParaRPr/>
          </a:p>
          <a:p>
            <a:pPr indent="-457200" lvl="0" marL="457200" rtl="0" algn="just">
              <a:lnSpc>
                <a:spcPct val="150000"/>
              </a:lnSpc>
              <a:spcBef>
                <a:spcPts val="400"/>
              </a:spcBef>
              <a:spcAft>
                <a:spcPts val="0"/>
              </a:spcAft>
              <a:buClr>
                <a:srgbClr val="C00000"/>
              </a:buClr>
              <a:buSzPts val="2000"/>
              <a:buFont typeface="Calibri"/>
              <a:buAutoNum type="arabicPeriod"/>
            </a:pPr>
            <a:r>
              <a:rPr i="1" lang="en-US" sz="2000">
                <a:solidFill>
                  <a:srgbClr val="C00000"/>
                </a:solidFill>
              </a:rPr>
              <a:t>Feedback.</a:t>
            </a:r>
            <a:r>
              <a:rPr lang="en-US" sz="2000">
                <a:solidFill>
                  <a:srgbClr val="C00000"/>
                </a:solidFill>
              </a:rPr>
              <a:t> </a:t>
            </a:r>
            <a:r>
              <a:rPr b="1" lang="en-US" sz="2000"/>
              <a:t>Recommendations derived from the interpretation </a:t>
            </a:r>
            <a:r>
              <a:rPr lang="en-US" sz="2000"/>
              <a:t>of product</a:t>
            </a:r>
            <a:r>
              <a:rPr b="1" lang="en-US" sz="2000"/>
              <a:t> </a:t>
            </a:r>
            <a:r>
              <a:rPr lang="en-US" sz="2000"/>
              <a:t>metrics transmitted to the software team.</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Measurement Principles</a:t>
            </a:r>
            <a:endParaRPr/>
          </a:p>
        </p:txBody>
      </p:sp>
      <p:sp>
        <p:nvSpPr>
          <p:cNvPr id="296" name="Google Shape;296;p3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297" name="Google Shape;297;p3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The objectives of measurement should be established </a:t>
            </a:r>
            <a:r>
              <a:rPr b="1" lang="en-US" sz="2000"/>
              <a:t>before data collection begins.</a:t>
            </a:r>
            <a:endParaRPr b="1"/>
          </a:p>
          <a:p>
            <a:pPr indent="-342900" lvl="0" marL="342900" rtl="0" algn="just">
              <a:lnSpc>
                <a:spcPct val="150000"/>
              </a:lnSpc>
              <a:spcBef>
                <a:spcPts val="400"/>
              </a:spcBef>
              <a:spcAft>
                <a:spcPts val="0"/>
              </a:spcAft>
              <a:buClr>
                <a:schemeClr val="dk1"/>
              </a:buClr>
              <a:buSzPts val="2000"/>
              <a:buChar char="•"/>
            </a:pPr>
            <a:r>
              <a:rPr lang="en-US" sz="2000"/>
              <a:t>Each </a:t>
            </a:r>
            <a:r>
              <a:rPr b="1" lang="en-US" sz="2000"/>
              <a:t>technical metric should be defined </a:t>
            </a:r>
            <a:r>
              <a:rPr lang="en-US" sz="2000"/>
              <a:t>in an unambiguous manner.</a:t>
            </a:r>
            <a:endParaRPr/>
          </a:p>
          <a:p>
            <a:pPr indent="-342900" lvl="0" marL="342900" rtl="0" algn="just">
              <a:lnSpc>
                <a:spcPct val="150000"/>
              </a:lnSpc>
              <a:spcBef>
                <a:spcPts val="400"/>
              </a:spcBef>
              <a:spcAft>
                <a:spcPts val="0"/>
              </a:spcAft>
              <a:buClr>
                <a:schemeClr val="dk1"/>
              </a:buClr>
              <a:buSzPts val="2000"/>
              <a:buChar char="•"/>
            </a:pPr>
            <a:r>
              <a:rPr b="1" lang="en-US" sz="2000"/>
              <a:t>Metrics should be derived </a:t>
            </a:r>
            <a:r>
              <a:rPr lang="en-US" sz="2000"/>
              <a:t>based on a theory that is valid for the domain of application (e.g., metrics for design should draw upon basic design concepts and principles and attempt to provide an indication of the presence of an attribute that is deemed desirable).</a:t>
            </a:r>
            <a:endParaRPr/>
          </a:p>
          <a:p>
            <a:pPr indent="-342900" lvl="0" marL="342900" rtl="0" algn="just">
              <a:lnSpc>
                <a:spcPct val="150000"/>
              </a:lnSpc>
              <a:spcBef>
                <a:spcPts val="400"/>
              </a:spcBef>
              <a:spcAft>
                <a:spcPts val="0"/>
              </a:spcAft>
              <a:buClr>
                <a:schemeClr val="dk1"/>
              </a:buClr>
              <a:buSzPts val="2000"/>
              <a:buChar char="•"/>
            </a:pPr>
            <a:r>
              <a:rPr b="1" lang="en-US" sz="2000"/>
              <a:t>Metrics should be tailored </a:t>
            </a:r>
            <a:r>
              <a:rPr lang="en-US" sz="2000"/>
              <a:t>to best accommodate specific products and processes.</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Goal Oriented Software Measurement</a:t>
            </a:r>
            <a:endParaRPr/>
          </a:p>
        </p:txBody>
      </p:sp>
      <p:sp>
        <p:nvSpPr>
          <p:cNvPr id="303" name="Google Shape;303;p3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04" name="Google Shape;304;p3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The </a:t>
            </a:r>
            <a:r>
              <a:rPr lang="en-US" sz="2000">
                <a:solidFill>
                  <a:srgbClr val="C00000"/>
                </a:solidFill>
              </a:rPr>
              <a:t>Goal/Question/Metric (GQM) Paradigm </a:t>
            </a:r>
            <a:r>
              <a:rPr lang="en-US" sz="2000"/>
              <a:t>has been developed as a </a:t>
            </a:r>
            <a:r>
              <a:rPr b="1" lang="en-US" sz="2000"/>
              <a:t>technique for identifying meaningful metrics </a:t>
            </a:r>
            <a:r>
              <a:rPr lang="en-US" sz="2000"/>
              <a:t>for any part of the software process. </a:t>
            </a:r>
            <a:endParaRPr/>
          </a:p>
          <a:p>
            <a:pPr indent="-342900" lvl="0" marL="342900" rtl="0" algn="just">
              <a:lnSpc>
                <a:spcPct val="150000"/>
              </a:lnSpc>
              <a:spcBef>
                <a:spcPts val="400"/>
              </a:spcBef>
              <a:spcAft>
                <a:spcPts val="0"/>
              </a:spcAft>
              <a:buClr>
                <a:schemeClr val="dk1"/>
              </a:buClr>
              <a:buSzPts val="2000"/>
              <a:buChar char="•"/>
            </a:pPr>
            <a:r>
              <a:rPr lang="en-US" sz="2000"/>
              <a:t>GQM emphasizes the need to:</a:t>
            </a:r>
            <a:endParaRPr/>
          </a:p>
          <a:p>
            <a:pPr indent="0" lvl="1" marL="457200" rtl="0" algn="just">
              <a:lnSpc>
                <a:spcPct val="150000"/>
              </a:lnSpc>
              <a:spcBef>
                <a:spcPts val="400"/>
              </a:spcBef>
              <a:spcAft>
                <a:spcPts val="0"/>
              </a:spcAft>
              <a:buClr>
                <a:schemeClr val="dk1"/>
              </a:buClr>
              <a:buSzPts val="2000"/>
              <a:buNone/>
            </a:pPr>
            <a:r>
              <a:rPr lang="en-US" sz="2000"/>
              <a:t>(1) establish an explicit measurement</a:t>
            </a:r>
            <a:r>
              <a:rPr lang="en-US" sz="2000">
                <a:solidFill>
                  <a:schemeClr val="folHlink"/>
                </a:solidFill>
              </a:rPr>
              <a:t> </a:t>
            </a:r>
            <a:r>
              <a:rPr i="1" lang="en-US" sz="2000">
                <a:solidFill>
                  <a:srgbClr val="C00000"/>
                </a:solidFill>
              </a:rPr>
              <a:t>goal</a:t>
            </a:r>
            <a:r>
              <a:rPr lang="en-US" sz="2000">
                <a:solidFill>
                  <a:srgbClr val="C00000"/>
                </a:solidFill>
              </a:rPr>
              <a:t> </a:t>
            </a:r>
            <a:r>
              <a:rPr lang="en-US" sz="2000"/>
              <a:t>that is specific to the process activity or product characteristic that is to be assessed</a:t>
            </a:r>
            <a:endParaRPr/>
          </a:p>
          <a:p>
            <a:pPr indent="0" lvl="1" marL="457200" rtl="0" algn="just">
              <a:lnSpc>
                <a:spcPct val="150000"/>
              </a:lnSpc>
              <a:spcBef>
                <a:spcPts val="400"/>
              </a:spcBef>
              <a:spcAft>
                <a:spcPts val="0"/>
              </a:spcAft>
              <a:buClr>
                <a:schemeClr val="dk1"/>
              </a:buClr>
              <a:buSzPts val="2000"/>
              <a:buNone/>
            </a:pPr>
            <a:r>
              <a:rPr lang="en-US" sz="2000"/>
              <a:t>(2) define a set of</a:t>
            </a:r>
            <a:r>
              <a:rPr lang="en-US" sz="2000">
                <a:solidFill>
                  <a:schemeClr val="folHlink"/>
                </a:solidFill>
              </a:rPr>
              <a:t> </a:t>
            </a:r>
            <a:r>
              <a:rPr i="1" lang="en-US" sz="2000">
                <a:solidFill>
                  <a:srgbClr val="C00000"/>
                </a:solidFill>
              </a:rPr>
              <a:t>questions</a:t>
            </a:r>
            <a:r>
              <a:rPr lang="en-US" sz="2000"/>
              <a:t> that must be answered in order to achieve the goal, and </a:t>
            </a:r>
            <a:endParaRPr/>
          </a:p>
          <a:p>
            <a:pPr indent="0" lvl="1" marL="457200" rtl="0" algn="just">
              <a:lnSpc>
                <a:spcPct val="150000"/>
              </a:lnSpc>
              <a:spcBef>
                <a:spcPts val="300"/>
              </a:spcBef>
              <a:spcAft>
                <a:spcPts val="0"/>
              </a:spcAft>
              <a:buClr>
                <a:schemeClr val="dk1"/>
              </a:buClr>
              <a:buSzPts val="2000"/>
              <a:buNone/>
            </a:pPr>
            <a:r>
              <a:rPr lang="en-US" sz="2000"/>
              <a:t>(3) identify well-formulated</a:t>
            </a:r>
            <a:r>
              <a:rPr lang="en-US" sz="2000">
                <a:solidFill>
                  <a:srgbClr val="F3FF07"/>
                </a:solidFill>
              </a:rPr>
              <a:t> </a:t>
            </a:r>
            <a:r>
              <a:rPr i="1" lang="en-US" sz="2000">
                <a:solidFill>
                  <a:srgbClr val="C00000"/>
                </a:solidFill>
              </a:rPr>
              <a:t>metrics</a:t>
            </a:r>
            <a:r>
              <a:rPr lang="en-US" sz="2000"/>
              <a:t> that help to answer these questions.</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Goal Oriented Software Measurement</a:t>
            </a:r>
            <a:endParaRPr/>
          </a:p>
        </p:txBody>
      </p:sp>
      <p:sp>
        <p:nvSpPr>
          <p:cNvPr id="310" name="Google Shape;310;p3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11" name="Google Shape;311;p39"/>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300"/>
              </a:spcBef>
              <a:spcAft>
                <a:spcPts val="0"/>
              </a:spcAft>
              <a:buClr>
                <a:schemeClr val="dk1"/>
              </a:buClr>
              <a:buSzPts val="2000"/>
              <a:buChar char="•"/>
            </a:pPr>
            <a:r>
              <a:rPr lang="en-US" sz="2000"/>
              <a:t>Goal definition template can be used to define each measurement goal. The template takes the form:</a:t>
            </a:r>
            <a:endParaRPr sz="2000"/>
          </a:p>
          <a:p>
            <a:pPr indent="-285750" lvl="1" marL="742950" rtl="0" algn="just">
              <a:lnSpc>
                <a:spcPct val="150000"/>
              </a:lnSpc>
              <a:spcBef>
                <a:spcPts val="400"/>
              </a:spcBef>
              <a:spcAft>
                <a:spcPts val="0"/>
              </a:spcAft>
              <a:buClr>
                <a:srgbClr val="C00000"/>
              </a:buClr>
              <a:buSzPts val="2000"/>
              <a:buChar char="–"/>
            </a:pPr>
            <a:r>
              <a:rPr lang="en-US" sz="2000">
                <a:solidFill>
                  <a:srgbClr val="C00000"/>
                </a:solidFill>
              </a:rPr>
              <a:t>Analyze</a:t>
            </a:r>
            <a:r>
              <a:rPr lang="en-US" sz="2000"/>
              <a:t> {the </a:t>
            </a:r>
            <a:r>
              <a:rPr b="1" lang="en-US" sz="2000"/>
              <a:t>name of activity </a:t>
            </a:r>
            <a:r>
              <a:rPr lang="en-US" sz="2000"/>
              <a:t>or attribute to be measured} </a:t>
            </a:r>
            <a:r>
              <a:rPr lang="en-US" sz="2000">
                <a:solidFill>
                  <a:srgbClr val="C00000"/>
                </a:solidFill>
              </a:rPr>
              <a:t>for the purpose of </a:t>
            </a:r>
            <a:r>
              <a:rPr lang="en-US" sz="2000"/>
              <a:t>{the </a:t>
            </a:r>
            <a:r>
              <a:rPr b="1" lang="en-US" sz="2000"/>
              <a:t>overall objective </a:t>
            </a:r>
            <a:r>
              <a:rPr lang="en-US" sz="2000"/>
              <a:t>of the analysis} </a:t>
            </a:r>
            <a:r>
              <a:rPr lang="en-US" sz="2000">
                <a:solidFill>
                  <a:srgbClr val="C00000"/>
                </a:solidFill>
              </a:rPr>
              <a:t>with respect to </a:t>
            </a:r>
            <a:r>
              <a:rPr lang="en-US" sz="2000"/>
              <a:t>{the </a:t>
            </a:r>
            <a:r>
              <a:rPr b="1" lang="en-US" sz="2000"/>
              <a:t>aspect of the activity </a:t>
            </a:r>
            <a:r>
              <a:rPr lang="en-US" sz="2000"/>
              <a:t>or attribute that is considered} </a:t>
            </a:r>
            <a:r>
              <a:rPr lang="en-US" sz="2000">
                <a:solidFill>
                  <a:srgbClr val="C00000"/>
                </a:solidFill>
              </a:rPr>
              <a:t>from the viewpoint of </a:t>
            </a:r>
            <a:r>
              <a:rPr lang="en-US" sz="2000"/>
              <a:t>{the </a:t>
            </a:r>
            <a:r>
              <a:rPr b="1" lang="en-US" sz="2000"/>
              <a:t>people</a:t>
            </a:r>
            <a:r>
              <a:rPr lang="en-US" sz="2000"/>
              <a:t> who have an interest in the measurement}</a:t>
            </a:r>
            <a:r>
              <a:rPr lang="en-US" sz="2000">
                <a:solidFill>
                  <a:srgbClr val="C00000"/>
                </a:solidFill>
              </a:rPr>
              <a:t>in the context of </a:t>
            </a:r>
            <a:r>
              <a:rPr lang="en-US" sz="2000"/>
              <a:t>{the </a:t>
            </a:r>
            <a:r>
              <a:rPr b="1" lang="en-US" sz="2000"/>
              <a:t>environment</a:t>
            </a:r>
            <a:r>
              <a:rPr lang="en-US" sz="2000"/>
              <a:t> in which the measurement takes place}.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Attributes of Effective Software Metrics</a:t>
            </a:r>
            <a:endParaRPr/>
          </a:p>
        </p:txBody>
      </p:sp>
      <p:sp>
        <p:nvSpPr>
          <p:cNvPr id="317" name="Google Shape;317;p4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18" name="Google Shape;318;p40"/>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242021"/>
              </a:buClr>
              <a:buSzPts val="2000"/>
              <a:buNone/>
            </a:pPr>
            <a:r>
              <a:rPr b="0" i="0" lang="en-US" sz="2000">
                <a:solidFill>
                  <a:srgbClr val="242021"/>
                </a:solidFill>
              </a:rPr>
              <a:t>A set of attributes that should be encompassed by effective software metrics:</a:t>
            </a:r>
            <a:endParaRPr/>
          </a:p>
          <a:p>
            <a:pPr indent="-342900" lvl="0" marL="342900" rtl="0" algn="just">
              <a:lnSpc>
                <a:spcPct val="150000"/>
              </a:lnSpc>
              <a:spcBef>
                <a:spcPts val="400"/>
              </a:spcBef>
              <a:spcAft>
                <a:spcPts val="0"/>
              </a:spcAft>
              <a:buClr>
                <a:srgbClr val="C00000"/>
              </a:buClr>
              <a:buSzPts val="2000"/>
              <a:buChar char="•"/>
            </a:pPr>
            <a:r>
              <a:rPr i="1" lang="en-US" sz="2000">
                <a:solidFill>
                  <a:srgbClr val="C00000"/>
                </a:solidFill>
              </a:rPr>
              <a:t>Simple and computable.</a:t>
            </a:r>
            <a:r>
              <a:rPr lang="en-US" sz="2000">
                <a:solidFill>
                  <a:srgbClr val="C00000"/>
                </a:solidFill>
              </a:rPr>
              <a:t> </a:t>
            </a:r>
            <a:r>
              <a:rPr lang="en-US" sz="2000"/>
              <a:t>It should be relatively easy to learn how to derive the metric, and its computation should not demand inordinate effort or time</a:t>
            </a:r>
            <a:endParaRPr/>
          </a:p>
          <a:p>
            <a:pPr indent="-342900" lvl="0" marL="342900" rtl="0" algn="just">
              <a:lnSpc>
                <a:spcPct val="150000"/>
              </a:lnSpc>
              <a:spcBef>
                <a:spcPts val="400"/>
              </a:spcBef>
              <a:spcAft>
                <a:spcPts val="0"/>
              </a:spcAft>
              <a:buClr>
                <a:srgbClr val="C00000"/>
              </a:buClr>
              <a:buSzPts val="2000"/>
              <a:buChar char="•"/>
            </a:pPr>
            <a:r>
              <a:rPr i="1" lang="en-US" sz="2000">
                <a:solidFill>
                  <a:srgbClr val="C00000"/>
                </a:solidFill>
              </a:rPr>
              <a:t>Empirically and intuitively persuasive.</a:t>
            </a:r>
            <a:r>
              <a:rPr lang="en-US" sz="2000">
                <a:solidFill>
                  <a:srgbClr val="C00000"/>
                </a:solidFill>
              </a:rPr>
              <a:t> </a:t>
            </a:r>
            <a:r>
              <a:rPr lang="en-US" sz="2000"/>
              <a:t>The metric should </a:t>
            </a:r>
            <a:r>
              <a:rPr b="1" lang="en-US" sz="2000"/>
              <a:t>satisfy the engineer’s intuitive notions</a:t>
            </a:r>
            <a:r>
              <a:rPr lang="en-US" sz="2000"/>
              <a:t> about the product attribute under consideration</a:t>
            </a:r>
            <a:endParaRPr/>
          </a:p>
          <a:p>
            <a:pPr indent="-342900" lvl="0" marL="342900" rtl="0" algn="just">
              <a:lnSpc>
                <a:spcPct val="150000"/>
              </a:lnSpc>
              <a:spcBef>
                <a:spcPts val="400"/>
              </a:spcBef>
              <a:spcAft>
                <a:spcPts val="0"/>
              </a:spcAft>
              <a:buClr>
                <a:srgbClr val="C00000"/>
              </a:buClr>
              <a:buSzPts val="2000"/>
              <a:buChar char="•"/>
            </a:pPr>
            <a:r>
              <a:rPr i="1" lang="en-US" sz="2000">
                <a:solidFill>
                  <a:srgbClr val="C00000"/>
                </a:solidFill>
              </a:rPr>
              <a:t>Consistent and objective.</a:t>
            </a:r>
            <a:r>
              <a:rPr lang="en-US" sz="2000">
                <a:solidFill>
                  <a:srgbClr val="C00000"/>
                </a:solidFill>
              </a:rPr>
              <a:t>  </a:t>
            </a:r>
            <a:r>
              <a:rPr lang="en-US" sz="2000"/>
              <a:t>The metric should always yield results that are unambiguous. </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Attributes of Effective Software Metrics</a:t>
            </a:r>
            <a:endParaRPr/>
          </a:p>
        </p:txBody>
      </p:sp>
      <p:sp>
        <p:nvSpPr>
          <p:cNvPr id="324" name="Google Shape;324;p4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25" name="Google Shape;325;p41"/>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C00000"/>
              </a:buClr>
              <a:buSzPts val="2000"/>
              <a:buChar char="•"/>
            </a:pPr>
            <a:r>
              <a:rPr i="1" lang="en-US" sz="2000">
                <a:solidFill>
                  <a:srgbClr val="C00000"/>
                </a:solidFill>
              </a:rPr>
              <a:t>Consistent in its use of units and dimensions.</a:t>
            </a:r>
            <a:r>
              <a:rPr lang="en-US" sz="2000">
                <a:solidFill>
                  <a:srgbClr val="C00000"/>
                </a:solidFill>
              </a:rPr>
              <a:t> </a:t>
            </a:r>
            <a:r>
              <a:rPr lang="en-US" sz="2000"/>
              <a:t>The mathematical computation of the metric should use measures that do not lead to bizarre combinations of unit. </a:t>
            </a:r>
            <a:endParaRPr/>
          </a:p>
          <a:p>
            <a:pPr indent="-342900" lvl="0" marL="342900" rtl="0" algn="just">
              <a:lnSpc>
                <a:spcPct val="150000"/>
              </a:lnSpc>
              <a:spcBef>
                <a:spcPts val="400"/>
              </a:spcBef>
              <a:spcAft>
                <a:spcPts val="0"/>
              </a:spcAft>
              <a:buClr>
                <a:srgbClr val="C00000"/>
              </a:buClr>
              <a:buSzPts val="2000"/>
              <a:buChar char="•"/>
            </a:pPr>
            <a:r>
              <a:rPr i="1" lang="en-US" sz="2000">
                <a:solidFill>
                  <a:srgbClr val="C00000"/>
                </a:solidFill>
              </a:rPr>
              <a:t>Programming language independent.</a:t>
            </a:r>
            <a:r>
              <a:rPr lang="en-US" sz="2000">
                <a:solidFill>
                  <a:srgbClr val="C00000"/>
                </a:solidFill>
              </a:rPr>
              <a:t>  </a:t>
            </a:r>
            <a:r>
              <a:rPr lang="en-US" sz="2000"/>
              <a:t>Metrics should be based on the analysis model, the design model, or the structure of the program itself. </a:t>
            </a:r>
            <a:endParaRPr/>
          </a:p>
          <a:p>
            <a:pPr indent="-342900" lvl="0" marL="342900" rtl="0" algn="just">
              <a:lnSpc>
                <a:spcPct val="150000"/>
              </a:lnSpc>
              <a:spcBef>
                <a:spcPts val="400"/>
              </a:spcBef>
              <a:spcAft>
                <a:spcPts val="0"/>
              </a:spcAft>
              <a:buClr>
                <a:srgbClr val="C00000"/>
              </a:buClr>
              <a:buSzPts val="2000"/>
              <a:buChar char="•"/>
            </a:pPr>
            <a:r>
              <a:rPr i="1" lang="en-US" sz="2000">
                <a:solidFill>
                  <a:srgbClr val="C00000"/>
                </a:solidFill>
              </a:rPr>
              <a:t>Effective mechanism for quality feedback.</a:t>
            </a:r>
            <a:r>
              <a:rPr lang="en-US" sz="2000">
                <a:solidFill>
                  <a:srgbClr val="C00000"/>
                </a:solidFill>
              </a:rPr>
              <a:t> </a:t>
            </a:r>
            <a:r>
              <a:rPr lang="en-US" sz="2000"/>
              <a:t>That is, the metric should provide a software engineer with information that can lead to a higher quality end product</a:t>
            </a:r>
            <a:endParaRPr/>
          </a:p>
          <a:p>
            <a:pPr indent="0" lvl="0" marL="0" rtl="0" algn="just">
              <a:lnSpc>
                <a:spcPct val="150000"/>
              </a:lnSpc>
              <a:spcBef>
                <a:spcPts val="400"/>
              </a:spcBef>
              <a:spcAft>
                <a:spcPts val="0"/>
              </a:spcAft>
              <a:buClr>
                <a:schemeClr val="dk1"/>
              </a:buClr>
              <a:buSzPts val="2000"/>
              <a:buNone/>
            </a:pPr>
            <a:br>
              <a:rPr lang="en-US" sz="2000"/>
            </a:br>
            <a:endParaRPr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Requirement Model</a:t>
            </a:r>
            <a:endParaRPr/>
          </a:p>
        </p:txBody>
      </p:sp>
      <p:sp>
        <p:nvSpPr>
          <p:cNvPr id="331" name="Google Shape;331;p4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32" name="Google Shape;332;p42"/>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chemeClr val="dk1"/>
              </a:buClr>
              <a:buSzPts val="2000"/>
              <a:buChar char="•"/>
            </a:pPr>
            <a:r>
              <a:rPr lang="en-US" sz="2000"/>
              <a:t>Technical work in software engineering begins with the creation of the requirements model.</a:t>
            </a:r>
            <a:endParaRPr/>
          </a:p>
          <a:p>
            <a:pPr indent="-342900" lvl="0" marL="342900" rtl="0" algn="just">
              <a:lnSpc>
                <a:spcPct val="150000"/>
              </a:lnSpc>
              <a:spcBef>
                <a:spcPts val="400"/>
              </a:spcBef>
              <a:spcAft>
                <a:spcPts val="0"/>
              </a:spcAft>
              <a:buClr>
                <a:schemeClr val="dk1"/>
              </a:buClr>
              <a:buSzPts val="2000"/>
              <a:buChar char="•"/>
            </a:pPr>
            <a:r>
              <a:rPr lang="en-US" sz="2000"/>
              <a:t>It is at this stage that requirements are derived and a foundation for design is established. </a:t>
            </a:r>
            <a:endParaRPr/>
          </a:p>
          <a:p>
            <a:pPr indent="-342900" lvl="0" marL="342900" rtl="0" algn="just">
              <a:lnSpc>
                <a:spcPct val="150000"/>
              </a:lnSpc>
              <a:spcBef>
                <a:spcPts val="400"/>
              </a:spcBef>
              <a:spcAft>
                <a:spcPts val="0"/>
              </a:spcAft>
              <a:buClr>
                <a:schemeClr val="dk1"/>
              </a:buClr>
              <a:buSzPts val="2000"/>
              <a:buChar char="•"/>
            </a:pPr>
            <a:r>
              <a:rPr lang="en-US" sz="2000"/>
              <a:t>Therefore, </a:t>
            </a:r>
            <a:r>
              <a:rPr b="1" lang="en-US" sz="2000"/>
              <a:t>product metrics that provide insight into the quality of the analysis model are desirable.</a:t>
            </a:r>
            <a:endParaRPr b="1"/>
          </a:p>
          <a:p>
            <a:pPr indent="0" lvl="0" marL="0" rtl="0" algn="just">
              <a:lnSpc>
                <a:spcPct val="150000"/>
              </a:lnSpc>
              <a:spcBef>
                <a:spcPts val="360"/>
              </a:spcBef>
              <a:spcAft>
                <a:spcPts val="0"/>
              </a:spcAft>
              <a:buClr>
                <a:schemeClr val="dk1"/>
              </a:buClr>
              <a:buSzPts val="1800"/>
              <a:buNone/>
            </a:pPr>
            <a:br>
              <a:rPr lang="en-US" sz="1800"/>
            </a:br>
            <a:endParaRPr sz="1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38" name="Google Shape;338;p4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39" name="Google Shape;339;p43"/>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242021"/>
              </a:buClr>
              <a:buSzPts val="1800"/>
              <a:buChar char="•"/>
            </a:pPr>
            <a:r>
              <a:rPr b="0" i="0" lang="en-US" sz="1800">
                <a:solidFill>
                  <a:srgbClr val="242021"/>
                </a:solidFill>
              </a:rPr>
              <a:t>The </a:t>
            </a:r>
            <a:r>
              <a:rPr b="0" i="1" lang="en-US" sz="1800">
                <a:solidFill>
                  <a:srgbClr val="C00000"/>
                </a:solidFill>
              </a:rPr>
              <a:t>function point </a:t>
            </a:r>
            <a:r>
              <a:rPr b="0" i="0" lang="en-US" sz="1800">
                <a:solidFill>
                  <a:srgbClr val="C00000"/>
                </a:solidFill>
              </a:rPr>
              <a:t>(FP) </a:t>
            </a:r>
            <a:r>
              <a:rPr b="0" i="1" lang="en-US" sz="1800">
                <a:solidFill>
                  <a:srgbClr val="C00000"/>
                </a:solidFill>
              </a:rPr>
              <a:t>metric </a:t>
            </a:r>
            <a:r>
              <a:rPr b="0" i="0" lang="en-US" sz="1800">
                <a:solidFill>
                  <a:srgbClr val="242021"/>
                </a:solidFill>
              </a:rPr>
              <a:t>can be used effectively as a means for measuring the functionality delivered by a system.</a:t>
            </a:r>
            <a:endParaRPr/>
          </a:p>
          <a:p>
            <a:pPr indent="-342900" lvl="0" marL="342900" rtl="0" algn="just">
              <a:lnSpc>
                <a:spcPct val="150000"/>
              </a:lnSpc>
              <a:spcBef>
                <a:spcPts val="360"/>
              </a:spcBef>
              <a:spcAft>
                <a:spcPts val="0"/>
              </a:spcAft>
              <a:buClr>
                <a:srgbClr val="242021"/>
              </a:buClr>
              <a:buSzPts val="1800"/>
              <a:buChar char="•"/>
            </a:pPr>
            <a:r>
              <a:rPr lang="en-US" sz="1800">
                <a:solidFill>
                  <a:srgbClr val="242021"/>
                </a:solidFill>
              </a:rPr>
              <a:t>T</a:t>
            </a:r>
            <a:r>
              <a:rPr b="0" i="0" lang="en-US" sz="1800">
                <a:solidFill>
                  <a:srgbClr val="242021"/>
                </a:solidFill>
              </a:rPr>
              <a:t>he FP metric can then be used to </a:t>
            </a:r>
            <a:endParaRPr/>
          </a:p>
          <a:p>
            <a:pPr indent="-285750" lvl="1" marL="742950" rtl="0" algn="just">
              <a:lnSpc>
                <a:spcPct val="150000"/>
              </a:lnSpc>
              <a:spcBef>
                <a:spcPts val="360"/>
              </a:spcBef>
              <a:spcAft>
                <a:spcPts val="0"/>
              </a:spcAft>
              <a:buClr>
                <a:srgbClr val="242021"/>
              </a:buClr>
              <a:buSzPts val="1800"/>
              <a:buChar char="–"/>
            </a:pPr>
            <a:r>
              <a:rPr b="1" i="0" lang="en-US" sz="1800">
                <a:solidFill>
                  <a:srgbClr val="242021"/>
                </a:solidFill>
              </a:rPr>
              <a:t>estimate the cost or effort </a:t>
            </a:r>
            <a:r>
              <a:rPr b="0" i="0" lang="en-US" sz="1800">
                <a:solidFill>
                  <a:srgbClr val="242021"/>
                </a:solidFill>
              </a:rPr>
              <a:t>required to design, code, and test the software; </a:t>
            </a:r>
            <a:endParaRPr/>
          </a:p>
          <a:p>
            <a:pPr indent="-285750" lvl="1" marL="742950" rtl="0" algn="just">
              <a:lnSpc>
                <a:spcPct val="150000"/>
              </a:lnSpc>
              <a:spcBef>
                <a:spcPts val="360"/>
              </a:spcBef>
              <a:spcAft>
                <a:spcPts val="0"/>
              </a:spcAft>
              <a:buClr>
                <a:srgbClr val="242021"/>
              </a:buClr>
              <a:buSzPts val="1800"/>
              <a:buChar char="–"/>
            </a:pPr>
            <a:r>
              <a:rPr b="1" i="0" lang="en-US" sz="1800">
                <a:solidFill>
                  <a:srgbClr val="242021"/>
                </a:solidFill>
              </a:rPr>
              <a:t>predict the number of errors </a:t>
            </a:r>
            <a:r>
              <a:rPr b="0" i="0" lang="en-US" sz="1800">
                <a:solidFill>
                  <a:srgbClr val="242021"/>
                </a:solidFill>
              </a:rPr>
              <a:t>that will be encountered during testing; and </a:t>
            </a:r>
            <a:endParaRPr/>
          </a:p>
          <a:p>
            <a:pPr indent="-285750" lvl="1" marL="742950" rtl="0" algn="just">
              <a:lnSpc>
                <a:spcPct val="150000"/>
              </a:lnSpc>
              <a:spcBef>
                <a:spcPts val="360"/>
              </a:spcBef>
              <a:spcAft>
                <a:spcPts val="0"/>
              </a:spcAft>
              <a:buClr>
                <a:srgbClr val="242021"/>
              </a:buClr>
              <a:buSzPts val="1800"/>
              <a:buChar char="–"/>
            </a:pPr>
            <a:r>
              <a:rPr b="1" i="0" lang="en-US" sz="1800">
                <a:solidFill>
                  <a:srgbClr val="242021"/>
                </a:solidFill>
              </a:rPr>
              <a:t>forecast the number of components </a:t>
            </a:r>
            <a:r>
              <a:rPr b="0" i="0" lang="en-US" sz="1800">
                <a:solidFill>
                  <a:srgbClr val="242021"/>
                </a:solidFill>
              </a:rPr>
              <a:t>and/or the number of projected source lines in the implemented system.</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Function points are derived using an empirical relationship based </a:t>
            </a:r>
            <a:r>
              <a:rPr b="1" i="0" lang="en-US" sz="1800">
                <a:solidFill>
                  <a:srgbClr val="242021"/>
                </a:solidFill>
              </a:rPr>
              <a:t>on countable </a:t>
            </a:r>
            <a:r>
              <a:rPr b="0" i="0" lang="en-US" sz="1800">
                <a:solidFill>
                  <a:srgbClr val="242021"/>
                </a:solidFill>
              </a:rPr>
              <a:t>(direct) </a:t>
            </a:r>
            <a:r>
              <a:rPr b="1" i="0" lang="en-US" sz="1800">
                <a:solidFill>
                  <a:srgbClr val="242021"/>
                </a:solidFill>
              </a:rPr>
              <a:t>measures of software’s information domain  </a:t>
            </a:r>
            <a:r>
              <a:rPr b="0" i="0" lang="en-US" sz="1800">
                <a:solidFill>
                  <a:srgbClr val="242021"/>
                </a:solidFill>
              </a:rPr>
              <a:t>value and qualitative </a:t>
            </a:r>
            <a:r>
              <a:rPr b="1" i="0" lang="en-US" sz="1800">
                <a:solidFill>
                  <a:srgbClr val="242021"/>
                </a:solidFill>
              </a:rPr>
              <a:t>assessments of software complexity.</a:t>
            </a:r>
            <a:r>
              <a:rPr b="1" lang="en-US" sz="1800"/>
              <a:t> </a:t>
            </a:r>
            <a:endParaRPr b="1"/>
          </a:p>
          <a:p>
            <a:pPr indent="0" lvl="0" marL="0" rtl="0" algn="just">
              <a:lnSpc>
                <a:spcPct val="150000"/>
              </a:lnSpc>
              <a:spcBef>
                <a:spcPts val="360"/>
              </a:spcBef>
              <a:spcAft>
                <a:spcPts val="0"/>
              </a:spcAft>
              <a:buClr>
                <a:schemeClr val="dk1"/>
              </a:buClr>
              <a:buSzPts val="1800"/>
              <a:buNone/>
            </a:pPr>
            <a:br>
              <a:rPr b="1" lang="en-US" sz="1800"/>
            </a:br>
            <a:br>
              <a:rPr lang="en-US" sz="1800"/>
            </a:br>
            <a:endParaRPr sz="18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45" name="Google Shape;345;p4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46" name="Google Shape;346;p4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242021"/>
              </a:buClr>
              <a:buSzPts val="1800"/>
              <a:buNone/>
            </a:pPr>
            <a:r>
              <a:rPr b="0" i="0" lang="en-US" sz="2100">
                <a:solidFill>
                  <a:srgbClr val="242021"/>
                </a:solidFill>
              </a:rPr>
              <a:t>Information domain values are defined in the following manner:</a:t>
            </a:r>
            <a:endParaRPr sz="2500"/>
          </a:p>
          <a:p>
            <a:pPr indent="-342900" lvl="0" marL="342900" rtl="0" algn="just">
              <a:lnSpc>
                <a:spcPct val="150000"/>
              </a:lnSpc>
              <a:spcBef>
                <a:spcPts val="360"/>
              </a:spcBef>
              <a:spcAft>
                <a:spcPts val="0"/>
              </a:spcAft>
              <a:buClr>
                <a:srgbClr val="C00000"/>
              </a:buClr>
              <a:buSzPts val="2100"/>
              <a:buChar char="•"/>
            </a:pPr>
            <a:r>
              <a:rPr b="1" i="0" lang="en-US" sz="2100">
                <a:solidFill>
                  <a:srgbClr val="C00000"/>
                </a:solidFill>
              </a:rPr>
              <a:t>Number of external inputs (EIs). </a:t>
            </a:r>
            <a:r>
              <a:rPr b="1" i="0" lang="en-US" sz="2100">
                <a:solidFill>
                  <a:srgbClr val="242021"/>
                </a:solidFill>
              </a:rPr>
              <a:t>Each </a:t>
            </a:r>
            <a:r>
              <a:rPr b="1" i="1" lang="en-US" sz="2100">
                <a:solidFill>
                  <a:srgbClr val="242021"/>
                </a:solidFill>
              </a:rPr>
              <a:t>external input </a:t>
            </a:r>
            <a:r>
              <a:rPr b="1" i="0" lang="en-US" sz="2100">
                <a:solidFill>
                  <a:srgbClr val="242021"/>
                </a:solidFill>
              </a:rPr>
              <a:t>originates from a user or is transmitted from another application </a:t>
            </a:r>
            <a:r>
              <a:rPr b="0" i="0" lang="en-US" sz="2100">
                <a:solidFill>
                  <a:srgbClr val="242021"/>
                </a:solidFill>
              </a:rPr>
              <a:t>and provides distinct application-oriented data or control information. Inputs are often used to update </a:t>
            </a:r>
            <a:r>
              <a:rPr b="0" i="1" lang="en-US" sz="2100">
                <a:solidFill>
                  <a:srgbClr val="242021"/>
                </a:solidFill>
              </a:rPr>
              <a:t>internal logical files </a:t>
            </a:r>
            <a:r>
              <a:rPr b="0" i="0" lang="en-US" sz="2100">
                <a:solidFill>
                  <a:srgbClr val="242021"/>
                </a:solidFill>
              </a:rPr>
              <a:t>(ILFs). Inputs should be distinguished from inquiries, which are counted separately.</a:t>
            </a:r>
            <a:endParaRPr sz="2500"/>
          </a:p>
          <a:p>
            <a:pPr indent="-342900" lvl="0" marL="342900" rtl="0" algn="just">
              <a:lnSpc>
                <a:spcPct val="150000"/>
              </a:lnSpc>
              <a:spcBef>
                <a:spcPts val="360"/>
              </a:spcBef>
              <a:spcAft>
                <a:spcPts val="0"/>
              </a:spcAft>
              <a:buClr>
                <a:srgbClr val="C00000"/>
              </a:buClr>
              <a:buSzPts val="2100"/>
              <a:buChar char="•"/>
            </a:pPr>
            <a:r>
              <a:rPr b="1" i="0" lang="en-US" sz="2100">
                <a:solidFill>
                  <a:srgbClr val="C00000"/>
                </a:solidFill>
              </a:rPr>
              <a:t>Number of external outputs (EOs). </a:t>
            </a:r>
            <a:r>
              <a:rPr b="0" i="0" lang="en-US" sz="2100">
                <a:solidFill>
                  <a:srgbClr val="242021"/>
                </a:solidFill>
              </a:rPr>
              <a:t>Each </a:t>
            </a:r>
            <a:r>
              <a:rPr b="1" i="1" lang="en-US" sz="2100">
                <a:solidFill>
                  <a:srgbClr val="242021"/>
                </a:solidFill>
              </a:rPr>
              <a:t>external output </a:t>
            </a:r>
            <a:r>
              <a:rPr b="1" i="0" lang="en-US" sz="2100">
                <a:solidFill>
                  <a:srgbClr val="242021"/>
                </a:solidFill>
              </a:rPr>
              <a:t>is derived data within the application that provides information to the user</a:t>
            </a:r>
            <a:r>
              <a:rPr b="0" i="0" lang="en-US" sz="2100">
                <a:solidFill>
                  <a:srgbClr val="242021"/>
                </a:solidFill>
              </a:rPr>
              <a:t>. In this context external output refers to reports, screens, error messages, etc. </a:t>
            </a:r>
            <a:endParaRPr sz="2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53" name="Google Shape;353;p4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54" name="Google Shape;354;p4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342900" lvl="0" marL="342900" rtl="0" algn="just">
              <a:lnSpc>
                <a:spcPct val="150000"/>
              </a:lnSpc>
              <a:spcBef>
                <a:spcPts val="0"/>
              </a:spcBef>
              <a:spcAft>
                <a:spcPts val="0"/>
              </a:spcAft>
              <a:buClr>
                <a:srgbClr val="C00000"/>
              </a:buClr>
              <a:buSzPts val="2100"/>
              <a:buChar char="•"/>
            </a:pPr>
            <a:r>
              <a:rPr b="1" i="0" lang="en-US" sz="2100">
                <a:solidFill>
                  <a:srgbClr val="C00000"/>
                </a:solidFill>
              </a:rPr>
              <a:t>Number of external inquiries (EQs). </a:t>
            </a:r>
            <a:r>
              <a:rPr b="0" i="0" lang="en-US" sz="2100">
                <a:solidFill>
                  <a:srgbClr val="242021"/>
                </a:solidFill>
              </a:rPr>
              <a:t>An </a:t>
            </a:r>
            <a:r>
              <a:rPr b="0" i="1" lang="en-US" sz="2100">
                <a:solidFill>
                  <a:srgbClr val="242021"/>
                </a:solidFill>
              </a:rPr>
              <a:t>external inquiry </a:t>
            </a:r>
            <a:r>
              <a:rPr b="0" i="0" lang="en-US" sz="2100">
                <a:solidFill>
                  <a:srgbClr val="242021"/>
                </a:solidFill>
              </a:rPr>
              <a:t>is defined as an online input </a:t>
            </a:r>
            <a:r>
              <a:rPr b="1" i="0" lang="en-US" sz="2100">
                <a:solidFill>
                  <a:srgbClr val="242021"/>
                </a:solidFill>
              </a:rPr>
              <a:t>that </a:t>
            </a:r>
            <a:r>
              <a:rPr b="1" i="1" lang="en-US" sz="2100">
                <a:solidFill>
                  <a:srgbClr val="242021"/>
                </a:solidFill>
              </a:rPr>
              <a:t>results in the generation of some immediate software response</a:t>
            </a:r>
            <a:r>
              <a:rPr b="0" i="1" lang="en-US" sz="2100">
                <a:solidFill>
                  <a:srgbClr val="242021"/>
                </a:solidFill>
              </a:rPr>
              <a:t> </a:t>
            </a:r>
            <a:r>
              <a:rPr b="0" i="0" lang="en-US" sz="2100">
                <a:solidFill>
                  <a:srgbClr val="242021"/>
                </a:solidFill>
              </a:rPr>
              <a:t>in the form of an online output (often retrieved from an ILF).</a:t>
            </a:r>
            <a:endParaRPr sz="2100"/>
          </a:p>
          <a:p>
            <a:pPr indent="-342900" lvl="0" marL="342900" rtl="0" algn="just">
              <a:lnSpc>
                <a:spcPct val="150000"/>
              </a:lnSpc>
              <a:spcBef>
                <a:spcPts val="360"/>
              </a:spcBef>
              <a:spcAft>
                <a:spcPts val="0"/>
              </a:spcAft>
              <a:buClr>
                <a:srgbClr val="C00000"/>
              </a:buClr>
              <a:buSzPts val="2100"/>
              <a:buChar char="•"/>
            </a:pPr>
            <a:r>
              <a:rPr b="1" i="0" lang="en-US" sz="2100">
                <a:solidFill>
                  <a:srgbClr val="C00000"/>
                </a:solidFill>
              </a:rPr>
              <a:t>Number of internal logical files (ILFs). </a:t>
            </a:r>
            <a:r>
              <a:rPr b="0" i="0" lang="en-US" sz="2100">
                <a:solidFill>
                  <a:srgbClr val="242021"/>
                </a:solidFill>
              </a:rPr>
              <a:t>Each </a:t>
            </a:r>
            <a:r>
              <a:rPr b="0" i="1" lang="en-US" sz="2100">
                <a:solidFill>
                  <a:srgbClr val="242021"/>
                </a:solidFill>
              </a:rPr>
              <a:t>internal logical file </a:t>
            </a:r>
            <a:r>
              <a:rPr b="0" i="0" lang="en-US" sz="2100">
                <a:solidFill>
                  <a:srgbClr val="242021"/>
                </a:solidFill>
              </a:rPr>
              <a:t>is a logical grouping of data that </a:t>
            </a:r>
            <a:r>
              <a:rPr b="1" i="0" lang="en-US" sz="2100">
                <a:solidFill>
                  <a:srgbClr val="242021"/>
                </a:solidFill>
              </a:rPr>
              <a:t>resides within the application’s boundary </a:t>
            </a:r>
            <a:r>
              <a:rPr b="0" i="0" lang="en-US" sz="2100">
                <a:solidFill>
                  <a:srgbClr val="242021"/>
                </a:solidFill>
              </a:rPr>
              <a:t>and </a:t>
            </a:r>
            <a:r>
              <a:rPr b="1" i="1" lang="en-US" sz="2100">
                <a:solidFill>
                  <a:srgbClr val="242021"/>
                </a:solidFill>
              </a:rPr>
              <a:t>is maintained via external inputs.</a:t>
            </a:r>
            <a:endParaRPr b="1" i="1" sz="2100"/>
          </a:p>
          <a:p>
            <a:pPr indent="-342900" lvl="0" marL="342900" rtl="0" algn="just">
              <a:lnSpc>
                <a:spcPct val="150000"/>
              </a:lnSpc>
              <a:spcBef>
                <a:spcPts val="360"/>
              </a:spcBef>
              <a:spcAft>
                <a:spcPts val="0"/>
              </a:spcAft>
              <a:buClr>
                <a:srgbClr val="C00000"/>
              </a:buClr>
              <a:buSzPts val="2100"/>
              <a:buChar char="•"/>
            </a:pPr>
            <a:r>
              <a:rPr b="1" i="0" lang="en-US" sz="2100">
                <a:solidFill>
                  <a:srgbClr val="C00000"/>
                </a:solidFill>
              </a:rPr>
              <a:t>Number of external interface files (EIFs). </a:t>
            </a:r>
            <a:r>
              <a:rPr b="0" i="0" lang="en-US" sz="2100">
                <a:solidFill>
                  <a:srgbClr val="242021"/>
                </a:solidFill>
              </a:rPr>
              <a:t>Each </a:t>
            </a:r>
            <a:r>
              <a:rPr b="0" i="1" lang="en-US" sz="2100">
                <a:solidFill>
                  <a:srgbClr val="242021"/>
                </a:solidFill>
              </a:rPr>
              <a:t>external interface file </a:t>
            </a:r>
            <a:r>
              <a:rPr b="0" i="0" lang="en-US" sz="2100">
                <a:solidFill>
                  <a:srgbClr val="242021"/>
                </a:solidFill>
              </a:rPr>
              <a:t>is a logical grouping of data that </a:t>
            </a:r>
            <a:r>
              <a:rPr b="1" i="0" lang="en-US" sz="2100">
                <a:solidFill>
                  <a:srgbClr val="242021"/>
                </a:solidFill>
              </a:rPr>
              <a:t>resides external to the application </a:t>
            </a:r>
            <a:r>
              <a:rPr b="0" i="0" lang="en-US" sz="2100">
                <a:solidFill>
                  <a:srgbClr val="242021"/>
                </a:solidFill>
              </a:rPr>
              <a:t>but provides information that may be of use to the application.</a:t>
            </a:r>
            <a:endParaRPr sz="2100"/>
          </a:p>
          <a:p>
            <a:pPr indent="0" lvl="0" marL="0" rtl="0" algn="just">
              <a:lnSpc>
                <a:spcPct val="150000"/>
              </a:lnSpc>
              <a:spcBef>
                <a:spcPts val="360"/>
              </a:spcBef>
              <a:spcAft>
                <a:spcPts val="0"/>
              </a:spcAft>
              <a:buClr>
                <a:schemeClr val="dk1"/>
              </a:buClr>
              <a:buSzPts val="1800"/>
              <a:buNone/>
            </a:pPr>
            <a:r>
              <a:rPr lang="en-US" sz="2100"/>
              <a:t> </a:t>
            </a:r>
            <a:endParaRPr sz="2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60" name="Google Shape;360;p4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61" name="Google Shape;361;p46"/>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ctr">
              <a:lnSpc>
                <a:spcPct val="150000"/>
              </a:lnSpc>
              <a:spcBef>
                <a:spcPts val="360"/>
              </a:spcBef>
              <a:spcAft>
                <a:spcPts val="0"/>
              </a:spcAft>
              <a:buClr>
                <a:srgbClr val="242021"/>
              </a:buClr>
              <a:buSzPts val="1800"/>
              <a:buNone/>
            </a:pPr>
            <a:r>
              <a:rPr b="0" i="0" lang="en-US" sz="1800">
                <a:solidFill>
                  <a:srgbClr val="242021"/>
                </a:solidFill>
              </a:rPr>
              <a:t>Figure 2: SafeHome software data flow model example</a:t>
            </a:r>
            <a:endParaRPr/>
          </a:p>
          <a:p>
            <a:pPr indent="-342900" lvl="0" marL="342900" rtl="0" algn="just">
              <a:lnSpc>
                <a:spcPct val="100000"/>
              </a:lnSpc>
              <a:spcBef>
                <a:spcPts val="360"/>
              </a:spcBef>
              <a:spcAft>
                <a:spcPts val="0"/>
              </a:spcAft>
              <a:buClr>
                <a:srgbClr val="242021"/>
              </a:buClr>
              <a:buSzPts val="1800"/>
              <a:buFont typeface="Noto Sans Symbols"/>
              <a:buChar char="✔"/>
            </a:pPr>
            <a:r>
              <a:rPr b="0" i="0" lang="en-US" sz="1800">
                <a:solidFill>
                  <a:srgbClr val="242021"/>
                </a:solidFill>
              </a:rPr>
              <a:t>Three external inputs (EIs) - </a:t>
            </a:r>
            <a:r>
              <a:rPr i="1" lang="en-US" sz="1800">
                <a:solidFill>
                  <a:srgbClr val="C00000"/>
                </a:solidFill>
              </a:rPr>
              <a:t>password, panic button</a:t>
            </a:r>
            <a:r>
              <a:rPr b="0" i="0" lang="en-US" sz="1800">
                <a:solidFill>
                  <a:srgbClr val="242021"/>
                </a:solidFill>
              </a:rPr>
              <a:t>, and </a:t>
            </a:r>
            <a:r>
              <a:rPr i="1" lang="en-US" sz="1800">
                <a:solidFill>
                  <a:srgbClr val="C00000"/>
                </a:solidFill>
              </a:rPr>
              <a:t>activate/deactivate</a:t>
            </a:r>
            <a:endParaRPr/>
          </a:p>
          <a:p>
            <a:pPr indent="-342900" lvl="0" marL="342900" rtl="0" algn="just">
              <a:lnSpc>
                <a:spcPct val="100000"/>
              </a:lnSpc>
              <a:spcBef>
                <a:spcPts val="360"/>
              </a:spcBef>
              <a:spcAft>
                <a:spcPts val="0"/>
              </a:spcAft>
              <a:buClr>
                <a:srgbClr val="242021"/>
              </a:buClr>
              <a:buSzPts val="1800"/>
              <a:buFont typeface="Noto Sans Symbols"/>
              <a:buChar char="✔"/>
            </a:pPr>
            <a:r>
              <a:rPr lang="en-US" sz="1800">
                <a:solidFill>
                  <a:srgbClr val="242021"/>
                </a:solidFill>
              </a:rPr>
              <a:t>T</a:t>
            </a:r>
            <a:r>
              <a:rPr b="0" i="0" lang="en-US" sz="1800">
                <a:solidFill>
                  <a:srgbClr val="242021"/>
                </a:solidFill>
              </a:rPr>
              <a:t>wo external inquiries (EQs) - </a:t>
            </a:r>
            <a:r>
              <a:rPr i="1" lang="en-US" sz="1800">
                <a:solidFill>
                  <a:srgbClr val="C00000"/>
                </a:solidFill>
              </a:rPr>
              <a:t>zone inquiry </a:t>
            </a:r>
            <a:r>
              <a:rPr b="0" i="0" lang="en-US" sz="1800">
                <a:solidFill>
                  <a:srgbClr val="242021"/>
                </a:solidFill>
              </a:rPr>
              <a:t>and </a:t>
            </a:r>
            <a:r>
              <a:rPr i="1" lang="en-US" sz="1800">
                <a:solidFill>
                  <a:srgbClr val="C00000"/>
                </a:solidFill>
              </a:rPr>
              <a:t>sensor inquiry</a:t>
            </a:r>
            <a:r>
              <a:rPr b="0" i="0" lang="en-US" sz="1800">
                <a:solidFill>
                  <a:srgbClr val="242021"/>
                </a:solidFill>
              </a:rPr>
              <a:t>. </a:t>
            </a:r>
            <a:endParaRPr/>
          </a:p>
          <a:p>
            <a:pPr indent="-342900" lvl="0" marL="342900" rtl="0" algn="just">
              <a:lnSpc>
                <a:spcPct val="100000"/>
              </a:lnSpc>
              <a:spcBef>
                <a:spcPts val="360"/>
              </a:spcBef>
              <a:spcAft>
                <a:spcPts val="0"/>
              </a:spcAft>
              <a:buClr>
                <a:srgbClr val="242021"/>
              </a:buClr>
              <a:buSzPts val="1800"/>
              <a:buFont typeface="Noto Sans Symbols"/>
              <a:buChar char="✔"/>
            </a:pPr>
            <a:r>
              <a:rPr b="0" i="0" lang="en-US" sz="1800">
                <a:solidFill>
                  <a:srgbClr val="242021"/>
                </a:solidFill>
              </a:rPr>
              <a:t>One internal logical file (ILF) - </a:t>
            </a:r>
            <a:r>
              <a:rPr i="1" lang="en-US" sz="1800">
                <a:solidFill>
                  <a:srgbClr val="C00000"/>
                </a:solidFill>
              </a:rPr>
              <a:t>system configuration file</a:t>
            </a:r>
            <a:r>
              <a:rPr b="0" i="0" lang="en-US" sz="1800">
                <a:solidFill>
                  <a:srgbClr val="242021"/>
                </a:solidFill>
              </a:rPr>
              <a:t>.</a:t>
            </a:r>
            <a:endParaRPr/>
          </a:p>
          <a:p>
            <a:pPr indent="-342900" lvl="0" marL="342900" rtl="0" algn="just">
              <a:lnSpc>
                <a:spcPct val="100000"/>
              </a:lnSpc>
              <a:spcBef>
                <a:spcPts val="360"/>
              </a:spcBef>
              <a:spcAft>
                <a:spcPts val="0"/>
              </a:spcAft>
              <a:buClr>
                <a:srgbClr val="242021"/>
              </a:buClr>
              <a:buSzPts val="1800"/>
              <a:buFont typeface="Noto Sans Symbols"/>
              <a:buChar char="✔"/>
            </a:pPr>
            <a:r>
              <a:rPr b="0" i="0" lang="en-US" sz="1800">
                <a:solidFill>
                  <a:srgbClr val="242021"/>
                </a:solidFill>
              </a:rPr>
              <a:t>Two external outputs (EOs) - </a:t>
            </a:r>
            <a:r>
              <a:rPr i="1" lang="en-US" sz="1800">
                <a:solidFill>
                  <a:srgbClr val="C00000"/>
                </a:solidFill>
              </a:rPr>
              <a:t>messages and sensor status</a:t>
            </a:r>
            <a:r>
              <a:rPr lang="en-US" sz="1800">
                <a:solidFill>
                  <a:srgbClr val="242021"/>
                </a:solidFill>
              </a:rPr>
              <a:t>.</a:t>
            </a:r>
            <a:endParaRPr b="0" i="0" sz="1800">
              <a:solidFill>
                <a:srgbClr val="242021"/>
              </a:solidFill>
            </a:endParaRPr>
          </a:p>
          <a:p>
            <a:pPr indent="-342900" lvl="0" marL="342900" rtl="0" algn="just">
              <a:lnSpc>
                <a:spcPct val="100000"/>
              </a:lnSpc>
              <a:spcBef>
                <a:spcPts val="360"/>
              </a:spcBef>
              <a:spcAft>
                <a:spcPts val="0"/>
              </a:spcAft>
              <a:buClr>
                <a:srgbClr val="242021"/>
              </a:buClr>
              <a:buSzPts val="1800"/>
              <a:buFont typeface="Noto Sans Symbols"/>
              <a:buChar char="✔"/>
            </a:pPr>
            <a:r>
              <a:rPr lang="en-US" sz="1800">
                <a:solidFill>
                  <a:srgbClr val="242021"/>
                </a:solidFill>
              </a:rPr>
              <a:t>F</a:t>
            </a:r>
            <a:r>
              <a:rPr b="0" i="0" lang="en-US" sz="1800">
                <a:solidFill>
                  <a:srgbClr val="242021"/>
                </a:solidFill>
              </a:rPr>
              <a:t>our external interface files (EIFs) - </a:t>
            </a:r>
            <a:r>
              <a:rPr i="1" lang="en-US" sz="1800">
                <a:solidFill>
                  <a:srgbClr val="C00000"/>
                </a:solidFill>
              </a:rPr>
              <a:t>test sensor, zone setting, activate/deactivate</a:t>
            </a:r>
            <a:r>
              <a:rPr b="1" i="0" lang="en-US" sz="1800">
                <a:solidFill>
                  <a:srgbClr val="242021"/>
                </a:solidFill>
              </a:rPr>
              <a:t>, </a:t>
            </a:r>
            <a:r>
              <a:rPr b="0" i="0" lang="en-US" sz="1800">
                <a:solidFill>
                  <a:srgbClr val="242021"/>
                </a:solidFill>
              </a:rPr>
              <a:t>and </a:t>
            </a:r>
            <a:r>
              <a:rPr i="1" lang="en-US" sz="1800">
                <a:solidFill>
                  <a:srgbClr val="C00000"/>
                </a:solidFill>
              </a:rPr>
              <a:t>alarm alert.</a:t>
            </a:r>
            <a:endParaRPr/>
          </a:p>
          <a:p>
            <a:pPr indent="0" lvl="0" marL="0" rtl="0" algn="just">
              <a:lnSpc>
                <a:spcPct val="100000"/>
              </a:lnSpc>
              <a:spcBef>
                <a:spcPts val="360"/>
              </a:spcBef>
              <a:spcAft>
                <a:spcPts val="0"/>
              </a:spcAft>
              <a:buClr>
                <a:srgbClr val="242021"/>
              </a:buClr>
              <a:buSzPts val="1800"/>
              <a:buNone/>
            </a:pPr>
            <a:r>
              <a:rPr b="0" i="0" lang="en-US" sz="1800">
                <a:solidFill>
                  <a:srgbClr val="242021"/>
                </a:solidFill>
              </a:rPr>
              <a:t> </a:t>
            </a:r>
            <a:br>
              <a:rPr lang="en-US" sz="1800"/>
            </a:br>
            <a:endParaRPr sz="1800">
              <a:solidFill>
                <a:srgbClr val="242021"/>
              </a:solidFill>
            </a:endParaRPr>
          </a:p>
        </p:txBody>
      </p:sp>
      <p:pic>
        <p:nvPicPr>
          <p:cNvPr id="362" name="Google Shape;362;p46"/>
          <p:cNvPicPr preferRelativeResize="0"/>
          <p:nvPr/>
        </p:nvPicPr>
        <p:blipFill rotWithShape="1">
          <a:blip r:embed="rId3">
            <a:alphaModFix/>
          </a:blip>
          <a:srcRect b="0" l="0" r="0" t="0"/>
          <a:stretch/>
        </p:blipFill>
        <p:spPr>
          <a:xfrm>
            <a:off x="2031771" y="914400"/>
            <a:ext cx="5537657" cy="285770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4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68" name="Google Shape;368;p4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69" name="Google Shape;369;p4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ctr">
              <a:lnSpc>
                <a:spcPct val="150000"/>
              </a:lnSpc>
              <a:spcBef>
                <a:spcPts val="360"/>
              </a:spcBef>
              <a:spcAft>
                <a:spcPts val="0"/>
              </a:spcAft>
              <a:buClr>
                <a:srgbClr val="242021"/>
              </a:buClr>
              <a:buSzPts val="1800"/>
              <a:buNone/>
            </a:pPr>
            <a:r>
              <a:t/>
            </a:r>
            <a:endParaRPr sz="1800">
              <a:solidFill>
                <a:srgbClr val="242021"/>
              </a:solidFill>
            </a:endParaRPr>
          </a:p>
          <a:p>
            <a:pPr indent="0" lvl="0" marL="0" rtl="0" algn="ctr">
              <a:lnSpc>
                <a:spcPct val="150000"/>
              </a:lnSpc>
              <a:spcBef>
                <a:spcPts val="360"/>
              </a:spcBef>
              <a:spcAft>
                <a:spcPts val="0"/>
              </a:spcAft>
              <a:buClr>
                <a:srgbClr val="242021"/>
              </a:buClr>
              <a:buSzPts val="1800"/>
              <a:buNone/>
            </a:pPr>
            <a:r>
              <a:rPr b="0" i="0" lang="en-US" sz="1800">
                <a:solidFill>
                  <a:srgbClr val="242021"/>
                </a:solidFill>
              </a:rPr>
              <a:t>Figure</a:t>
            </a:r>
            <a:r>
              <a:rPr lang="en-US" sz="1800">
                <a:solidFill>
                  <a:srgbClr val="242021"/>
                </a:solidFill>
              </a:rPr>
              <a:t> </a:t>
            </a:r>
            <a:r>
              <a:rPr b="0" i="0" lang="en-US" sz="1800">
                <a:solidFill>
                  <a:srgbClr val="242021"/>
                </a:solidFill>
              </a:rPr>
              <a:t>3: Computing function points</a:t>
            </a:r>
            <a:endParaRPr/>
          </a:p>
          <a:p>
            <a:pPr indent="-342900" lvl="0" marL="342900" rtl="0" algn="just">
              <a:lnSpc>
                <a:spcPct val="150000"/>
              </a:lnSpc>
              <a:spcBef>
                <a:spcPts val="360"/>
              </a:spcBef>
              <a:spcAft>
                <a:spcPts val="0"/>
              </a:spcAft>
              <a:buClr>
                <a:srgbClr val="242021"/>
              </a:buClr>
              <a:buSzPts val="1800"/>
              <a:buChar char="•"/>
            </a:pPr>
            <a:r>
              <a:rPr lang="en-US" sz="1800">
                <a:solidFill>
                  <a:srgbClr val="242021"/>
                </a:solidFill>
              </a:rPr>
              <a:t>To compute function points (FP), the following relationship is used: </a:t>
            </a:r>
            <a:endParaRPr/>
          </a:p>
          <a:p>
            <a:pPr indent="-228600" lvl="0" marL="342900" rtl="0" algn="just">
              <a:lnSpc>
                <a:spcPct val="150000"/>
              </a:lnSpc>
              <a:spcBef>
                <a:spcPts val="360"/>
              </a:spcBef>
              <a:spcAft>
                <a:spcPts val="0"/>
              </a:spcAft>
              <a:buClr>
                <a:schemeClr val="dk1"/>
              </a:buClr>
              <a:buSzPts val="1800"/>
              <a:buNone/>
            </a:pPr>
            <a:r>
              <a:t/>
            </a:r>
            <a:endParaRPr sz="1800">
              <a:solidFill>
                <a:srgbClr val="242021"/>
              </a:solidFill>
            </a:endParaRPr>
          </a:p>
          <a:p>
            <a:pPr indent="-342900" lvl="0" marL="342900" rtl="0" algn="just">
              <a:lnSpc>
                <a:spcPct val="150000"/>
              </a:lnSpc>
              <a:spcBef>
                <a:spcPts val="360"/>
              </a:spcBef>
              <a:spcAft>
                <a:spcPts val="0"/>
              </a:spcAft>
              <a:buClr>
                <a:srgbClr val="242021"/>
              </a:buClr>
              <a:buSzPts val="1800"/>
              <a:buChar char="•"/>
            </a:pPr>
            <a:r>
              <a:rPr lang="en-US" sz="1800">
                <a:solidFill>
                  <a:srgbClr val="242021"/>
                </a:solidFill>
              </a:rPr>
              <a:t>Where count total is the sum of all FP entries obtained from the above table.</a:t>
            </a:r>
            <a:endParaRPr sz="1800">
              <a:solidFill>
                <a:srgbClr val="242021"/>
              </a:solidFill>
            </a:endParaRPr>
          </a:p>
        </p:txBody>
      </p:sp>
      <p:pic>
        <p:nvPicPr>
          <p:cNvPr id="370" name="Google Shape;370;p47"/>
          <p:cNvPicPr preferRelativeResize="0"/>
          <p:nvPr/>
        </p:nvPicPr>
        <p:blipFill rotWithShape="1">
          <a:blip r:embed="rId3">
            <a:alphaModFix/>
          </a:blip>
          <a:srcRect b="0" l="0" r="0" t="0"/>
          <a:stretch/>
        </p:blipFill>
        <p:spPr>
          <a:xfrm>
            <a:off x="609600" y="1143000"/>
            <a:ext cx="7768690" cy="2777004"/>
          </a:xfrm>
          <a:prstGeom prst="rect">
            <a:avLst/>
          </a:prstGeom>
          <a:noFill/>
          <a:ln>
            <a:noFill/>
          </a:ln>
        </p:spPr>
      </p:pic>
      <p:pic>
        <p:nvPicPr>
          <p:cNvPr id="371" name="Google Shape;371;p47"/>
          <p:cNvPicPr preferRelativeResize="0"/>
          <p:nvPr/>
        </p:nvPicPr>
        <p:blipFill rotWithShape="1">
          <a:blip r:embed="rId4">
            <a:alphaModFix/>
          </a:blip>
          <a:srcRect b="0" l="0" r="0" t="0"/>
          <a:stretch/>
        </p:blipFill>
        <p:spPr>
          <a:xfrm>
            <a:off x="2165128" y="5181600"/>
            <a:ext cx="4311872" cy="31116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77" name="Google Shape;377;p4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78" name="Google Shape;378;p4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C00000"/>
              </a:buClr>
              <a:buSzPts val="1700"/>
              <a:buNone/>
            </a:pPr>
            <a:r>
              <a:rPr b="0" i="0" lang="en-US" sz="1700">
                <a:solidFill>
                  <a:srgbClr val="C00000"/>
                </a:solidFill>
              </a:rPr>
              <a:t>The </a:t>
            </a:r>
            <a:r>
              <a:rPr b="0" i="1" lang="en-US" sz="1700">
                <a:solidFill>
                  <a:srgbClr val="C00000"/>
                </a:solidFill>
              </a:rPr>
              <a:t>Fi </a:t>
            </a:r>
            <a:r>
              <a:rPr b="0" i="0" lang="en-US" sz="1700">
                <a:solidFill>
                  <a:srgbClr val="C00000"/>
                </a:solidFill>
              </a:rPr>
              <a:t>(</a:t>
            </a:r>
            <a:r>
              <a:rPr b="0" i="1" lang="en-US" sz="1700">
                <a:solidFill>
                  <a:srgbClr val="C00000"/>
                </a:solidFill>
              </a:rPr>
              <a:t>i </a:t>
            </a:r>
            <a:r>
              <a:rPr lang="en-US" sz="1700">
                <a:solidFill>
                  <a:srgbClr val="C00000"/>
                </a:solidFill>
              </a:rPr>
              <a:t>=</a:t>
            </a:r>
            <a:r>
              <a:rPr b="0" i="0" lang="en-US" sz="1700">
                <a:solidFill>
                  <a:srgbClr val="C00000"/>
                </a:solidFill>
              </a:rPr>
              <a:t> 1 to 14) are </a:t>
            </a:r>
            <a:r>
              <a:rPr b="0" i="1" lang="en-US" sz="1700">
                <a:solidFill>
                  <a:srgbClr val="C00000"/>
                </a:solidFill>
              </a:rPr>
              <a:t>value adjustment factors </a:t>
            </a:r>
            <a:r>
              <a:rPr b="0" i="0" lang="en-US" sz="1700">
                <a:solidFill>
                  <a:srgbClr val="C00000"/>
                </a:solidFill>
              </a:rPr>
              <a:t>(VAF) based on responses to the following questions:</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Does the system require reliable backup and recovery?</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Are specialized data communications required to transfer information to or from the application?</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Are there distributed processing functions?</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Is performance critical?</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Will the system run in an existing, heavily utilized operational environment?</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Does the system require online data entry?</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Does the online data entry require the input transaction to be built over multiple screens or operations?</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Are the ILFs updated online?</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Are the inputs, outputs, files, or inquiries complex?</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Is the internal processing complex?</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Is the code designed to be reusable?</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Are conversion and installation included in the design?</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Is the system designed for multiple installations in different organizations?</a:t>
            </a:r>
            <a:r>
              <a:rPr b="1" i="0" lang="en-US" sz="1700">
                <a:solidFill>
                  <a:srgbClr val="EC028D"/>
                </a:solidFill>
              </a:rPr>
              <a:t> </a:t>
            </a:r>
            <a:endParaRPr/>
          </a:p>
          <a:p>
            <a:pPr indent="-342900" lvl="0" marL="342900" rtl="0" algn="l">
              <a:lnSpc>
                <a:spcPct val="100000"/>
              </a:lnSpc>
              <a:spcBef>
                <a:spcPts val="340"/>
              </a:spcBef>
              <a:spcAft>
                <a:spcPts val="0"/>
              </a:spcAft>
              <a:buClr>
                <a:srgbClr val="242021"/>
              </a:buClr>
              <a:buSzPts val="1700"/>
              <a:buFont typeface="Calibri"/>
              <a:buAutoNum type="arabicPeriod"/>
            </a:pPr>
            <a:r>
              <a:rPr b="0" i="0" lang="en-US" sz="1700">
                <a:solidFill>
                  <a:srgbClr val="242021"/>
                </a:solidFill>
              </a:rPr>
              <a:t>Is the application designed to facilitate change and ease of use by the user?</a:t>
            </a:r>
            <a:r>
              <a:rPr lang="en-US" sz="1700"/>
              <a:t> </a:t>
            </a:r>
            <a:endParaRPr sz="1700"/>
          </a:p>
        </p:txBody>
      </p:sp>
      <p:sp>
        <p:nvSpPr>
          <p:cNvPr id="379" name="Google Shape;379;p48"/>
          <p:cNvSpPr txBox="1"/>
          <p:nvPr/>
        </p:nvSpPr>
        <p:spPr>
          <a:xfrm>
            <a:off x="6743700" y="4512705"/>
            <a:ext cx="2286000"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FF6600"/>
                </a:solidFill>
                <a:latin typeface="Times New Roman"/>
                <a:ea typeface="Times New Roman"/>
                <a:cs typeface="Times New Roman"/>
                <a:sym typeface="Times New Roman"/>
              </a:rPr>
              <a:t>Each of these questions is answered using a scale that ranges from 0 (not important or applicable) to 5 (absolutely essential). </a:t>
            </a:r>
            <a:br>
              <a:rPr b="0" i="0" lang="en-US" sz="1400" u="none" cap="none" strike="noStrike">
                <a:solidFill>
                  <a:srgbClr val="FF6600"/>
                </a:solidFill>
                <a:latin typeface="Times New Roman"/>
                <a:ea typeface="Times New Roman"/>
                <a:cs typeface="Times New Roman"/>
                <a:sym typeface="Times New Roman"/>
              </a:rPr>
            </a:br>
            <a:endParaRPr b="0" i="0" sz="1400" u="none" cap="none" strike="noStrike">
              <a:solidFill>
                <a:srgbClr val="FF6600"/>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85" name="Google Shape;385;p7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86" name="Google Shape;386;p73"/>
          <p:cNvSpPr txBox="1"/>
          <p:nvPr>
            <p:ph idx="1" type="body"/>
          </p:nvPr>
        </p:nvSpPr>
        <p:spPr>
          <a:xfrm>
            <a:off x="457200" y="1042988"/>
            <a:ext cx="8229600" cy="4854712"/>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rgbClr val="C00000"/>
              </a:buClr>
              <a:buSzPts val="1700"/>
              <a:buNone/>
            </a:pPr>
            <a:r>
              <a:rPr b="1" lang="en-US" sz="1700"/>
              <a:t>Example of Function Point Analysis Computation</a:t>
            </a:r>
            <a:endParaRPr/>
          </a:p>
          <a:p>
            <a:pPr indent="0" lvl="0" marL="0" rtl="0" algn="l">
              <a:lnSpc>
                <a:spcPct val="100000"/>
              </a:lnSpc>
              <a:spcBef>
                <a:spcPts val="0"/>
              </a:spcBef>
              <a:spcAft>
                <a:spcPts val="0"/>
              </a:spcAft>
              <a:buClr>
                <a:srgbClr val="C00000"/>
              </a:buClr>
              <a:buSzPts val="1700"/>
              <a:buNone/>
            </a:pPr>
            <a:r>
              <a:t/>
            </a:r>
            <a:endParaRPr b="1" sz="1700"/>
          </a:p>
          <a:p>
            <a:pPr indent="0" lvl="0" marL="0" rtl="0" algn="l">
              <a:lnSpc>
                <a:spcPct val="100000"/>
              </a:lnSpc>
              <a:spcBef>
                <a:spcPts val="0"/>
              </a:spcBef>
              <a:spcAft>
                <a:spcPts val="0"/>
              </a:spcAft>
              <a:buClr>
                <a:srgbClr val="C00000"/>
              </a:buClr>
              <a:buSzPts val="1700"/>
              <a:buNone/>
            </a:pPr>
            <a:r>
              <a:rPr lang="en-US" sz="1700"/>
              <a:t>Assume a system has the following:</a:t>
            </a:r>
            <a:endParaRPr/>
          </a:p>
          <a:p>
            <a:pPr indent="0" lvl="0" marL="0" rtl="0" algn="l">
              <a:lnSpc>
                <a:spcPct val="100000"/>
              </a:lnSpc>
              <a:spcBef>
                <a:spcPts val="0"/>
              </a:spcBef>
              <a:spcAft>
                <a:spcPts val="0"/>
              </a:spcAft>
              <a:buClr>
                <a:srgbClr val="C00000"/>
              </a:buClr>
              <a:buSzPts val="1700"/>
              <a:buNone/>
            </a:pPr>
            <a:r>
              <a:rPr lang="en-US" sz="1700"/>
              <a:t>3 External Inputs (EI), 4 External Outputs (EO), 2 External Inquiries (EQ), 5 Internal Logical Files (ILF), 3 External Interface Files (EIF)</a:t>
            </a:r>
            <a:endParaRPr/>
          </a:p>
          <a:p>
            <a:pPr indent="0" lvl="0" marL="0" rtl="0" algn="l">
              <a:lnSpc>
                <a:spcPct val="100000"/>
              </a:lnSpc>
              <a:spcBef>
                <a:spcPts val="0"/>
              </a:spcBef>
              <a:spcAft>
                <a:spcPts val="0"/>
              </a:spcAft>
              <a:buClr>
                <a:srgbClr val="C00000"/>
              </a:buClr>
              <a:buSzPts val="1700"/>
              <a:buNone/>
            </a:pPr>
            <a:r>
              <a:t/>
            </a:r>
            <a:endParaRPr sz="1700"/>
          </a:p>
          <a:p>
            <a:pPr indent="0" lvl="0" marL="0" rtl="0" algn="l">
              <a:lnSpc>
                <a:spcPct val="100000"/>
              </a:lnSpc>
              <a:spcBef>
                <a:spcPts val="0"/>
              </a:spcBef>
              <a:spcAft>
                <a:spcPts val="0"/>
              </a:spcAft>
              <a:buClr>
                <a:srgbClr val="C00000"/>
              </a:buClr>
              <a:buSzPts val="1700"/>
              <a:buNone/>
            </a:pPr>
            <a:r>
              <a:rPr b="1" lang="en-US" sz="1700"/>
              <a:t>Assign Function Weights</a:t>
            </a:r>
            <a:endParaRPr/>
          </a:p>
          <a:p>
            <a:pPr indent="0" lvl="0" marL="0" rtl="0" algn="l">
              <a:lnSpc>
                <a:spcPct val="100000"/>
              </a:lnSpc>
              <a:spcBef>
                <a:spcPts val="0"/>
              </a:spcBef>
              <a:spcAft>
                <a:spcPts val="0"/>
              </a:spcAft>
              <a:buClr>
                <a:srgbClr val="C00000"/>
              </a:buClr>
              <a:buSzPts val="1700"/>
              <a:buNone/>
            </a:pPr>
            <a:r>
              <a:t/>
            </a:r>
            <a:endParaRPr b="1" sz="1700"/>
          </a:p>
        </p:txBody>
      </p:sp>
      <p:graphicFrame>
        <p:nvGraphicFramePr>
          <p:cNvPr id="387" name="Google Shape;387;p73"/>
          <p:cNvGraphicFramePr/>
          <p:nvPr/>
        </p:nvGraphicFramePr>
        <p:xfrm>
          <a:off x="457200" y="3294607"/>
          <a:ext cx="3000000" cy="3000000"/>
        </p:xfrm>
        <a:graphic>
          <a:graphicData uri="http://schemas.openxmlformats.org/drawingml/2006/table">
            <a:tbl>
              <a:tblPr>
                <a:noFill/>
                <a:tableStyleId>{D5FC09EA-CCBD-4E77-A233-19F088ACA484}</a:tableStyleId>
              </a:tblPr>
              <a:tblGrid>
                <a:gridCol w="2057400"/>
                <a:gridCol w="2057400"/>
                <a:gridCol w="2057400"/>
                <a:gridCol w="2057400"/>
              </a:tblGrid>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Function Type</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Low Complexity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Average Complexity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High Complexity</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External Inputs (EI)</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External Outputs (EO)</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External Inquiries (EQ)</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3</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4</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6</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Internal Logical Files (ILF)</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177800">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External Interface Files (EIF)</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5</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7</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en-US" sz="1400" u="none" cap="none" strike="noStrike">
                          <a:latin typeface="Times New Roman"/>
                          <a:ea typeface="Times New Roman"/>
                          <a:cs typeface="Times New Roman"/>
                          <a:sym typeface="Times New Roman"/>
                        </a:rPr>
                        <a:t>10</a:t>
                      </a:r>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7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sz="2800">
                <a:latin typeface="Times"/>
                <a:ea typeface="Times"/>
                <a:cs typeface="Times"/>
                <a:sym typeface="Times"/>
              </a:rPr>
              <a:t>Metrics for Requirement Model – Function Point (FP) Metrics</a:t>
            </a:r>
            <a:endParaRPr/>
          </a:p>
        </p:txBody>
      </p:sp>
      <p:sp>
        <p:nvSpPr>
          <p:cNvPr id="393" name="Google Shape;393;p7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394" name="Google Shape;394;p74"/>
          <p:cNvSpPr txBox="1"/>
          <p:nvPr>
            <p:ph idx="1" type="body"/>
          </p:nvPr>
        </p:nvSpPr>
        <p:spPr>
          <a:xfrm>
            <a:off x="457200" y="838200"/>
            <a:ext cx="8229600" cy="5029200"/>
          </a:xfrm>
          <a:prstGeom prst="rect">
            <a:avLst/>
          </a:prstGeom>
          <a:noFill/>
          <a:ln>
            <a:noFill/>
          </a:ln>
        </p:spPr>
        <p:txBody>
          <a:bodyPr anchorCtr="0" anchor="t" bIns="45700" lIns="91425" spcFirstLastPara="1" rIns="91425" wrap="square" tIns="45700">
            <a:noAutofit/>
          </a:bodyPr>
          <a:lstStyle/>
          <a:p>
            <a:pPr indent="0" lvl="0" marL="88900" rtl="0" algn="l">
              <a:lnSpc>
                <a:spcPct val="100000"/>
              </a:lnSpc>
              <a:spcBef>
                <a:spcPts val="440"/>
              </a:spcBef>
              <a:spcAft>
                <a:spcPts val="0"/>
              </a:spcAft>
              <a:buSzPts val="2200"/>
              <a:buNone/>
            </a:pPr>
            <a:r>
              <a:rPr lang="en-US" sz="1800"/>
              <a:t>Assume all functions have </a:t>
            </a:r>
            <a:r>
              <a:rPr b="1" lang="en-US" sz="1800"/>
              <a:t>average complexity</a:t>
            </a:r>
            <a:r>
              <a:rPr lang="en-US" sz="1800"/>
              <a:t>, so:</a:t>
            </a:r>
            <a:endParaRPr/>
          </a:p>
          <a:p>
            <a:pPr indent="-368300" lvl="0" marL="457200" rtl="0" algn="l">
              <a:lnSpc>
                <a:spcPct val="100000"/>
              </a:lnSpc>
              <a:spcBef>
                <a:spcPts val="440"/>
              </a:spcBef>
              <a:spcAft>
                <a:spcPts val="0"/>
              </a:spcAft>
              <a:buClr>
                <a:schemeClr val="dk1"/>
              </a:buClr>
              <a:buSzPts val="2200"/>
              <a:buChar char="•"/>
            </a:pPr>
            <a:r>
              <a:rPr lang="en-US" sz="1800"/>
              <a:t>EI: 3×4=12</a:t>
            </a:r>
            <a:endParaRPr sz="1800"/>
          </a:p>
          <a:p>
            <a:pPr indent="-368300" lvl="0" marL="457200" rtl="0" algn="l">
              <a:lnSpc>
                <a:spcPct val="100000"/>
              </a:lnSpc>
              <a:spcBef>
                <a:spcPts val="440"/>
              </a:spcBef>
              <a:spcAft>
                <a:spcPts val="0"/>
              </a:spcAft>
              <a:buClr>
                <a:schemeClr val="dk1"/>
              </a:buClr>
              <a:buSzPts val="2200"/>
              <a:buChar char="•"/>
            </a:pPr>
            <a:r>
              <a:rPr lang="en-US" sz="1800"/>
              <a:t>EO: 4×5=20</a:t>
            </a:r>
            <a:endParaRPr sz="1800"/>
          </a:p>
          <a:p>
            <a:pPr indent="-368300" lvl="0" marL="457200" rtl="0" algn="l">
              <a:lnSpc>
                <a:spcPct val="100000"/>
              </a:lnSpc>
              <a:spcBef>
                <a:spcPts val="440"/>
              </a:spcBef>
              <a:spcAft>
                <a:spcPts val="0"/>
              </a:spcAft>
              <a:buClr>
                <a:schemeClr val="dk1"/>
              </a:buClr>
              <a:buSzPts val="2200"/>
              <a:buChar char="•"/>
            </a:pPr>
            <a:r>
              <a:rPr lang="en-US" sz="1800"/>
              <a:t>EQ: 2×4=8</a:t>
            </a:r>
            <a:endParaRPr sz="1800"/>
          </a:p>
          <a:p>
            <a:pPr indent="-368300" lvl="0" marL="457200" rtl="0" algn="l">
              <a:lnSpc>
                <a:spcPct val="100000"/>
              </a:lnSpc>
              <a:spcBef>
                <a:spcPts val="440"/>
              </a:spcBef>
              <a:spcAft>
                <a:spcPts val="0"/>
              </a:spcAft>
              <a:buClr>
                <a:schemeClr val="dk1"/>
              </a:buClr>
              <a:buSzPts val="2200"/>
              <a:buChar char="•"/>
            </a:pPr>
            <a:r>
              <a:rPr lang="en-US" sz="1800"/>
              <a:t>ILF: 5×10=50</a:t>
            </a:r>
            <a:endParaRPr sz="1800"/>
          </a:p>
          <a:p>
            <a:pPr indent="-368300" lvl="0" marL="457200" rtl="0" algn="l">
              <a:lnSpc>
                <a:spcPct val="100000"/>
              </a:lnSpc>
              <a:spcBef>
                <a:spcPts val="440"/>
              </a:spcBef>
              <a:spcAft>
                <a:spcPts val="0"/>
              </a:spcAft>
              <a:buClr>
                <a:schemeClr val="dk1"/>
              </a:buClr>
              <a:buSzPts val="2200"/>
              <a:buChar char="•"/>
            </a:pPr>
            <a:r>
              <a:rPr lang="en-US" sz="1800"/>
              <a:t>EIF: 3×7=21</a:t>
            </a:r>
            <a:endParaRPr sz="1700"/>
          </a:p>
          <a:p>
            <a:pPr indent="0" lvl="0" marL="0" rtl="0" algn="l">
              <a:lnSpc>
                <a:spcPct val="100000"/>
              </a:lnSpc>
              <a:spcBef>
                <a:spcPts val="0"/>
              </a:spcBef>
              <a:spcAft>
                <a:spcPts val="0"/>
              </a:spcAft>
              <a:buClr>
                <a:srgbClr val="C00000"/>
              </a:buClr>
              <a:buSzPts val="1700"/>
              <a:buNone/>
            </a:pPr>
            <a:r>
              <a:rPr b="1" lang="en-US" sz="1700"/>
              <a:t>Now, Compute count_total:</a:t>
            </a:r>
            <a:endParaRPr/>
          </a:p>
          <a:p>
            <a:pPr indent="0" lvl="0" marL="0" rtl="0" algn="l">
              <a:lnSpc>
                <a:spcPct val="100000"/>
              </a:lnSpc>
              <a:spcBef>
                <a:spcPts val="0"/>
              </a:spcBef>
              <a:spcAft>
                <a:spcPts val="0"/>
              </a:spcAft>
              <a:buClr>
                <a:srgbClr val="C00000"/>
              </a:buClr>
              <a:buSzPts val="1700"/>
              <a:buNone/>
            </a:pPr>
            <a:r>
              <a:rPr b="1" lang="en-US" sz="1700"/>
              <a:t> count_total </a:t>
            </a:r>
            <a:r>
              <a:rPr lang="en-US" sz="1800"/>
              <a:t>= 12+20+8+50+21=111</a:t>
            </a:r>
            <a:endParaRPr/>
          </a:p>
          <a:p>
            <a:pPr indent="0" lvl="0" marL="0" rtl="0" algn="l">
              <a:lnSpc>
                <a:spcPct val="100000"/>
              </a:lnSpc>
              <a:spcBef>
                <a:spcPts val="0"/>
              </a:spcBef>
              <a:spcAft>
                <a:spcPts val="0"/>
              </a:spcAft>
              <a:buClr>
                <a:srgbClr val="C00000"/>
              </a:buClr>
              <a:buSzPts val="1700"/>
              <a:buNone/>
            </a:pPr>
            <a:r>
              <a:t/>
            </a:r>
            <a:endParaRPr sz="1800"/>
          </a:p>
          <a:p>
            <a:pPr indent="0" lvl="0" marL="0" rtl="0" algn="l">
              <a:lnSpc>
                <a:spcPct val="100000"/>
              </a:lnSpc>
              <a:spcBef>
                <a:spcPts val="0"/>
              </a:spcBef>
              <a:spcAft>
                <a:spcPts val="0"/>
              </a:spcAft>
              <a:buClr>
                <a:srgbClr val="C00000"/>
              </a:buClr>
              <a:buSzPts val="1700"/>
              <a:buNone/>
            </a:pPr>
            <a:r>
              <a:rPr b="1" lang="en-US" sz="1700"/>
              <a:t>Adjust for Complexity Factors</a:t>
            </a:r>
            <a:endParaRPr/>
          </a:p>
          <a:p>
            <a:pPr indent="0" lvl="0" marL="0" rtl="0" algn="l">
              <a:lnSpc>
                <a:spcPct val="100000"/>
              </a:lnSpc>
              <a:spcBef>
                <a:spcPts val="0"/>
              </a:spcBef>
              <a:spcAft>
                <a:spcPts val="0"/>
              </a:spcAft>
              <a:buClr>
                <a:srgbClr val="C00000"/>
              </a:buClr>
              <a:buSzPts val="1700"/>
              <a:buNone/>
            </a:pPr>
            <a:r>
              <a:rPr lang="en-US" sz="1700"/>
              <a:t>There are 14 General System Characteristics (GSC) that impact function points, each rated from 0 (no influence) to 5 (strong influence). Suppose the total GSC score is 35.</a:t>
            </a:r>
            <a:endParaRPr/>
          </a:p>
          <a:p>
            <a:pPr indent="0" lvl="0" marL="0" rtl="0" algn="l">
              <a:lnSpc>
                <a:spcPct val="100000"/>
              </a:lnSpc>
              <a:spcBef>
                <a:spcPts val="0"/>
              </a:spcBef>
              <a:spcAft>
                <a:spcPts val="0"/>
              </a:spcAft>
              <a:buClr>
                <a:srgbClr val="C00000"/>
              </a:buClr>
              <a:buSzPts val="1700"/>
              <a:buNone/>
            </a:pPr>
            <a:r>
              <a:t/>
            </a:r>
            <a:endParaRPr sz="1700"/>
          </a:p>
          <a:p>
            <a:pPr indent="0" lvl="0" marL="0" rtl="0" algn="l">
              <a:lnSpc>
                <a:spcPct val="100000"/>
              </a:lnSpc>
              <a:spcBef>
                <a:spcPts val="0"/>
              </a:spcBef>
              <a:spcAft>
                <a:spcPts val="0"/>
              </a:spcAft>
              <a:buClr>
                <a:srgbClr val="C00000"/>
              </a:buClr>
              <a:buSzPts val="1700"/>
              <a:buNone/>
            </a:pPr>
            <a:r>
              <a:rPr b="1" lang="en-US" sz="1700"/>
              <a:t>The Value Adjustment Factor (VAF) is calculated as:</a:t>
            </a:r>
            <a:endParaRPr sz="1700"/>
          </a:p>
          <a:p>
            <a:pPr indent="0" lvl="0" marL="0" rtl="0" algn="l">
              <a:lnSpc>
                <a:spcPct val="100000"/>
              </a:lnSpc>
              <a:spcBef>
                <a:spcPts val="0"/>
              </a:spcBef>
              <a:spcAft>
                <a:spcPts val="0"/>
              </a:spcAft>
              <a:buClr>
                <a:srgbClr val="C00000"/>
              </a:buClr>
              <a:buSzPts val="1700"/>
              <a:buNone/>
            </a:pPr>
            <a:r>
              <a:rPr lang="en-US" sz="1700"/>
              <a:t>VAF=0.65+(0.01×count_total)</a:t>
            </a:r>
            <a:endParaRPr/>
          </a:p>
          <a:p>
            <a:pPr indent="0" lvl="0" marL="0" rtl="0" algn="l">
              <a:lnSpc>
                <a:spcPct val="100000"/>
              </a:lnSpc>
              <a:spcBef>
                <a:spcPts val="0"/>
              </a:spcBef>
              <a:spcAft>
                <a:spcPts val="0"/>
              </a:spcAft>
              <a:buClr>
                <a:srgbClr val="C00000"/>
              </a:buClr>
              <a:buSzPts val="1700"/>
              <a:buNone/>
            </a:pPr>
            <a:r>
              <a:rPr lang="en-US" sz="1700"/>
              <a:t>VAF=0.65+(0.01×35)=1.00</a:t>
            </a:r>
            <a:endParaRPr/>
          </a:p>
          <a:p>
            <a:pPr indent="0" lvl="0" marL="88900" rtl="0" algn="l">
              <a:lnSpc>
                <a:spcPct val="100000"/>
              </a:lnSpc>
              <a:spcBef>
                <a:spcPts val="440"/>
              </a:spcBef>
              <a:spcAft>
                <a:spcPts val="0"/>
              </a:spcAft>
              <a:buSzPts val="2200"/>
              <a:buNone/>
            </a:pPr>
            <a:r>
              <a:rPr b="1" lang="en-US" sz="1800"/>
              <a:t>Compute Adjusted Function Points</a:t>
            </a:r>
            <a:endParaRPr/>
          </a:p>
          <a:p>
            <a:pPr indent="0" lvl="0" marL="88900" rtl="0" algn="l">
              <a:lnSpc>
                <a:spcPct val="100000"/>
              </a:lnSpc>
              <a:spcBef>
                <a:spcPts val="440"/>
              </a:spcBef>
              <a:spcAft>
                <a:spcPts val="0"/>
              </a:spcAft>
              <a:buSzPts val="2200"/>
              <a:buNone/>
            </a:pPr>
            <a:r>
              <a:rPr lang="en-US" sz="1800"/>
              <a:t>FP= count_total × VAF</a:t>
            </a:r>
            <a:endParaRPr/>
          </a:p>
          <a:p>
            <a:pPr indent="0" lvl="0" marL="88900" rtl="0" algn="l">
              <a:lnSpc>
                <a:spcPct val="100000"/>
              </a:lnSpc>
              <a:spcBef>
                <a:spcPts val="440"/>
              </a:spcBef>
              <a:spcAft>
                <a:spcPts val="0"/>
              </a:spcAft>
              <a:buSzPts val="2200"/>
              <a:buNone/>
            </a:pPr>
            <a:r>
              <a:rPr lang="en-US" sz="1800"/>
              <a:t>FP = 111×1.00=111</a:t>
            </a:r>
            <a:endParaRPr/>
          </a:p>
          <a:p>
            <a:pPr indent="0" lvl="0" marL="0" rtl="0" algn="l">
              <a:lnSpc>
                <a:spcPct val="100000"/>
              </a:lnSpc>
              <a:spcBef>
                <a:spcPts val="0"/>
              </a:spcBef>
              <a:spcAft>
                <a:spcPts val="0"/>
              </a:spcAft>
              <a:buClr>
                <a:srgbClr val="C00000"/>
              </a:buClr>
              <a:buSzPts val="1700"/>
              <a:buNone/>
            </a:pPr>
            <a:r>
              <a:t/>
            </a:r>
            <a:endParaRPr sz="17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00" name="Google Shape;400;p4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01" name="Google Shape;401;p49"/>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1. Architectural Design Metrics:</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Architectural design metrics focus on </a:t>
            </a:r>
            <a:r>
              <a:rPr b="1" i="0" lang="en-US" sz="1800">
                <a:solidFill>
                  <a:srgbClr val="242021"/>
                </a:solidFill>
              </a:rPr>
              <a:t>characteristics of the program architecture with an emphasis on the architectural structure</a:t>
            </a:r>
            <a:r>
              <a:rPr b="0" i="0" lang="en-US" sz="1800">
                <a:solidFill>
                  <a:srgbClr val="242021"/>
                </a:solidFill>
              </a:rPr>
              <a:t> and the effectiveness of modules or components within the architecture.</a:t>
            </a:r>
            <a:endParaRPr/>
          </a:p>
          <a:p>
            <a:pPr indent="-342900" lvl="0" marL="342900" rtl="0" algn="just">
              <a:lnSpc>
                <a:spcPct val="150000"/>
              </a:lnSpc>
              <a:spcBef>
                <a:spcPts val="360"/>
              </a:spcBef>
              <a:spcAft>
                <a:spcPts val="0"/>
              </a:spcAft>
              <a:buClr>
                <a:srgbClr val="242021"/>
              </a:buClr>
              <a:buSzPts val="1800"/>
              <a:buChar char="•"/>
            </a:pPr>
            <a:r>
              <a:rPr lang="en-US" sz="1800">
                <a:solidFill>
                  <a:srgbClr val="242021"/>
                </a:solidFill>
              </a:rPr>
              <a:t>There are th</a:t>
            </a:r>
            <a:r>
              <a:rPr b="0" i="0" lang="en-US" sz="1800">
                <a:solidFill>
                  <a:srgbClr val="242021"/>
                </a:solidFill>
              </a:rPr>
              <a:t>ree software design complexity measures: </a:t>
            </a:r>
            <a:r>
              <a:rPr b="0" i="1" lang="en-US" sz="1800">
                <a:solidFill>
                  <a:srgbClr val="C00000"/>
                </a:solidFill>
              </a:rPr>
              <a:t>structural complexity</a:t>
            </a:r>
            <a:r>
              <a:rPr b="0" i="0" lang="en-US" sz="1800">
                <a:solidFill>
                  <a:srgbClr val="242021"/>
                </a:solidFill>
              </a:rPr>
              <a:t>, </a:t>
            </a:r>
            <a:r>
              <a:rPr b="0" i="1" lang="en-US" sz="1800">
                <a:solidFill>
                  <a:srgbClr val="C00000"/>
                </a:solidFill>
              </a:rPr>
              <a:t>data complexity</a:t>
            </a:r>
            <a:r>
              <a:rPr b="0" i="0" lang="en-US" sz="1800">
                <a:solidFill>
                  <a:srgbClr val="242021"/>
                </a:solidFill>
              </a:rPr>
              <a:t>, and </a:t>
            </a:r>
            <a:r>
              <a:rPr b="0" i="1" lang="en-US" sz="1800">
                <a:solidFill>
                  <a:srgbClr val="C00000"/>
                </a:solidFill>
              </a:rPr>
              <a:t>system complexity</a:t>
            </a:r>
            <a:r>
              <a:rPr b="0" i="0" lang="en-US" sz="1800">
                <a:solidFill>
                  <a:srgbClr val="242021"/>
                </a:solidFill>
              </a:rPr>
              <a:t>.</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For hierarchical architectures (e.g., call-and-return architectures), </a:t>
            </a:r>
            <a:r>
              <a:rPr b="0" i="1" lang="en-US" sz="1800">
                <a:solidFill>
                  <a:srgbClr val="C00000"/>
                </a:solidFill>
              </a:rPr>
              <a:t>structural complexity </a:t>
            </a:r>
            <a:r>
              <a:rPr b="0" i="0" lang="en-US" sz="1800">
                <a:solidFill>
                  <a:srgbClr val="242021"/>
                </a:solidFill>
              </a:rPr>
              <a:t>of a module </a:t>
            </a:r>
            <a:r>
              <a:rPr b="0" i="1" lang="en-US" sz="1800">
                <a:solidFill>
                  <a:srgbClr val="242021"/>
                </a:solidFill>
              </a:rPr>
              <a:t>i </a:t>
            </a:r>
            <a:r>
              <a:rPr b="0" i="0" lang="en-US" sz="1800">
                <a:solidFill>
                  <a:srgbClr val="242021"/>
                </a:solidFill>
              </a:rPr>
              <a:t>is defined in the following manner:</a:t>
            </a:r>
            <a:endParaRPr/>
          </a:p>
          <a:p>
            <a:pPr indent="-228600" lvl="0" marL="342900" rtl="0" algn="just">
              <a:lnSpc>
                <a:spcPct val="150000"/>
              </a:lnSpc>
              <a:spcBef>
                <a:spcPts val="360"/>
              </a:spcBef>
              <a:spcAft>
                <a:spcPts val="0"/>
              </a:spcAft>
              <a:buClr>
                <a:schemeClr val="dk1"/>
              </a:buClr>
              <a:buSzPts val="1800"/>
              <a:buNone/>
            </a:pPr>
            <a:r>
              <a:t/>
            </a:r>
            <a:endParaRPr b="0" i="0" sz="1800">
              <a:solidFill>
                <a:srgbClr val="242021"/>
              </a:solidFill>
            </a:endParaRPr>
          </a:p>
          <a:p>
            <a:pPr indent="-357188" lvl="0" marL="357188" rtl="0" algn="just">
              <a:lnSpc>
                <a:spcPct val="150000"/>
              </a:lnSpc>
              <a:spcBef>
                <a:spcPts val="360"/>
              </a:spcBef>
              <a:spcAft>
                <a:spcPts val="0"/>
              </a:spcAft>
              <a:buClr>
                <a:srgbClr val="242021"/>
              </a:buClr>
              <a:buSzPts val="1800"/>
              <a:buNone/>
            </a:pPr>
            <a:r>
              <a:rPr lang="en-US" sz="1800">
                <a:solidFill>
                  <a:srgbClr val="242021"/>
                </a:solidFill>
              </a:rPr>
              <a:t>       </a:t>
            </a:r>
            <a:r>
              <a:rPr b="0" i="0" lang="en-US" sz="1800">
                <a:solidFill>
                  <a:srgbClr val="242021"/>
                </a:solidFill>
              </a:rPr>
              <a:t>where </a:t>
            </a:r>
            <a:r>
              <a:rPr b="0" i="1" lang="en-US" sz="1800">
                <a:solidFill>
                  <a:srgbClr val="242021"/>
                </a:solidFill>
              </a:rPr>
              <a:t>f</a:t>
            </a:r>
            <a:r>
              <a:rPr b="0" i="0" lang="en-US" sz="1800">
                <a:solidFill>
                  <a:srgbClr val="242021"/>
                </a:solidFill>
              </a:rPr>
              <a:t>out(</a:t>
            </a:r>
            <a:r>
              <a:rPr b="0" i="1" lang="en-US" sz="1800">
                <a:solidFill>
                  <a:srgbClr val="242021"/>
                </a:solidFill>
              </a:rPr>
              <a:t>i</a:t>
            </a:r>
            <a:r>
              <a:rPr b="0" i="0" lang="en-US" sz="1800">
                <a:solidFill>
                  <a:srgbClr val="242021"/>
                </a:solidFill>
              </a:rPr>
              <a:t>) is the fan-out of module </a:t>
            </a:r>
            <a:r>
              <a:rPr b="0" i="1" lang="en-US" sz="1800">
                <a:solidFill>
                  <a:srgbClr val="242021"/>
                </a:solidFill>
              </a:rPr>
              <a:t>i</a:t>
            </a:r>
            <a:r>
              <a:rPr lang="en-US" sz="1800"/>
              <a:t> , refers to the number of other modules or components that a specific module or component calls or uses.</a:t>
            </a:r>
            <a:endParaRPr/>
          </a:p>
          <a:p>
            <a:pPr indent="0" lvl="0" marL="0" rtl="0" algn="just">
              <a:lnSpc>
                <a:spcPct val="150000"/>
              </a:lnSpc>
              <a:spcBef>
                <a:spcPts val="360"/>
              </a:spcBef>
              <a:spcAft>
                <a:spcPts val="0"/>
              </a:spcAft>
              <a:buClr>
                <a:schemeClr val="dk1"/>
              </a:buClr>
              <a:buSzPts val="1800"/>
              <a:buNone/>
            </a:pPr>
            <a:br>
              <a:rPr lang="en-US" sz="1800"/>
            </a:br>
            <a:endParaRPr sz="1800"/>
          </a:p>
          <a:p>
            <a:pPr indent="0" lvl="0" marL="0" rtl="0" algn="just">
              <a:lnSpc>
                <a:spcPct val="150000"/>
              </a:lnSpc>
              <a:spcBef>
                <a:spcPts val="360"/>
              </a:spcBef>
              <a:spcAft>
                <a:spcPts val="0"/>
              </a:spcAft>
              <a:buClr>
                <a:schemeClr val="dk1"/>
              </a:buClr>
              <a:buSzPts val="1800"/>
              <a:buNone/>
            </a:pPr>
            <a:br>
              <a:rPr lang="en-US" sz="1800"/>
            </a:br>
            <a:endParaRPr sz="1800"/>
          </a:p>
        </p:txBody>
      </p:sp>
      <p:pic>
        <p:nvPicPr>
          <p:cNvPr id="402" name="Google Shape;402;p49"/>
          <p:cNvPicPr preferRelativeResize="0"/>
          <p:nvPr/>
        </p:nvPicPr>
        <p:blipFill rotWithShape="1">
          <a:blip r:embed="rId3">
            <a:alphaModFix/>
          </a:blip>
          <a:srcRect b="0" l="0" r="0" t="0"/>
          <a:stretch/>
        </p:blipFill>
        <p:spPr>
          <a:xfrm>
            <a:off x="3933792" y="4981575"/>
            <a:ext cx="1276416" cy="330217"/>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08" name="Google Shape;408;p5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09" name="Google Shape;409;p50"/>
          <p:cNvSpPr txBox="1"/>
          <p:nvPr>
            <p:ph idx="1" type="body"/>
          </p:nvPr>
        </p:nvSpPr>
        <p:spPr>
          <a:xfrm>
            <a:off x="457200" y="8382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1. Architectural Design Metrics (contd.):</a:t>
            </a:r>
            <a:endParaRPr/>
          </a:p>
          <a:p>
            <a:pPr indent="-342900" lvl="0" marL="342900" rtl="0" algn="just">
              <a:lnSpc>
                <a:spcPct val="150000"/>
              </a:lnSpc>
              <a:spcBef>
                <a:spcPts val="360"/>
              </a:spcBef>
              <a:spcAft>
                <a:spcPts val="0"/>
              </a:spcAft>
              <a:buClr>
                <a:srgbClr val="C00000"/>
              </a:buClr>
              <a:buSzPts val="1800"/>
              <a:buChar char="•"/>
            </a:pPr>
            <a:r>
              <a:rPr b="0" i="1" lang="en-US" sz="1800">
                <a:solidFill>
                  <a:srgbClr val="C00000"/>
                </a:solidFill>
              </a:rPr>
              <a:t>Data complexity </a:t>
            </a:r>
            <a:r>
              <a:rPr b="0" i="0" lang="en-US" sz="1800">
                <a:solidFill>
                  <a:srgbClr val="242021"/>
                </a:solidFill>
              </a:rPr>
              <a:t>provides an indication of the complexity in the internal interface for a module </a:t>
            </a:r>
            <a:r>
              <a:rPr b="0" i="1" lang="en-US" sz="1800">
                <a:solidFill>
                  <a:srgbClr val="242021"/>
                </a:solidFill>
              </a:rPr>
              <a:t>i </a:t>
            </a:r>
            <a:r>
              <a:rPr b="0" i="0" lang="en-US" sz="1800">
                <a:solidFill>
                  <a:srgbClr val="242021"/>
                </a:solidFill>
              </a:rPr>
              <a:t>and is defined as</a:t>
            </a:r>
            <a:endParaRPr/>
          </a:p>
          <a:p>
            <a:pPr indent="0" lvl="0" marL="0" rtl="0" algn="just">
              <a:lnSpc>
                <a:spcPct val="150000"/>
              </a:lnSpc>
              <a:spcBef>
                <a:spcPts val="360"/>
              </a:spcBef>
              <a:spcAft>
                <a:spcPts val="0"/>
              </a:spcAft>
              <a:buClr>
                <a:schemeClr val="dk1"/>
              </a:buClr>
              <a:buSzPts val="1800"/>
              <a:buNone/>
            </a:pPr>
            <a:r>
              <a:rPr lang="en-US" sz="1800"/>
              <a:t> </a:t>
            </a:r>
            <a:br>
              <a:rPr lang="en-US" sz="1800"/>
            </a:br>
            <a:r>
              <a:rPr b="0" i="0" lang="en-US" sz="1800">
                <a:solidFill>
                  <a:srgbClr val="242021"/>
                </a:solidFill>
              </a:rPr>
              <a:t>where </a:t>
            </a:r>
            <a:r>
              <a:rPr b="0" i="1" lang="en-US" sz="1800">
                <a:solidFill>
                  <a:srgbClr val="242021"/>
                </a:solidFill>
              </a:rPr>
              <a:t>v</a:t>
            </a:r>
            <a:r>
              <a:rPr b="0" i="0" lang="en-US" sz="1800">
                <a:solidFill>
                  <a:srgbClr val="242021"/>
                </a:solidFill>
              </a:rPr>
              <a:t>(</a:t>
            </a:r>
            <a:r>
              <a:rPr b="0" i="1" lang="en-US" sz="1800">
                <a:solidFill>
                  <a:srgbClr val="242021"/>
                </a:solidFill>
              </a:rPr>
              <a:t>i</a:t>
            </a:r>
            <a:r>
              <a:rPr b="0" i="0" lang="en-US" sz="1800">
                <a:solidFill>
                  <a:srgbClr val="242021"/>
                </a:solidFill>
              </a:rPr>
              <a:t>) is the number of input and output variables that are passed to and from module </a:t>
            </a:r>
            <a:r>
              <a:rPr b="0" i="1" lang="en-US" sz="1800">
                <a:solidFill>
                  <a:srgbClr val="242021"/>
                </a:solidFill>
              </a:rPr>
              <a:t>i</a:t>
            </a:r>
            <a:r>
              <a:rPr lang="en-US" sz="1800"/>
              <a:t> </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Finally, </a:t>
            </a:r>
            <a:r>
              <a:rPr b="0" i="1" lang="en-US" sz="1800">
                <a:solidFill>
                  <a:srgbClr val="C00000"/>
                </a:solidFill>
              </a:rPr>
              <a:t>system complexity </a:t>
            </a:r>
            <a:r>
              <a:rPr b="0" i="0" lang="en-US" sz="1800">
                <a:solidFill>
                  <a:srgbClr val="242021"/>
                </a:solidFill>
              </a:rPr>
              <a:t>is defined as the sum of structural and data complexity, specified as</a:t>
            </a:r>
            <a:endParaRPr/>
          </a:p>
          <a:p>
            <a:pPr indent="-228600" lvl="0" marL="342900" rtl="0" algn="just">
              <a:lnSpc>
                <a:spcPct val="150000"/>
              </a:lnSpc>
              <a:spcBef>
                <a:spcPts val="360"/>
              </a:spcBef>
              <a:spcAft>
                <a:spcPts val="0"/>
              </a:spcAft>
              <a:buClr>
                <a:schemeClr val="dk1"/>
              </a:buClr>
              <a:buSzPts val="1800"/>
              <a:buNone/>
            </a:pPr>
            <a:r>
              <a:t/>
            </a:r>
            <a:endParaRPr sz="1800">
              <a:solidFill>
                <a:srgbClr val="242021"/>
              </a:solidFill>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As each of these complexity values increases, the overall architectural complexity of the system also increases. This leads to a </a:t>
            </a:r>
            <a:r>
              <a:rPr b="1" i="0" lang="en-US" sz="1800">
                <a:solidFill>
                  <a:srgbClr val="242021"/>
                </a:solidFill>
              </a:rPr>
              <a:t>greater likelihood that integration and testing effort will also increase.</a:t>
            </a:r>
            <a:endParaRPr b="1" sz="1800"/>
          </a:p>
          <a:p>
            <a:pPr indent="0" lvl="0" marL="0" rtl="0" algn="just">
              <a:lnSpc>
                <a:spcPct val="150000"/>
              </a:lnSpc>
              <a:spcBef>
                <a:spcPts val="360"/>
              </a:spcBef>
              <a:spcAft>
                <a:spcPts val="0"/>
              </a:spcAft>
              <a:buClr>
                <a:schemeClr val="dk1"/>
              </a:buClr>
              <a:buSzPts val="1800"/>
              <a:buNone/>
            </a:pPr>
            <a:br>
              <a:rPr lang="en-US" sz="1800"/>
            </a:br>
            <a:endParaRPr sz="1800"/>
          </a:p>
        </p:txBody>
      </p:sp>
      <p:pic>
        <p:nvPicPr>
          <p:cNvPr id="410" name="Google Shape;410;p50"/>
          <p:cNvPicPr preferRelativeResize="0"/>
          <p:nvPr/>
        </p:nvPicPr>
        <p:blipFill rotWithShape="1">
          <a:blip r:embed="rId3">
            <a:alphaModFix/>
          </a:blip>
          <a:srcRect b="0" l="0" r="0" t="0"/>
          <a:stretch/>
        </p:blipFill>
        <p:spPr>
          <a:xfrm>
            <a:off x="3631902" y="2124075"/>
            <a:ext cx="1729090" cy="685800"/>
          </a:xfrm>
          <a:prstGeom prst="rect">
            <a:avLst/>
          </a:prstGeom>
          <a:noFill/>
          <a:ln>
            <a:noFill/>
          </a:ln>
        </p:spPr>
      </p:pic>
      <p:pic>
        <p:nvPicPr>
          <p:cNvPr id="411" name="Google Shape;411;p50"/>
          <p:cNvPicPr preferRelativeResize="0"/>
          <p:nvPr/>
        </p:nvPicPr>
        <p:blipFill rotWithShape="1">
          <a:blip r:embed="rId4">
            <a:alphaModFix/>
          </a:blip>
          <a:srcRect b="0" l="0" r="0" t="0"/>
          <a:stretch/>
        </p:blipFill>
        <p:spPr>
          <a:xfrm>
            <a:off x="3565530" y="4191000"/>
            <a:ext cx="1809750" cy="3810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5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17" name="Google Shape;417;p5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18" name="Google Shape;418;p51"/>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Methods for Object Oriented Design</a:t>
            </a:r>
            <a:endParaRPr/>
          </a:p>
          <a:p>
            <a:pPr indent="-342900" lvl="0" marL="342900" rtl="0" algn="just">
              <a:lnSpc>
                <a:spcPct val="90000"/>
              </a:lnSpc>
              <a:spcBef>
                <a:spcPts val="360"/>
              </a:spcBef>
              <a:spcAft>
                <a:spcPts val="0"/>
              </a:spcAft>
              <a:buClr>
                <a:schemeClr val="dk1"/>
              </a:buClr>
              <a:buSzPts val="1800"/>
              <a:buChar char="•"/>
            </a:pPr>
            <a:r>
              <a:rPr lang="en-US" sz="1800"/>
              <a:t>There are nine distinct and measurable characteristics of an OO design:</a:t>
            </a:r>
            <a:endParaRPr/>
          </a:p>
          <a:p>
            <a:pPr indent="-285750" lvl="1" marL="742950" rtl="0" algn="just">
              <a:lnSpc>
                <a:spcPct val="90000"/>
              </a:lnSpc>
              <a:spcBef>
                <a:spcPts val="360"/>
              </a:spcBef>
              <a:spcAft>
                <a:spcPts val="0"/>
              </a:spcAft>
              <a:buClr>
                <a:srgbClr val="C00000"/>
              </a:buClr>
              <a:buSzPts val="1800"/>
              <a:buChar char="–"/>
            </a:pPr>
            <a:r>
              <a:rPr lang="en-US" sz="1800">
                <a:solidFill>
                  <a:srgbClr val="C00000"/>
                </a:solidFill>
              </a:rPr>
              <a:t>Size</a:t>
            </a:r>
            <a:endParaRPr/>
          </a:p>
          <a:p>
            <a:pPr indent="-228600" lvl="2" marL="1143000" rtl="0" algn="just">
              <a:lnSpc>
                <a:spcPct val="90000"/>
              </a:lnSpc>
              <a:spcBef>
                <a:spcPts val="360"/>
              </a:spcBef>
              <a:spcAft>
                <a:spcPts val="0"/>
              </a:spcAft>
              <a:buClr>
                <a:schemeClr val="dk1"/>
              </a:buClr>
              <a:buSzPts val="1800"/>
              <a:buChar char="•"/>
            </a:pPr>
            <a:r>
              <a:rPr lang="en-US" sz="1800"/>
              <a:t>Size is defined in terms of four views: population, volume, length, and functionality</a:t>
            </a:r>
            <a:endParaRPr/>
          </a:p>
          <a:p>
            <a:pPr indent="-285750" lvl="1" marL="742950" rtl="0" algn="just">
              <a:lnSpc>
                <a:spcPct val="90000"/>
              </a:lnSpc>
              <a:spcBef>
                <a:spcPts val="360"/>
              </a:spcBef>
              <a:spcAft>
                <a:spcPts val="0"/>
              </a:spcAft>
              <a:buClr>
                <a:srgbClr val="C00000"/>
              </a:buClr>
              <a:buSzPts val="1800"/>
              <a:buChar char="–"/>
            </a:pPr>
            <a:r>
              <a:rPr lang="en-US" sz="1800">
                <a:solidFill>
                  <a:srgbClr val="C00000"/>
                </a:solidFill>
              </a:rPr>
              <a:t>Complexity</a:t>
            </a:r>
            <a:endParaRPr/>
          </a:p>
          <a:p>
            <a:pPr indent="-228600" lvl="2" marL="1143000" rtl="0" algn="just">
              <a:lnSpc>
                <a:spcPct val="90000"/>
              </a:lnSpc>
              <a:spcBef>
                <a:spcPts val="360"/>
              </a:spcBef>
              <a:spcAft>
                <a:spcPts val="0"/>
              </a:spcAft>
              <a:buClr>
                <a:schemeClr val="dk1"/>
              </a:buClr>
              <a:buSzPts val="1800"/>
              <a:buChar char="•"/>
            </a:pPr>
            <a:r>
              <a:rPr lang="en-US" sz="1800"/>
              <a:t>How classes of an OO design are interrelated to one another</a:t>
            </a:r>
            <a:endParaRPr/>
          </a:p>
          <a:p>
            <a:pPr indent="-285750" lvl="1" marL="742950" rtl="0" algn="just">
              <a:lnSpc>
                <a:spcPct val="90000"/>
              </a:lnSpc>
              <a:spcBef>
                <a:spcPts val="360"/>
              </a:spcBef>
              <a:spcAft>
                <a:spcPts val="0"/>
              </a:spcAft>
              <a:buClr>
                <a:srgbClr val="C00000"/>
              </a:buClr>
              <a:buSzPts val="1800"/>
              <a:buChar char="–"/>
            </a:pPr>
            <a:r>
              <a:rPr lang="en-US" sz="1800">
                <a:solidFill>
                  <a:srgbClr val="C00000"/>
                </a:solidFill>
              </a:rPr>
              <a:t>Coupling</a:t>
            </a:r>
            <a:endParaRPr/>
          </a:p>
          <a:p>
            <a:pPr indent="-228600" lvl="2" marL="1143000" rtl="0" algn="just">
              <a:lnSpc>
                <a:spcPct val="90000"/>
              </a:lnSpc>
              <a:spcBef>
                <a:spcPts val="360"/>
              </a:spcBef>
              <a:spcAft>
                <a:spcPts val="0"/>
              </a:spcAft>
              <a:buClr>
                <a:schemeClr val="dk1"/>
              </a:buClr>
              <a:buSzPts val="1800"/>
              <a:buChar char="•"/>
            </a:pPr>
            <a:r>
              <a:rPr lang="en-US" sz="1800"/>
              <a:t>The physical connections between elements of the OO design</a:t>
            </a:r>
            <a:endParaRPr/>
          </a:p>
          <a:p>
            <a:pPr indent="-285750" lvl="1" marL="742950" rtl="0" algn="just">
              <a:lnSpc>
                <a:spcPct val="90000"/>
              </a:lnSpc>
              <a:spcBef>
                <a:spcPts val="360"/>
              </a:spcBef>
              <a:spcAft>
                <a:spcPts val="0"/>
              </a:spcAft>
              <a:buClr>
                <a:srgbClr val="C00000"/>
              </a:buClr>
              <a:buSzPts val="1800"/>
              <a:buChar char="–"/>
            </a:pPr>
            <a:r>
              <a:rPr lang="en-US" sz="1800">
                <a:solidFill>
                  <a:srgbClr val="C00000"/>
                </a:solidFill>
              </a:rPr>
              <a:t>Sufficiency</a:t>
            </a:r>
            <a:endParaRPr/>
          </a:p>
          <a:p>
            <a:pPr indent="-228600" lvl="2" marL="1143000" rtl="0" algn="just">
              <a:lnSpc>
                <a:spcPct val="90000"/>
              </a:lnSpc>
              <a:spcBef>
                <a:spcPts val="360"/>
              </a:spcBef>
              <a:spcAft>
                <a:spcPts val="0"/>
              </a:spcAft>
              <a:buClr>
                <a:schemeClr val="dk1"/>
              </a:buClr>
              <a:buSzPts val="1800"/>
              <a:buChar char="•"/>
            </a:pPr>
            <a:r>
              <a:rPr lang="en-US" sz="1800"/>
              <a:t>“the degree to which an abstraction possesses the features required of it, or the degree to which a design component possesses features in its abstraction, from the point of view of the current application.”</a:t>
            </a:r>
            <a:endParaRPr/>
          </a:p>
          <a:p>
            <a:pPr indent="-285750" lvl="1" marL="742950" rtl="0" algn="just">
              <a:lnSpc>
                <a:spcPct val="90000"/>
              </a:lnSpc>
              <a:spcBef>
                <a:spcPts val="360"/>
              </a:spcBef>
              <a:spcAft>
                <a:spcPts val="0"/>
              </a:spcAft>
              <a:buClr>
                <a:srgbClr val="C00000"/>
              </a:buClr>
              <a:buSzPts val="1800"/>
              <a:buChar char="–"/>
            </a:pPr>
            <a:r>
              <a:rPr lang="en-US" sz="1800">
                <a:solidFill>
                  <a:srgbClr val="C00000"/>
                </a:solidFill>
              </a:rPr>
              <a:t>Completeness</a:t>
            </a:r>
            <a:endParaRPr/>
          </a:p>
          <a:p>
            <a:pPr indent="-228600" lvl="2" marL="1143000" rtl="0" algn="just">
              <a:lnSpc>
                <a:spcPct val="90000"/>
              </a:lnSpc>
              <a:spcBef>
                <a:spcPts val="360"/>
              </a:spcBef>
              <a:spcAft>
                <a:spcPts val="0"/>
              </a:spcAft>
              <a:buClr>
                <a:schemeClr val="dk1"/>
              </a:buClr>
              <a:buSzPts val="1800"/>
              <a:buChar char="•"/>
            </a:pPr>
            <a:r>
              <a:rPr lang="en-US" sz="1800"/>
              <a:t>An indirect implication about the degree to which the abstraction or design component can be reused</a:t>
            </a:r>
            <a:endParaRPr/>
          </a:p>
          <a:p>
            <a:pPr indent="0" lvl="0" marL="0" rtl="0" algn="just">
              <a:lnSpc>
                <a:spcPct val="150000"/>
              </a:lnSpc>
              <a:spcBef>
                <a:spcPts val="360"/>
              </a:spcBef>
              <a:spcAft>
                <a:spcPts val="0"/>
              </a:spcAft>
              <a:buClr>
                <a:schemeClr val="dk1"/>
              </a:buClr>
              <a:buSzPts val="1800"/>
              <a:buNone/>
            </a:pPr>
            <a:br>
              <a:rPr lang="en-US" sz="1800"/>
            </a:br>
            <a:endParaRPr sz="1800"/>
          </a:p>
          <a:p>
            <a:pPr indent="0" lvl="0" marL="0" rtl="0" algn="just">
              <a:lnSpc>
                <a:spcPct val="150000"/>
              </a:lnSpc>
              <a:spcBef>
                <a:spcPts val="360"/>
              </a:spcBef>
              <a:spcAft>
                <a:spcPts val="0"/>
              </a:spcAft>
              <a:buClr>
                <a:schemeClr val="dk1"/>
              </a:buClr>
              <a:buSzPts val="1800"/>
              <a:buNone/>
            </a:pPr>
            <a:br>
              <a:rPr lang="en-US" sz="1800"/>
            </a:b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52"/>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24" name="Google Shape;424;p5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25" name="Google Shape;425;p52"/>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Methods for Object Oriented Design (contd.)</a:t>
            </a:r>
            <a:endParaRPr/>
          </a:p>
          <a:p>
            <a:pPr indent="-285750" lvl="1" marL="742950" rtl="0" algn="just">
              <a:lnSpc>
                <a:spcPct val="100000"/>
              </a:lnSpc>
              <a:spcBef>
                <a:spcPts val="400"/>
              </a:spcBef>
              <a:spcAft>
                <a:spcPts val="0"/>
              </a:spcAft>
              <a:buClr>
                <a:srgbClr val="C00000"/>
              </a:buClr>
              <a:buSzPts val="2000"/>
              <a:buChar char="–"/>
            </a:pPr>
            <a:r>
              <a:rPr lang="en-US" sz="2000">
                <a:solidFill>
                  <a:srgbClr val="C00000"/>
                </a:solidFill>
              </a:rPr>
              <a:t>Cohesion</a:t>
            </a:r>
            <a:endParaRPr/>
          </a:p>
          <a:p>
            <a:pPr indent="-228600" lvl="2" marL="1143000" rtl="0" algn="just">
              <a:lnSpc>
                <a:spcPct val="100000"/>
              </a:lnSpc>
              <a:spcBef>
                <a:spcPts val="400"/>
              </a:spcBef>
              <a:spcAft>
                <a:spcPts val="0"/>
              </a:spcAft>
              <a:buClr>
                <a:schemeClr val="dk1"/>
              </a:buClr>
              <a:buSzPts val="2000"/>
              <a:buChar char="•"/>
            </a:pPr>
            <a:r>
              <a:rPr lang="en-US" sz="2000"/>
              <a:t>The degree to which all operations working together to achieve a single, well-defined purpose</a:t>
            </a:r>
            <a:endParaRPr/>
          </a:p>
          <a:p>
            <a:pPr indent="-285750" lvl="1" marL="742950" rtl="0" algn="just">
              <a:lnSpc>
                <a:spcPct val="100000"/>
              </a:lnSpc>
              <a:spcBef>
                <a:spcPts val="400"/>
              </a:spcBef>
              <a:spcAft>
                <a:spcPts val="0"/>
              </a:spcAft>
              <a:buClr>
                <a:srgbClr val="C00000"/>
              </a:buClr>
              <a:buSzPts val="2000"/>
              <a:buChar char="–"/>
            </a:pPr>
            <a:r>
              <a:rPr lang="en-US" sz="2000">
                <a:solidFill>
                  <a:srgbClr val="C00000"/>
                </a:solidFill>
              </a:rPr>
              <a:t>Primitiveness</a:t>
            </a:r>
            <a:endParaRPr/>
          </a:p>
          <a:p>
            <a:pPr indent="-228600" lvl="2" marL="1143000" rtl="0" algn="just">
              <a:lnSpc>
                <a:spcPct val="100000"/>
              </a:lnSpc>
              <a:spcBef>
                <a:spcPts val="400"/>
              </a:spcBef>
              <a:spcAft>
                <a:spcPts val="0"/>
              </a:spcAft>
              <a:buClr>
                <a:schemeClr val="dk1"/>
              </a:buClr>
              <a:buSzPts val="2000"/>
              <a:buChar char="•"/>
            </a:pPr>
            <a:r>
              <a:rPr lang="en-US" sz="2000"/>
              <a:t>Applied to both operations and classes, the degree to which an operation is atomic</a:t>
            </a:r>
            <a:endParaRPr/>
          </a:p>
          <a:p>
            <a:pPr indent="-285750" lvl="1" marL="742950" rtl="0" algn="just">
              <a:lnSpc>
                <a:spcPct val="100000"/>
              </a:lnSpc>
              <a:spcBef>
                <a:spcPts val="400"/>
              </a:spcBef>
              <a:spcAft>
                <a:spcPts val="0"/>
              </a:spcAft>
              <a:buClr>
                <a:srgbClr val="C00000"/>
              </a:buClr>
              <a:buSzPts val="2000"/>
              <a:buChar char="–"/>
            </a:pPr>
            <a:r>
              <a:rPr lang="en-US" sz="2000">
                <a:solidFill>
                  <a:srgbClr val="C00000"/>
                </a:solidFill>
              </a:rPr>
              <a:t>Similarity</a:t>
            </a:r>
            <a:endParaRPr/>
          </a:p>
          <a:p>
            <a:pPr indent="-228600" lvl="2" marL="1143000" rtl="0" algn="just">
              <a:lnSpc>
                <a:spcPct val="100000"/>
              </a:lnSpc>
              <a:spcBef>
                <a:spcPts val="400"/>
              </a:spcBef>
              <a:spcAft>
                <a:spcPts val="0"/>
              </a:spcAft>
              <a:buClr>
                <a:schemeClr val="dk1"/>
              </a:buClr>
              <a:buSzPts val="2000"/>
              <a:buChar char="•"/>
            </a:pPr>
            <a:r>
              <a:rPr lang="en-US" sz="2000"/>
              <a:t>The degree to which two or more classes are similar in terms of their structure, function, behavior, or purpose</a:t>
            </a:r>
            <a:endParaRPr/>
          </a:p>
          <a:p>
            <a:pPr indent="-285750" lvl="1" marL="742950" rtl="0" algn="just">
              <a:lnSpc>
                <a:spcPct val="100000"/>
              </a:lnSpc>
              <a:spcBef>
                <a:spcPts val="400"/>
              </a:spcBef>
              <a:spcAft>
                <a:spcPts val="0"/>
              </a:spcAft>
              <a:buClr>
                <a:srgbClr val="C00000"/>
              </a:buClr>
              <a:buSzPts val="2000"/>
              <a:buChar char="–"/>
            </a:pPr>
            <a:r>
              <a:rPr lang="en-US" sz="2000">
                <a:solidFill>
                  <a:srgbClr val="C00000"/>
                </a:solidFill>
              </a:rPr>
              <a:t>Volatility</a:t>
            </a:r>
            <a:endParaRPr/>
          </a:p>
          <a:p>
            <a:pPr indent="-228600" lvl="2" marL="1143000" rtl="0" algn="just">
              <a:lnSpc>
                <a:spcPct val="100000"/>
              </a:lnSpc>
              <a:spcBef>
                <a:spcPts val="400"/>
              </a:spcBef>
              <a:spcAft>
                <a:spcPts val="0"/>
              </a:spcAft>
              <a:buClr>
                <a:schemeClr val="dk1"/>
              </a:buClr>
              <a:buSzPts val="2000"/>
              <a:buChar char="•"/>
            </a:pPr>
            <a:r>
              <a:rPr lang="en-US" sz="2000"/>
              <a:t>Measures the likelihood that a change will occur</a:t>
            </a:r>
            <a:endParaRPr/>
          </a:p>
          <a:p>
            <a:pPr indent="0" lvl="0" marL="0" rtl="0" algn="just">
              <a:lnSpc>
                <a:spcPct val="150000"/>
              </a:lnSpc>
              <a:spcBef>
                <a:spcPts val="360"/>
              </a:spcBef>
              <a:spcAft>
                <a:spcPts val="0"/>
              </a:spcAft>
              <a:buClr>
                <a:schemeClr val="dk1"/>
              </a:buClr>
              <a:buSzPts val="1800"/>
              <a:buNone/>
            </a:pPr>
            <a:br>
              <a:rPr lang="en-US" sz="1800"/>
            </a:br>
            <a:endParaRPr sz="1800"/>
          </a:p>
          <a:p>
            <a:pPr indent="0" lvl="0" marL="0" rtl="0" algn="just">
              <a:lnSpc>
                <a:spcPct val="150000"/>
              </a:lnSpc>
              <a:spcBef>
                <a:spcPts val="360"/>
              </a:spcBef>
              <a:spcAft>
                <a:spcPts val="0"/>
              </a:spcAft>
              <a:buClr>
                <a:schemeClr val="dk1"/>
              </a:buClr>
              <a:buSzPts val="1800"/>
              <a:buNone/>
            </a:pPr>
            <a:br>
              <a:rPr lang="en-US" sz="1800"/>
            </a:br>
            <a:endParaRPr sz="18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9" name="Shape 429"/>
        <p:cNvGrpSpPr/>
        <p:nvPr/>
      </p:nvGrpSpPr>
      <p:grpSpPr>
        <a:xfrm>
          <a:off x="0" y="0"/>
          <a:ext cx="0" cy="0"/>
          <a:chOff x="0" y="0"/>
          <a:chExt cx="0" cy="0"/>
        </a:xfrm>
      </p:grpSpPr>
      <p:sp>
        <p:nvSpPr>
          <p:cNvPr id="430" name="Google Shape;430;p5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31" name="Google Shape;431;p5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32" name="Google Shape;432;p53"/>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3. Class Oriented Metrics – The CK Metrics Suite:</a:t>
            </a:r>
            <a:endParaRPr/>
          </a:p>
          <a:p>
            <a:pPr indent="0" lvl="0" marL="0" rtl="0" algn="l">
              <a:lnSpc>
                <a:spcPct val="150000"/>
              </a:lnSpc>
              <a:spcBef>
                <a:spcPts val="360"/>
              </a:spcBef>
              <a:spcAft>
                <a:spcPts val="0"/>
              </a:spcAft>
              <a:buClr>
                <a:srgbClr val="242021"/>
              </a:buClr>
              <a:buSzPts val="1800"/>
              <a:buNone/>
            </a:pPr>
            <a:r>
              <a:rPr lang="en-US" sz="1800">
                <a:solidFill>
                  <a:srgbClr val="242021"/>
                </a:solidFill>
              </a:rPr>
              <a:t>Authors Chidamber and Kemerer  </a:t>
            </a:r>
            <a:r>
              <a:rPr b="0" i="0" lang="en-US" sz="1800">
                <a:solidFill>
                  <a:srgbClr val="242021"/>
                </a:solidFill>
              </a:rPr>
              <a:t>have proposed six class-based design metrics for OO systems:</a:t>
            </a:r>
            <a:endParaRPr/>
          </a:p>
          <a:p>
            <a:pPr indent="-400050" lvl="0" marL="400050" rtl="0" algn="l">
              <a:lnSpc>
                <a:spcPct val="150000"/>
              </a:lnSpc>
              <a:spcBef>
                <a:spcPts val="360"/>
              </a:spcBef>
              <a:spcAft>
                <a:spcPts val="0"/>
              </a:spcAft>
              <a:buClr>
                <a:srgbClr val="3A30FA"/>
              </a:buClr>
              <a:buSzPts val="1800"/>
              <a:buFont typeface="Calibri"/>
              <a:buAutoNum type="romanLcPeriod"/>
            </a:pPr>
            <a:r>
              <a:rPr b="1" lang="en-US" sz="1800">
                <a:solidFill>
                  <a:srgbClr val="3A30FA"/>
                </a:solidFill>
              </a:rPr>
              <a:t>Weighted Methods per Class (WMC) - </a:t>
            </a:r>
            <a:r>
              <a:rPr b="0" i="0" lang="en-US" sz="1800">
                <a:solidFill>
                  <a:srgbClr val="242021"/>
                </a:solidFill>
              </a:rPr>
              <a:t>Assume that </a:t>
            </a:r>
            <a:r>
              <a:rPr b="0" i="1" lang="en-US" sz="1800">
                <a:solidFill>
                  <a:srgbClr val="242021"/>
                </a:solidFill>
              </a:rPr>
              <a:t>n </a:t>
            </a:r>
            <a:r>
              <a:rPr b="0" i="0" lang="en-US" sz="1800">
                <a:solidFill>
                  <a:srgbClr val="242021"/>
                </a:solidFill>
              </a:rPr>
              <a:t>methods of complexity </a:t>
            </a:r>
            <a:r>
              <a:rPr b="0" i="1" lang="en-US" sz="1800">
                <a:solidFill>
                  <a:srgbClr val="242021"/>
                </a:solidFill>
              </a:rPr>
              <a:t>c</a:t>
            </a:r>
            <a:r>
              <a:rPr b="0" i="0" lang="en-US" sz="1800">
                <a:solidFill>
                  <a:srgbClr val="242021"/>
                </a:solidFill>
              </a:rPr>
              <a:t>1, </a:t>
            </a:r>
            <a:r>
              <a:rPr b="0" i="1" lang="en-US" sz="1800">
                <a:solidFill>
                  <a:srgbClr val="242021"/>
                </a:solidFill>
              </a:rPr>
              <a:t>c</a:t>
            </a:r>
            <a:r>
              <a:rPr b="0" i="0" lang="en-US" sz="1800">
                <a:solidFill>
                  <a:srgbClr val="242021"/>
                </a:solidFill>
              </a:rPr>
              <a:t>2, . . . , </a:t>
            </a:r>
            <a:r>
              <a:rPr b="0" i="1" lang="en-US" sz="1800">
                <a:solidFill>
                  <a:srgbClr val="242021"/>
                </a:solidFill>
              </a:rPr>
              <a:t>cn </a:t>
            </a:r>
            <a:r>
              <a:rPr b="0" i="0" lang="en-US" sz="1800">
                <a:solidFill>
                  <a:srgbClr val="242021"/>
                </a:solidFill>
              </a:rPr>
              <a:t>are defined for a class </a:t>
            </a:r>
            <a:r>
              <a:rPr b="1" i="0" lang="en-US" sz="1800">
                <a:solidFill>
                  <a:srgbClr val="242021"/>
                </a:solidFill>
              </a:rPr>
              <a:t>C</a:t>
            </a:r>
            <a:r>
              <a:rPr b="0" i="0" lang="en-US" sz="1800">
                <a:solidFill>
                  <a:srgbClr val="242021"/>
                </a:solidFill>
              </a:rPr>
              <a:t>. </a:t>
            </a:r>
            <a:r>
              <a:rPr lang="en-US" sz="1800">
                <a:solidFill>
                  <a:srgbClr val="242021"/>
                </a:solidFill>
              </a:rPr>
              <a:t>F</a:t>
            </a:r>
            <a:r>
              <a:rPr b="0" i="0" lang="en-US" sz="1800">
                <a:solidFill>
                  <a:srgbClr val="242021"/>
                </a:solidFill>
              </a:rPr>
              <a:t>or </a:t>
            </a:r>
            <a:r>
              <a:rPr b="0" i="1" lang="en-US" sz="1800">
                <a:solidFill>
                  <a:srgbClr val="242021"/>
                </a:solidFill>
              </a:rPr>
              <a:t>i </a:t>
            </a:r>
            <a:r>
              <a:rPr lang="en-US" sz="1800">
                <a:solidFill>
                  <a:srgbClr val="242021"/>
                </a:solidFill>
              </a:rPr>
              <a:t>=</a:t>
            </a:r>
            <a:r>
              <a:rPr b="0" i="0" lang="en-US" sz="1800">
                <a:solidFill>
                  <a:srgbClr val="242021"/>
                </a:solidFill>
              </a:rPr>
              <a:t> 1 to </a:t>
            </a:r>
            <a:r>
              <a:rPr b="0" i="1" lang="en-US" sz="1800">
                <a:solidFill>
                  <a:srgbClr val="242021"/>
                </a:solidFill>
              </a:rPr>
              <a:t>n</a:t>
            </a:r>
            <a:r>
              <a:rPr b="0" i="0" lang="en-US" sz="1800">
                <a:solidFill>
                  <a:srgbClr val="242021"/>
                </a:solidFill>
              </a:rPr>
              <a:t>. </a:t>
            </a:r>
            <a:endParaRPr/>
          </a:p>
          <a:p>
            <a:pPr indent="-228600" lvl="0" marL="342900" rtl="0" algn="l">
              <a:lnSpc>
                <a:spcPct val="150000"/>
              </a:lnSpc>
              <a:spcBef>
                <a:spcPts val="360"/>
              </a:spcBef>
              <a:spcAft>
                <a:spcPts val="0"/>
              </a:spcAft>
              <a:buClr>
                <a:schemeClr val="dk1"/>
              </a:buClr>
              <a:buSzPts val="1800"/>
              <a:buNone/>
            </a:pPr>
            <a:r>
              <a:t/>
            </a:r>
            <a:endParaRPr b="0" i="0" sz="1800">
              <a:solidFill>
                <a:srgbClr val="242021"/>
              </a:solidFill>
            </a:endParaRPr>
          </a:p>
          <a:p>
            <a:pPr indent="-285750" lvl="1" marL="742950" rtl="0" algn="just">
              <a:lnSpc>
                <a:spcPct val="150000"/>
              </a:lnSpc>
              <a:spcBef>
                <a:spcPts val="360"/>
              </a:spcBef>
              <a:spcAft>
                <a:spcPts val="0"/>
              </a:spcAft>
              <a:buClr>
                <a:srgbClr val="242021"/>
              </a:buClr>
              <a:buSzPts val="1800"/>
              <a:buChar char="–"/>
            </a:pPr>
            <a:r>
              <a:rPr lang="en-US" sz="1800">
                <a:solidFill>
                  <a:srgbClr val="242021"/>
                </a:solidFill>
              </a:rPr>
              <a:t>T</a:t>
            </a:r>
            <a:r>
              <a:rPr b="0" i="0" lang="en-US" sz="1800">
                <a:solidFill>
                  <a:srgbClr val="242021"/>
                </a:solidFill>
              </a:rPr>
              <a:t>he larger the number of methods, the more complex is the inheritance tree (all subclasses inherit the methods of their parents). </a:t>
            </a:r>
            <a:endParaRPr/>
          </a:p>
          <a:p>
            <a:pPr indent="-285750" lvl="1" marL="742950" rtl="0" algn="just">
              <a:lnSpc>
                <a:spcPct val="150000"/>
              </a:lnSpc>
              <a:spcBef>
                <a:spcPts val="360"/>
              </a:spcBef>
              <a:spcAft>
                <a:spcPts val="0"/>
              </a:spcAft>
              <a:buClr>
                <a:srgbClr val="242021"/>
              </a:buClr>
              <a:buSzPts val="1800"/>
              <a:buChar char="–"/>
            </a:pPr>
            <a:r>
              <a:rPr lang="en-US" sz="1800">
                <a:solidFill>
                  <a:srgbClr val="242021"/>
                </a:solidFill>
              </a:rPr>
              <a:t>A</a:t>
            </a:r>
            <a:r>
              <a:rPr b="0" i="0" lang="en-US" sz="1800">
                <a:solidFill>
                  <a:srgbClr val="242021"/>
                </a:solidFill>
              </a:rPr>
              <a:t>s the number of methods grows for a given class, it is likely to become more and more application specific, thereby limiting potential reuse.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For all of these reasons, WMC should be kept as low as is reasonable.</a:t>
            </a:r>
            <a:endParaRPr/>
          </a:p>
          <a:p>
            <a:pPr indent="0" lvl="0" marL="0" rtl="0" algn="just">
              <a:lnSpc>
                <a:spcPct val="150000"/>
              </a:lnSpc>
              <a:spcBef>
                <a:spcPts val="360"/>
              </a:spcBef>
              <a:spcAft>
                <a:spcPts val="0"/>
              </a:spcAft>
              <a:buClr>
                <a:schemeClr val="dk1"/>
              </a:buClr>
              <a:buSzPts val="1100"/>
              <a:buNone/>
            </a:pPr>
            <a:r>
              <a:rPr lang="en-US" sz="1100"/>
              <a:t> </a:t>
            </a:r>
            <a:br>
              <a:rPr lang="en-US" sz="1100"/>
            </a:br>
            <a:br>
              <a:rPr lang="en-US" sz="1400"/>
            </a:br>
            <a:br>
              <a:rPr lang="en-US" sz="1800"/>
            </a:br>
            <a:endParaRPr sz="1800"/>
          </a:p>
          <a:p>
            <a:pPr indent="0" lvl="0" marL="0" rtl="0" algn="just">
              <a:lnSpc>
                <a:spcPct val="150000"/>
              </a:lnSpc>
              <a:spcBef>
                <a:spcPts val="360"/>
              </a:spcBef>
              <a:spcAft>
                <a:spcPts val="0"/>
              </a:spcAft>
              <a:buClr>
                <a:schemeClr val="dk1"/>
              </a:buClr>
              <a:buSzPts val="1800"/>
              <a:buNone/>
            </a:pPr>
            <a:br>
              <a:rPr lang="en-US" sz="1800"/>
            </a:br>
            <a:endParaRPr sz="1800"/>
          </a:p>
        </p:txBody>
      </p:sp>
      <p:pic>
        <p:nvPicPr>
          <p:cNvPr id="433" name="Google Shape;433;p53"/>
          <p:cNvPicPr preferRelativeResize="0"/>
          <p:nvPr/>
        </p:nvPicPr>
        <p:blipFill rotWithShape="1">
          <a:blip r:embed="rId3">
            <a:alphaModFix/>
          </a:blip>
          <a:srcRect b="0" l="0" r="0" t="0"/>
          <a:stretch/>
        </p:blipFill>
        <p:spPr>
          <a:xfrm>
            <a:off x="3556034" y="3568837"/>
            <a:ext cx="1605770" cy="60072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7" name="Shape 437"/>
        <p:cNvGrpSpPr/>
        <p:nvPr/>
      </p:nvGrpSpPr>
      <p:grpSpPr>
        <a:xfrm>
          <a:off x="0" y="0"/>
          <a:ext cx="0" cy="0"/>
          <a:chOff x="0" y="0"/>
          <a:chExt cx="0" cy="0"/>
        </a:xfrm>
      </p:grpSpPr>
      <p:sp>
        <p:nvSpPr>
          <p:cNvPr id="438" name="Google Shape;438;p5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39" name="Google Shape;439;p5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40" name="Google Shape;440;p5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3. Class Oriented Metrics – The CK Metrics Suite (contd.):</a:t>
            </a:r>
            <a:endParaRPr/>
          </a:p>
          <a:p>
            <a:pPr indent="-400050" lvl="0" marL="400050" rtl="0" algn="just">
              <a:lnSpc>
                <a:spcPct val="150000"/>
              </a:lnSpc>
              <a:spcBef>
                <a:spcPts val="360"/>
              </a:spcBef>
              <a:spcAft>
                <a:spcPts val="0"/>
              </a:spcAft>
              <a:buClr>
                <a:srgbClr val="3A30FA"/>
              </a:buClr>
              <a:buSzPts val="1800"/>
              <a:buFont typeface="Calibri"/>
              <a:buAutoNum type="romanLcPeriod" startAt="2"/>
            </a:pPr>
            <a:r>
              <a:rPr b="1" lang="en-US" sz="1800">
                <a:solidFill>
                  <a:srgbClr val="3A30FA"/>
                </a:solidFill>
              </a:rPr>
              <a:t>Depth of the inheritance tree (DIT) -</a:t>
            </a:r>
            <a:r>
              <a:rPr b="1" lang="en-US" sz="1100">
                <a:solidFill>
                  <a:srgbClr val="3A30FA"/>
                </a:solidFill>
              </a:rPr>
              <a:t> </a:t>
            </a:r>
            <a:r>
              <a:rPr b="0" i="0" lang="en-US" sz="1800">
                <a:solidFill>
                  <a:srgbClr val="242021"/>
                </a:solidFill>
              </a:rPr>
              <a:t>This metric is “</a:t>
            </a:r>
            <a:r>
              <a:rPr b="0" i="1" lang="en-US" sz="1800">
                <a:solidFill>
                  <a:srgbClr val="242021"/>
                </a:solidFill>
              </a:rPr>
              <a:t>the maximum length from the node to the root of the tree”</a:t>
            </a:r>
            <a:r>
              <a:rPr b="0" i="0" lang="en-US" sz="1800">
                <a:solidFill>
                  <a:srgbClr val="242021"/>
                </a:solidFill>
              </a:rPr>
              <a:t>. As DIT grows, it is likely that lower-level classes will inherit many methods. This leads to potential difficulties when attempting to predict the behavior of a class. A deep class hierarchy (DIT is large) also leads to greater design complexity. </a:t>
            </a:r>
            <a:endParaRPr/>
          </a:p>
          <a:p>
            <a:pPr indent="-400050" lvl="0" marL="400050" rtl="0" algn="just">
              <a:lnSpc>
                <a:spcPct val="150000"/>
              </a:lnSpc>
              <a:spcBef>
                <a:spcPts val="360"/>
              </a:spcBef>
              <a:spcAft>
                <a:spcPts val="0"/>
              </a:spcAft>
              <a:buClr>
                <a:schemeClr val="dk1"/>
              </a:buClr>
              <a:buSzPts val="1100"/>
              <a:buFont typeface="Calibri"/>
              <a:buAutoNum type="romanLcPeriod" startAt="2"/>
            </a:pPr>
            <a:br>
              <a:rPr lang="en-US" sz="1100"/>
            </a:br>
            <a:br>
              <a:rPr lang="en-US" sz="1400"/>
            </a:br>
            <a:br>
              <a:rPr lang="en-US" sz="1800"/>
            </a:br>
            <a:r>
              <a:rPr lang="en-US" sz="1800"/>
              <a:t>						</a:t>
            </a:r>
            <a:endParaRPr/>
          </a:p>
          <a:p>
            <a:pPr indent="0" lvl="1" marL="457200" rtl="0" algn="just">
              <a:lnSpc>
                <a:spcPct val="150000"/>
              </a:lnSpc>
              <a:spcBef>
                <a:spcPts val="360"/>
              </a:spcBef>
              <a:spcAft>
                <a:spcPts val="0"/>
              </a:spcAft>
              <a:buClr>
                <a:schemeClr val="dk1"/>
              </a:buClr>
              <a:buSzPts val="1800"/>
              <a:buNone/>
            </a:pPr>
            <a:r>
              <a:rPr lang="en-US" sz="1800"/>
              <a:t>						   </a:t>
            </a:r>
            <a:endParaRPr sz="1800"/>
          </a:p>
          <a:p>
            <a:pPr indent="0" lvl="1" marL="457200" rtl="0" algn="just">
              <a:lnSpc>
                <a:spcPct val="150000"/>
              </a:lnSpc>
              <a:spcBef>
                <a:spcPts val="360"/>
              </a:spcBef>
              <a:spcAft>
                <a:spcPts val="0"/>
              </a:spcAft>
              <a:buClr>
                <a:schemeClr val="dk1"/>
              </a:buClr>
              <a:buSzPts val="1800"/>
              <a:buNone/>
            </a:pPr>
            <a:r>
              <a:t/>
            </a:r>
            <a:endParaRPr sz="1800"/>
          </a:p>
          <a:p>
            <a:pPr indent="457200" lvl="1" marL="1828800" rtl="0" algn="just">
              <a:lnSpc>
                <a:spcPct val="150000"/>
              </a:lnSpc>
              <a:spcBef>
                <a:spcPts val="360"/>
              </a:spcBef>
              <a:spcAft>
                <a:spcPts val="0"/>
              </a:spcAft>
              <a:buClr>
                <a:schemeClr val="dk1"/>
              </a:buClr>
              <a:buSzPts val="1800"/>
              <a:buNone/>
            </a:pPr>
            <a:r>
              <a:rPr lang="en-US" sz="1800"/>
              <a:t>        Figure 4: A class hierarchy</a:t>
            </a:r>
            <a:endParaRPr/>
          </a:p>
          <a:p>
            <a:pPr indent="0" lvl="0" marL="0" rtl="0" algn="just">
              <a:lnSpc>
                <a:spcPct val="150000"/>
              </a:lnSpc>
              <a:spcBef>
                <a:spcPts val="360"/>
              </a:spcBef>
              <a:spcAft>
                <a:spcPts val="0"/>
              </a:spcAft>
              <a:buClr>
                <a:schemeClr val="dk1"/>
              </a:buClr>
              <a:buSzPts val="1800"/>
              <a:buNone/>
            </a:pPr>
            <a:br>
              <a:rPr lang="en-US" sz="1800"/>
            </a:br>
            <a:endParaRPr sz="1800"/>
          </a:p>
        </p:txBody>
      </p:sp>
      <p:pic>
        <p:nvPicPr>
          <p:cNvPr id="441" name="Google Shape;441;p54"/>
          <p:cNvPicPr preferRelativeResize="0"/>
          <p:nvPr/>
        </p:nvPicPr>
        <p:blipFill rotWithShape="1">
          <a:blip r:embed="rId3">
            <a:alphaModFix/>
          </a:blip>
          <a:srcRect b="0" l="0" r="0" t="0"/>
          <a:stretch/>
        </p:blipFill>
        <p:spPr>
          <a:xfrm>
            <a:off x="1413225" y="3715625"/>
            <a:ext cx="5663750" cy="19202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5" name="Shape 445"/>
        <p:cNvGrpSpPr/>
        <p:nvPr/>
      </p:nvGrpSpPr>
      <p:grpSpPr>
        <a:xfrm>
          <a:off x="0" y="0"/>
          <a:ext cx="0" cy="0"/>
          <a:chOff x="0" y="0"/>
          <a:chExt cx="0" cy="0"/>
        </a:xfrm>
      </p:grpSpPr>
      <p:sp>
        <p:nvSpPr>
          <p:cNvPr id="446" name="Google Shape;446;p5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47" name="Google Shape;447;p5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48" name="Google Shape;448;p5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3. Class Oriented Metrics – The CK Metrics Suite (contd.):</a:t>
            </a:r>
            <a:endParaRPr/>
          </a:p>
          <a:p>
            <a:pPr indent="-400050" lvl="0" marL="400050" rtl="0" algn="just">
              <a:lnSpc>
                <a:spcPct val="150000"/>
              </a:lnSpc>
              <a:spcBef>
                <a:spcPts val="360"/>
              </a:spcBef>
              <a:spcAft>
                <a:spcPts val="0"/>
              </a:spcAft>
              <a:buClr>
                <a:srgbClr val="3A30FA"/>
              </a:buClr>
              <a:buSzPts val="1800"/>
              <a:buFont typeface="Calibri"/>
              <a:buAutoNum type="romanLcPeriod" startAt="3"/>
            </a:pPr>
            <a:r>
              <a:rPr b="1" lang="en-US" sz="1800">
                <a:solidFill>
                  <a:srgbClr val="3A30FA"/>
                </a:solidFill>
              </a:rPr>
              <a:t>Number of children (NOC) - </a:t>
            </a:r>
            <a:r>
              <a:rPr b="0" i="0" lang="en-US" sz="1800">
                <a:solidFill>
                  <a:srgbClr val="242021"/>
                </a:solidFill>
              </a:rPr>
              <a:t>The subclasses that are immediately subordinate to a class in the class hierarchy are termed its children. Referring to Figure 2, class </a:t>
            </a:r>
            <a:r>
              <a:rPr b="1" i="0" lang="en-US" sz="1800">
                <a:solidFill>
                  <a:srgbClr val="242021"/>
                </a:solidFill>
              </a:rPr>
              <a:t>C2 </a:t>
            </a:r>
            <a:r>
              <a:rPr b="0" i="0" lang="en-US" sz="1800">
                <a:solidFill>
                  <a:srgbClr val="242021"/>
                </a:solidFill>
              </a:rPr>
              <a:t>has three children—subclasses </a:t>
            </a:r>
            <a:r>
              <a:rPr b="1" i="0" lang="en-US" sz="1800">
                <a:solidFill>
                  <a:srgbClr val="242021"/>
                </a:solidFill>
              </a:rPr>
              <a:t>C21</a:t>
            </a:r>
            <a:r>
              <a:rPr b="0" i="0" lang="en-US" sz="1800">
                <a:solidFill>
                  <a:srgbClr val="242021"/>
                </a:solidFill>
              </a:rPr>
              <a:t>, </a:t>
            </a:r>
            <a:r>
              <a:rPr b="1" i="0" lang="en-US" sz="1800">
                <a:solidFill>
                  <a:srgbClr val="242021"/>
                </a:solidFill>
              </a:rPr>
              <a:t>C22</a:t>
            </a:r>
            <a:r>
              <a:rPr b="0" i="0" lang="en-US" sz="1800">
                <a:solidFill>
                  <a:srgbClr val="242021"/>
                </a:solidFill>
              </a:rPr>
              <a:t>, and </a:t>
            </a:r>
            <a:r>
              <a:rPr b="1" i="0" lang="en-US" sz="1800">
                <a:solidFill>
                  <a:srgbClr val="242021"/>
                </a:solidFill>
              </a:rPr>
              <a:t>C23</a:t>
            </a:r>
            <a:r>
              <a:rPr b="0" i="0" lang="en-US" sz="1800">
                <a:solidFill>
                  <a:srgbClr val="242021"/>
                </a:solidFill>
              </a:rPr>
              <a:t>. As the number of children grows, reuse increases, but also, as NOC increases, the amount of testing will also increase.</a:t>
            </a:r>
            <a:endParaRPr/>
          </a:p>
          <a:p>
            <a:pPr indent="0" lvl="0" marL="0" rtl="0" algn="just">
              <a:lnSpc>
                <a:spcPct val="150000"/>
              </a:lnSpc>
              <a:spcBef>
                <a:spcPts val="360"/>
              </a:spcBef>
              <a:spcAft>
                <a:spcPts val="0"/>
              </a:spcAft>
              <a:buClr>
                <a:schemeClr val="dk1"/>
              </a:buClr>
              <a:buSzPts val="1800"/>
              <a:buNone/>
            </a:pPr>
            <a:r>
              <a:rPr lang="en-US" sz="1800"/>
              <a:t> </a:t>
            </a:r>
            <a:br>
              <a:rPr lang="en-US" sz="1800"/>
            </a:br>
            <a:br>
              <a:rPr lang="en-US" sz="1800"/>
            </a:br>
            <a:br>
              <a:rPr lang="en-US" sz="1800"/>
            </a:br>
            <a:br>
              <a:rPr lang="en-US" sz="1800"/>
            </a:br>
            <a:r>
              <a:rPr lang="en-US" sz="1800"/>
              <a:t>						</a:t>
            </a:r>
            <a:endParaRPr/>
          </a:p>
          <a:p>
            <a:pPr indent="0" lvl="1" marL="457200" rtl="0" algn="just">
              <a:lnSpc>
                <a:spcPct val="150000"/>
              </a:lnSpc>
              <a:spcBef>
                <a:spcPts val="360"/>
              </a:spcBef>
              <a:spcAft>
                <a:spcPts val="0"/>
              </a:spcAft>
              <a:buClr>
                <a:schemeClr val="dk1"/>
              </a:buClr>
              <a:buSzPts val="1800"/>
              <a:buNone/>
            </a:pPr>
            <a:r>
              <a:rPr lang="en-US" sz="1800"/>
              <a:t>						   </a:t>
            </a:r>
            <a:endParaRPr sz="1800"/>
          </a:p>
          <a:p>
            <a:pPr indent="457200" lvl="1" marL="2286000" rtl="0" algn="just">
              <a:lnSpc>
                <a:spcPct val="150000"/>
              </a:lnSpc>
              <a:spcBef>
                <a:spcPts val="360"/>
              </a:spcBef>
              <a:spcAft>
                <a:spcPts val="0"/>
              </a:spcAft>
              <a:buClr>
                <a:schemeClr val="dk1"/>
              </a:buClr>
              <a:buSzPts val="1800"/>
              <a:buNone/>
            </a:pPr>
            <a:r>
              <a:rPr lang="en-US" sz="1800"/>
              <a:t>Figure 5: A class hierarchy</a:t>
            </a:r>
            <a:endParaRPr/>
          </a:p>
          <a:p>
            <a:pPr indent="0" lvl="0" marL="0" rtl="0" algn="just">
              <a:lnSpc>
                <a:spcPct val="150000"/>
              </a:lnSpc>
              <a:spcBef>
                <a:spcPts val="360"/>
              </a:spcBef>
              <a:spcAft>
                <a:spcPts val="0"/>
              </a:spcAft>
              <a:buClr>
                <a:schemeClr val="dk1"/>
              </a:buClr>
              <a:buSzPts val="1800"/>
              <a:buNone/>
            </a:pPr>
            <a:br>
              <a:rPr lang="en-US" sz="1800"/>
            </a:br>
            <a:endParaRPr sz="1800"/>
          </a:p>
        </p:txBody>
      </p:sp>
      <p:pic>
        <p:nvPicPr>
          <p:cNvPr id="449" name="Google Shape;449;p55"/>
          <p:cNvPicPr preferRelativeResize="0"/>
          <p:nvPr/>
        </p:nvPicPr>
        <p:blipFill rotWithShape="1">
          <a:blip r:embed="rId3">
            <a:alphaModFix/>
          </a:blip>
          <a:srcRect b="0" l="0" r="0" t="0"/>
          <a:stretch/>
        </p:blipFill>
        <p:spPr>
          <a:xfrm>
            <a:off x="2196975" y="3276600"/>
            <a:ext cx="4620125" cy="218600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3" name="Shape 453"/>
        <p:cNvGrpSpPr/>
        <p:nvPr/>
      </p:nvGrpSpPr>
      <p:grpSpPr>
        <a:xfrm>
          <a:off x="0" y="0"/>
          <a:ext cx="0" cy="0"/>
          <a:chOff x="0" y="0"/>
          <a:chExt cx="0" cy="0"/>
        </a:xfrm>
      </p:grpSpPr>
      <p:sp>
        <p:nvSpPr>
          <p:cNvPr id="454" name="Google Shape;454;p5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55" name="Google Shape;455;p5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56" name="Google Shape;456;p56"/>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3. Class Oriented Metrics – The CK Metrics Suite (contd.):</a:t>
            </a:r>
            <a:endParaRPr/>
          </a:p>
          <a:p>
            <a:pPr indent="-400050" lvl="0" marL="400050" rtl="0" algn="just">
              <a:lnSpc>
                <a:spcPct val="150000"/>
              </a:lnSpc>
              <a:spcBef>
                <a:spcPts val="360"/>
              </a:spcBef>
              <a:spcAft>
                <a:spcPts val="0"/>
              </a:spcAft>
              <a:buClr>
                <a:srgbClr val="3A30FA"/>
              </a:buClr>
              <a:buSzPts val="1800"/>
              <a:buFont typeface="Calibri"/>
              <a:buAutoNum type="romanLcPeriod" startAt="4"/>
            </a:pPr>
            <a:r>
              <a:rPr b="1" lang="en-US" sz="1800">
                <a:solidFill>
                  <a:srgbClr val="3A30FA"/>
                </a:solidFill>
              </a:rPr>
              <a:t>Coupling between object classes (CBO) - </a:t>
            </a:r>
            <a:r>
              <a:rPr b="0" i="0" lang="en-US" sz="1800">
                <a:solidFill>
                  <a:srgbClr val="242021"/>
                </a:solidFill>
              </a:rPr>
              <a:t>CBO is the number of collaborations listed for a class. As CBO increases, it is likely that the reusability of a class will decrease. High values of CBO also complicate modifications and the testing that ensues when modifications are made. In general, the CBO values for each class should be kept as low as is reasonable.</a:t>
            </a:r>
            <a:r>
              <a:rPr lang="en-US" sz="1800"/>
              <a:t> </a:t>
            </a:r>
            <a:endParaRPr/>
          </a:p>
          <a:p>
            <a:pPr indent="0" lvl="0" marL="0" rtl="0" algn="just">
              <a:lnSpc>
                <a:spcPct val="150000"/>
              </a:lnSpc>
              <a:spcBef>
                <a:spcPts val="240"/>
              </a:spcBef>
              <a:spcAft>
                <a:spcPts val="0"/>
              </a:spcAft>
              <a:buClr>
                <a:schemeClr val="dk1"/>
              </a:buClr>
              <a:buSzPts val="1200"/>
              <a:buNone/>
            </a:pPr>
            <a:r>
              <a:t/>
            </a:r>
            <a:endParaRPr sz="1200"/>
          </a:p>
          <a:p>
            <a:pPr indent="-400050" lvl="0" marL="400050" rtl="0" algn="just">
              <a:lnSpc>
                <a:spcPct val="150000"/>
              </a:lnSpc>
              <a:spcBef>
                <a:spcPts val="360"/>
              </a:spcBef>
              <a:spcAft>
                <a:spcPts val="0"/>
              </a:spcAft>
              <a:buClr>
                <a:srgbClr val="3A30FA"/>
              </a:buClr>
              <a:buSzPts val="1800"/>
              <a:buFont typeface="Calibri"/>
              <a:buAutoNum type="romanLcPeriod" startAt="4"/>
            </a:pPr>
            <a:r>
              <a:rPr b="1" lang="en-US" sz="1800">
                <a:solidFill>
                  <a:srgbClr val="3A30FA"/>
                </a:solidFill>
              </a:rPr>
              <a:t>Response for a class (RFC) - </a:t>
            </a:r>
            <a:r>
              <a:rPr b="0" i="0" lang="en-US" sz="1800">
                <a:solidFill>
                  <a:srgbClr val="242021"/>
                </a:solidFill>
              </a:rPr>
              <a:t>The response set of a class is </a:t>
            </a:r>
            <a:r>
              <a:rPr b="0" i="1" lang="en-US" sz="1800">
                <a:solidFill>
                  <a:srgbClr val="242021"/>
                </a:solidFill>
              </a:rPr>
              <a:t>“a set of methods that can potentially be executed in response to a message received by an object of that class.” </a:t>
            </a:r>
            <a:r>
              <a:rPr b="0" i="0" lang="en-US" sz="1800">
                <a:solidFill>
                  <a:srgbClr val="242021"/>
                </a:solidFill>
              </a:rPr>
              <a:t>As RFC increases, the effort required for testing also increases because the test sequence grows. It also follows that, as RFC increases, the overall design complexity of the class increases.</a:t>
            </a:r>
            <a:r>
              <a:rPr lang="en-US" sz="1800"/>
              <a:t> </a:t>
            </a:r>
            <a:endParaRPr/>
          </a:p>
          <a:p>
            <a:pPr indent="0" lvl="0" marL="0" rtl="0" algn="just">
              <a:lnSpc>
                <a:spcPct val="150000"/>
              </a:lnSpc>
              <a:spcBef>
                <a:spcPts val="360"/>
              </a:spcBef>
              <a:spcAft>
                <a:spcPts val="0"/>
              </a:spcAft>
              <a:buClr>
                <a:schemeClr val="dk1"/>
              </a:buClr>
              <a:buSzPts val="1800"/>
              <a:buNone/>
            </a:pPr>
            <a:r>
              <a:rPr lang="en-US" sz="1800"/>
              <a:t>			</a:t>
            </a:r>
            <a:br>
              <a:rPr lang="en-US" sz="1800"/>
            </a:br>
            <a:endParaRPr sz="18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0" name="Shape 460"/>
        <p:cNvGrpSpPr/>
        <p:nvPr/>
      </p:nvGrpSpPr>
      <p:grpSpPr>
        <a:xfrm>
          <a:off x="0" y="0"/>
          <a:ext cx="0" cy="0"/>
          <a:chOff x="0" y="0"/>
          <a:chExt cx="0" cy="0"/>
        </a:xfrm>
      </p:grpSpPr>
      <p:sp>
        <p:nvSpPr>
          <p:cNvPr id="461" name="Google Shape;461;p5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62" name="Google Shape;462;p5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63" name="Google Shape;463;p5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3. Class Oriented Metrics – The CK Metrics Suite (contd.):</a:t>
            </a:r>
            <a:endParaRPr/>
          </a:p>
          <a:p>
            <a:pPr indent="-400050" lvl="0" marL="400050" rtl="0" algn="just">
              <a:lnSpc>
                <a:spcPct val="150000"/>
              </a:lnSpc>
              <a:spcBef>
                <a:spcPts val="360"/>
              </a:spcBef>
              <a:spcAft>
                <a:spcPts val="0"/>
              </a:spcAft>
              <a:buClr>
                <a:srgbClr val="3A30FA"/>
              </a:buClr>
              <a:buSzPts val="1800"/>
              <a:buFont typeface="Calibri"/>
              <a:buAutoNum type="romanLcPeriod" startAt="6"/>
            </a:pPr>
            <a:r>
              <a:rPr b="1" lang="en-US" sz="1800">
                <a:solidFill>
                  <a:srgbClr val="3A30FA"/>
                </a:solidFill>
              </a:rPr>
              <a:t>Lack of cohesion in methods (LCOM). </a:t>
            </a:r>
            <a:r>
              <a:rPr b="0" i="0" lang="en-US" sz="1800">
                <a:solidFill>
                  <a:srgbClr val="242021"/>
                </a:solidFill>
              </a:rPr>
              <a:t>Each method within a class </a:t>
            </a:r>
            <a:r>
              <a:rPr b="1" i="0" lang="en-US" sz="1800">
                <a:solidFill>
                  <a:srgbClr val="242021"/>
                </a:solidFill>
              </a:rPr>
              <a:t>C </a:t>
            </a:r>
            <a:r>
              <a:rPr b="0" i="0" lang="en-US" sz="1800">
                <a:solidFill>
                  <a:srgbClr val="242021"/>
                </a:solidFill>
              </a:rPr>
              <a:t>accesses one or more attributes (also called instance variables). LCOM is the number of methods that access one or more of the same attributes. If no methods access the same attributes, then LCOM = 0. </a:t>
            </a:r>
            <a:endParaRPr/>
          </a:p>
          <a:p>
            <a:pPr indent="-285750" lvl="1" marL="685800" rtl="0" algn="just">
              <a:lnSpc>
                <a:spcPct val="150000"/>
              </a:lnSpc>
              <a:spcBef>
                <a:spcPts val="360"/>
              </a:spcBef>
              <a:spcAft>
                <a:spcPts val="0"/>
              </a:spcAft>
              <a:buClr>
                <a:srgbClr val="242021"/>
              </a:buClr>
              <a:buSzPts val="1800"/>
              <a:buFont typeface="Noto Sans Symbols"/>
              <a:buChar char="✔"/>
            </a:pPr>
            <a:r>
              <a:rPr b="0" i="0" lang="en-US" sz="1800">
                <a:solidFill>
                  <a:srgbClr val="242021"/>
                </a:solidFill>
              </a:rPr>
              <a:t>To illustrate the case where LCOM ≠ 0, consider a class with six methods. Four of the methods have one or more attributes in common (i.e., they access common attributes). Therefore, LCOM = 4. </a:t>
            </a:r>
            <a:endParaRPr/>
          </a:p>
          <a:p>
            <a:pPr indent="-285750" lvl="1" marL="685800" rtl="0" algn="just">
              <a:lnSpc>
                <a:spcPct val="150000"/>
              </a:lnSpc>
              <a:spcBef>
                <a:spcPts val="360"/>
              </a:spcBef>
              <a:spcAft>
                <a:spcPts val="0"/>
              </a:spcAft>
              <a:buClr>
                <a:srgbClr val="242021"/>
              </a:buClr>
              <a:buSzPts val="1800"/>
              <a:buFont typeface="Noto Sans Symbols"/>
              <a:buChar char="✔"/>
            </a:pPr>
            <a:r>
              <a:rPr b="0" i="0" lang="en-US" sz="1800">
                <a:solidFill>
                  <a:srgbClr val="242021"/>
                </a:solidFill>
              </a:rPr>
              <a:t>If LCOM is high, methods may be coupled to one another via attributes. This increases the complexity of the class design. </a:t>
            </a:r>
            <a:endParaRPr/>
          </a:p>
          <a:p>
            <a:pPr indent="-285750" lvl="1" marL="685800" rtl="0" algn="just">
              <a:lnSpc>
                <a:spcPct val="150000"/>
              </a:lnSpc>
              <a:spcBef>
                <a:spcPts val="360"/>
              </a:spcBef>
              <a:spcAft>
                <a:spcPts val="0"/>
              </a:spcAft>
              <a:buClr>
                <a:srgbClr val="242021"/>
              </a:buClr>
              <a:buSzPts val="1800"/>
              <a:buFont typeface="Noto Sans Symbols"/>
              <a:buChar char="✔"/>
            </a:pPr>
            <a:r>
              <a:rPr lang="en-US" sz="1800">
                <a:solidFill>
                  <a:srgbClr val="242021"/>
                </a:solidFill>
              </a:rPr>
              <a:t>I</a:t>
            </a:r>
            <a:r>
              <a:rPr b="0" i="0" lang="en-US" sz="1800">
                <a:solidFill>
                  <a:srgbClr val="242021"/>
                </a:solidFill>
              </a:rPr>
              <a:t>t is desirable to keep cohesion high, that is, keep LCOM low.</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7" name="Shape 467"/>
        <p:cNvGrpSpPr/>
        <p:nvPr/>
      </p:nvGrpSpPr>
      <p:grpSpPr>
        <a:xfrm>
          <a:off x="0" y="0"/>
          <a:ext cx="0" cy="0"/>
          <a:chOff x="0" y="0"/>
          <a:chExt cx="0" cy="0"/>
        </a:xfrm>
      </p:grpSpPr>
      <p:sp>
        <p:nvSpPr>
          <p:cNvPr id="468" name="Google Shape;468;p5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69" name="Google Shape;469;p5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70" name="Google Shape;470;p5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C00000"/>
              </a:buClr>
              <a:buSzPts val="2000"/>
              <a:buNone/>
            </a:pPr>
            <a:r>
              <a:rPr b="1" lang="en-US" sz="2000">
                <a:solidFill>
                  <a:srgbClr val="C00000"/>
                </a:solidFill>
              </a:rPr>
              <a:t>4. Class Oriented Metrics – The MOOD Metrics Suite:</a:t>
            </a:r>
            <a:endParaRPr/>
          </a:p>
          <a:p>
            <a:pPr indent="0" lvl="0" marL="0" rtl="0" algn="just">
              <a:lnSpc>
                <a:spcPct val="100000"/>
              </a:lnSpc>
              <a:spcBef>
                <a:spcPts val="240"/>
              </a:spcBef>
              <a:spcAft>
                <a:spcPts val="0"/>
              </a:spcAft>
              <a:buClr>
                <a:schemeClr val="dk1"/>
              </a:buClr>
              <a:buSzPts val="1200"/>
              <a:buNone/>
            </a:pPr>
            <a:r>
              <a:t/>
            </a:r>
            <a:endParaRPr b="1" sz="1200">
              <a:solidFill>
                <a:srgbClr val="C00000"/>
              </a:solidFill>
            </a:endParaRPr>
          </a:p>
          <a:p>
            <a:pPr indent="-400050" lvl="0" marL="400050" rtl="0" algn="just">
              <a:lnSpc>
                <a:spcPct val="100000"/>
              </a:lnSpc>
              <a:spcBef>
                <a:spcPts val="360"/>
              </a:spcBef>
              <a:spcAft>
                <a:spcPts val="0"/>
              </a:spcAft>
              <a:buClr>
                <a:srgbClr val="3A30FA"/>
              </a:buClr>
              <a:buSzPts val="1800"/>
              <a:buFont typeface="Calibri"/>
              <a:buAutoNum type="romanLcPeriod"/>
            </a:pPr>
            <a:r>
              <a:rPr b="1" lang="en-US" sz="1800">
                <a:solidFill>
                  <a:srgbClr val="3A30FA"/>
                </a:solidFill>
              </a:rPr>
              <a:t>Method Inheritance Factor (MIF) - </a:t>
            </a:r>
            <a:r>
              <a:rPr b="0" i="0" lang="en-US" sz="1800">
                <a:solidFill>
                  <a:srgbClr val="242021"/>
                </a:solidFill>
              </a:rPr>
              <a:t>The degree to which the class architecture of an OO system makes use of inheritance for both methods (operations) and attributes is defined as</a:t>
            </a:r>
            <a:endParaRPr/>
          </a:p>
          <a:p>
            <a:pPr indent="0" lvl="0" marL="0" rtl="0" algn="just">
              <a:lnSpc>
                <a:spcPct val="100000"/>
              </a:lnSpc>
              <a:spcBef>
                <a:spcPts val="360"/>
              </a:spcBef>
              <a:spcAft>
                <a:spcPts val="0"/>
              </a:spcAft>
              <a:buClr>
                <a:schemeClr val="dk1"/>
              </a:buClr>
              <a:buSzPts val="1800"/>
              <a:buNone/>
            </a:pPr>
            <a:r>
              <a:rPr lang="en-US" sz="1800"/>
              <a:t> </a:t>
            </a:r>
            <a:br>
              <a:rPr lang="en-US" sz="1800"/>
            </a:br>
            <a:endParaRPr sz="1800"/>
          </a:p>
          <a:p>
            <a:pPr indent="0" lvl="0" marL="0" rtl="0" algn="just">
              <a:lnSpc>
                <a:spcPct val="100000"/>
              </a:lnSpc>
              <a:spcBef>
                <a:spcPts val="360"/>
              </a:spcBef>
              <a:spcAft>
                <a:spcPts val="0"/>
              </a:spcAft>
              <a:buClr>
                <a:srgbClr val="242021"/>
              </a:buClr>
              <a:buSzPts val="1800"/>
              <a:buNone/>
            </a:pPr>
            <a:r>
              <a:rPr b="0" i="0" lang="en-US" sz="1800">
                <a:solidFill>
                  <a:srgbClr val="242021"/>
                </a:solidFill>
              </a:rPr>
              <a:t>where the summation occurs over </a:t>
            </a:r>
            <a:r>
              <a:rPr b="0" i="1" lang="en-US" sz="1800">
                <a:solidFill>
                  <a:srgbClr val="242021"/>
                </a:solidFill>
              </a:rPr>
              <a:t>i </a:t>
            </a:r>
            <a:r>
              <a:rPr lang="en-US" sz="1800">
                <a:solidFill>
                  <a:srgbClr val="242021"/>
                </a:solidFill>
              </a:rPr>
              <a:t>=</a:t>
            </a:r>
            <a:r>
              <a:rPr b="0" i="0" lang="en-US" sz="1800">
                <a:solidFill>
                  <a:srgbClr val="242021"/>
                </a:solidFill>
              </a:rPr>
              <a:t> 1 to TC. TC is defined as the total number of classes in the architecture, </a:t>
            </a:r>
            <a:r>
              <a:rPr b="0" i="1" lang="en-US" sz="1800">
                <a:solidFill>
                  <a:srgbClr val="242021"/>
                </a:solidFill>
              </a:rPr>
              <a:t>Ci </a:t>
            </a:r>
            <a:r>
              <a:rPr b="0" i="0" lang="en-US" sz="1800">
                <a:solidFill>
                  <a:srgbClr val="242021"/>
                </a:solidFill>
              </a:rPr>
              <a:t>is a class within the architecture, and</a:t>
            </a:r>
            <a:endParaRPr/>
          </a:p>
          <a:p>
            <a:pPr indent="0" lvl="0" marL="0" rtl="0" algn="just">
              <a:lnSpc>
                <a:spcPct val="100000"/>
              </a:lnSpc>
              <a:spcBef>
                <a:spcPts val="360"/>
              </a:spcBef>
              <a:spcAft>
                <a:spcPts val="0"/>
              </a:spcAft>
              <a:buClr>
                <a:schemeClr val="dk1"/>
              </a:buClr>
              <a:buSzPts val="1800"/>
              <a:buNone/>
            </a:pPr>
            <a:r>
              <a:t/>
            </a:r>
            <a:endParaRPr sz="1800"/>
          </a:p>
          <a:p>
            <a:pPr indent="0" lvl="0" marL="0" rtl="0" algn="just">
              <a:lnSpc>
                <a:spcPct val="100000"/>
              </a:lnSpc>
              <a:spcBef>
                <a:spcPts val="360"/>
              </a:spcBef>
              <a:spcAft>
                <a:spcPts val="0"/>
              </a:spcAft>
              <a:buClr>
                <a:schemeClr val="dk1"/>
              </a:buClr>
              <a:buSzPts val="1800"/>
              <a:buNone/>
            </a:pPr>
            <a:r>
              <a:t/>
            </a:r>
            <a:endParaRPr sz="1800"/>
          </a:p>
          <a:p>
            <a:pPr indent="0" lvl="0" marL="0" rtl="0" algn="just">
              <a:lnSpc>
                <a:spcPct val="100000"/>
              </a:lnSpc>
              <a:spcBef>
                <a:spcPts val="360"/>
              </a:spcBef>
              <a:spcAft>
                <a:spcPts val="0"/>
              </a:spcAft>
              <a:buClr>
                <a:srgbClr val="242021"/>
              </a:buClr>
              <a:buSzPts val="1800"/>
              <a:buNone/>
            </a:pPr>
            <a:r>
              <a:rPr b="0" i="0" lang="en-US" sz="1800">
                <a:solidFill>
                  <a:srgbClr val="242021"/>
                </a:solidFill>
              </a:rPr>
              <a:t>Where, </a:t>
            </a:r>
            <a:endParaRPr/>
          </a:p>
          <a:p>
            <a:pPr indent="-285750" lvl="1" marL="742950" rtl="0" algn="just">
              <a:lnSpc>
                <a:spcPct val="100000"/>
              </a:lnSpc>
              <a:spcBef>
                <a:spcPts val="360"/>
              </a:spcBef>
              <a:spcAft>
                <a:spcPts val="0"/>
              </a:spcAft>
              <a:buClr>
                <a:srgbClr val="242021"/>
              </a:buClr>
              <a:buSzPts val="1800"/>
              <a:buChar char="–"/>
            </a:pPr>
            <a:r>
              <a:rPr b="0" i="1" lang="en-US" sz="1800">
                <a:solidFill>
                  <a:srgbClr val="242021"/>
                </a:solidFill>
              </a:rPr>
              <a:t>Ma</a:t>
            </a:r>
            <a:r>
              <a:rPr b="0" i="0" lang="en-US" sz="1800">
                <a:solidFill>
                  <a:srgbClr val="242021"/>
                </a:solidFill>
              </a:rPr>
              <a:t>(</a:t>
            </a:r>
            <a:r>
              <a:rPr b="0" i="1" lang="en-US" sz="1800">
                <a:solidFill>
                  <a:srgbClr val="242021"/>
                </a:solidFill>
              </a:rPr>
              <a:t>Ci</a:t>
            </a:r>
            <a:r>
              <a:rPr b="0" i="0" lang="en-US" sz="1800">
                <a:solidFill>
                  <a:srgbClr val="242021"/>
                </a:solidFill>
              </a:rPr>
              <a:t>) is number of methods that can be invoked in association with </a:t>
            </a:r>
            <a:r>
              <a:rPr b="0" i="1" lang="en-US" sz="1800">
                <a:solidFill>
                  <a:srgbClr val="242021"/>
                </a:solidFill>
              </a:rPr>
              <a:t>Ci </a:t>
            </a:r>
            <a:endParaRPr/>
          </a:p>
          <a:p>
            <a:pPr indent="-285750" lvl="1" marL="742950" rtl="0" algn="just">
              <a:lnSpc>
                <a:spcPct val="100000"/>
              </a:lnSpc>
              <a:spcBef>
                <a:spcPts val="360"/>
              </a:spcBef>
              <a:spcAft>
                <a:spcPts val="0"/>
              </a:spcAft>
              <a:buClr>
                <a:srgbClr val="242021"/>
              </a:buClr>
              <a:buSzPts val="1800"/>
              <a:buChar char="–"/>
            </a:pPr>
            <a:r>
              <a:rPr b="0" i="1" lang="en-US" sz="1800">
                <a:solidFill>
                  <a:srgbClr val="242021"/>
                </a:solidFill>
              </a:rPr>
              <a:t>Md</a:t>
            </a:r>
            <a:r>
              <a:rPr b="0" i="0" lang="en-US" sz="1800">
                <a:solidFill>
                  <a:srgbClr val="242021"/>
                </a:solidFill>
              </a:rPr>
              <a:t>(</a:t>
            </a:r>
            <a:r>
              <a:rPr b="0" i="1" lang="en-US" sz="1800">
                <a:solidFill>
                  <a:srgbClr val="242021"/>
                </a:solidFill>
              </a:rPr>
              <a:t>Ci</a:t>
            </a:r>
            <a:r>
              <a:rPr b="0" i="0" lang="en-US" sz="1800">
                <a:solidFill>
                  <a:srgbClr val="242021"/>
                </a:solidFill>
              </a:rPr>
              <a:t>) is number of methods declared in the class </a:t>
            </a:r>
            <a:r>
              <a:rPr b="0" i="1" lang="en-US" sz="1800">
                <a:solidFill>
                  <a:srgbClr val="242021"/>
                </a:solidFill>
              </a:rPr>
              <a:t>Ci</a:t>
            </a:r>
            <a:endParaRPr/>
          </a:p>
          <a:p>
            <a:pPr indent="-285750" lvl="1" marL="742950" rtl="0" algn="just">
              <a:lnSpc>
                <a:spcPct val="100000"/>
              </a:lnSpc>
              <a:spcBef>
                <a:spcPts val="360"/>
              </a:spcBef>
              <a:spcAft>
                <a:spcPts val="0"/>
              </a:spcAft>
              <a:buClr>
                <a:srgbClr val="242021"/>
              </a:buClr>
              <a:buSzPts val="1800"/>
              <a:buChar char="–"/>
            </a:pPr>
            <a:r>
              <a:rPr b="0" i="1" lang="en-US" sz="1800">
                <a:solidFill>
                  <a:srgbClr val="242021"/>
                </a:solidFill>
              </a:rPr>
              <a:t>Mi</a:t>
            </a:r>
            <a:r>
              <a:rPr b="0" i="0" lang="en-US" sz="1800">
                <a:solidFill>
                  <a:srgbClr val="242021"/>
                </a:solidFill>
              </a:rPr>
              <a:t>(</a:t>
            </a:r>
            <a:r>
              <a:rPr b="0" i="1" lang="en-US" sz="1800">
                <a:solidFill>
                  <a:srgbClr val="242021"/>
                </a:solidFill>
              </a:rPr>
              <a:t>Ci</a:t>
            </a:r>
            <a:r>
              <a:rPr b="0" i="0" lang="en-US" sz="1800">
                <a:solidFill>
                  <a:srgbClr val="242021"/>
                </a:solidFill>
              </a:rPr>
              <a:t>) is number of methods inherited (and not overridden) in </a:t>
            </a:r>
            <a:r>
              <a:rPr b="0" i="1" lang="en-US" sz="1800">
                <a:solidFill>
                  <a:srgbClr val="242021"/>
                </a:solidFill>
              </a:rPr>
              <a:t>Ci</a:t>
            </a:r>
            <a:endParaRPr/>
          </a:p>
          <a:p>
            <a:pPr indent="0" lvl="0" marL="0" rtl="0" algn="just">
              <a:lnSpc>
                <a:spcPct val="100000"/>
              </a:lnSpc>
              <a:spcBef>
                <a:spcPts val="280"/>
              </a:spcBef>
              <a:spcAft>
                <a:spcPts val="0"/>
              </a:spcAft>
              <a:buClr>
                <a:schemeClr val="dk1"/>
              </a:buClr>
              <a:buSzPts val="1400"/>
              <a:buNone/>
            </a:pPr>
            <a:r>
              <a:t/>
            </a:r>
            <a:endParaRPr b="0" i="0" sz="1400">
              <a:solidFill>
                <a:srgbClr val="242021"/>
              </a:solidFill>
            </a:endParaRPr>
          </a:p>
          <a:p>
            <a:pPr indent="-342900" lvl="0" marL="342900" rtl="0" algn="just">
              <a:lnSpc>
                <a:spcPct val="100000"/>
              </a:lnSpc>
              <a:spcBef>
                <a:spcPts val="360"/>
              </a:spcBef>
              <a:spcAft>
                <a:spcPts val="0"/>
              </a:spcAft>
              <a:buClr>
                <a:srgbClr val="242021"/>
              </a:buClr>
              <a:buSzPts val="1800"/>
              <a:buChar char="•"/>
            </a:pPr>
            <a:r>
              <a:rPr b="0" i="0" lang="en-US" sz="1800">
                <a:solidFill>
                  <a:srgbClr val="242021"/>
                </a:solidFill>
              </a:rPr>
              <a:t>The value of MIF provides an indication of the impact of inheritance on the OO software.</a:t>
            </a:r>
            <a:r>
              <a:rPr lang="en-US" sz="1800"/>
              <a:t> </a:t>
            </a:r>
            <a:endParaRPr/>
          </a:p>
          <a:p>
            <a:pPr indent="0" lvl="0" marL="0" rtl="0" algn="just">
              <a:lnSpc>
                <a:spcPct val="100000"/>
              </a:lnSpc>
              <a:spcBef>
                <a:spcPts val="360"/>
              </a:spcBef>
              <a:spcAft>
                <a:spcPts val="0"/>
              </a:spcAft>
              <a:buClr>
                <a:schemeClr val="dk1"/>
              </a:buClr>
              <a:buSzPts val="1800"/>
              <a:buNone/>
            </a:pPr>
            <a:br>
              <a:rPr lang="en-US" sz="1800"/>
            </a:br>
            <a:endParaRPr sz="1800"/>
          </a:p>
        </p:txBody>
      </p:sp>
      <p:pic>
        <p:nvPicPr>
          <p:cNvPr id="471" name="Google Shape;471;p58"/>
          <p:cNvPicPr preferRelativeResize="0"/>
          <p:nvPr/>
        </p:nvPicPr>
        <p:blipFill rotWithShape="1">
          <a:blip r:embed="rId3">
            <a:alphaModFix/>
          </a:blip>
          <a:srcRect b="0" l="0" r="0" t="0"/>
          <a:stretch/>
        </p:blipFill>
        <p:spPr>
          <a:xfrm>
            <a:off x="3387871" y="2715391"/>
            <a:ext cx="1875097" cy="685800"/>
          </a:xfrm>
          <a:prstGeom prst="rect">
            <a:avLst/>
          </a:prstGeom>
          <a:noFill/>
          <a:ln>
            <a:noFill/>
          </a:ln>
        </p:spPr>
      </p:pic>
      <p:pic>
        <p:nvPicPr>
          <p:cNvPr id="472" name="Google Shape;472;p58"/>
          <p:cNvPicPr preferRelativeResize="0"/>
          <p:nvPr/>
        </p:nvPicPr>
        <p:blipFill rotWithShape="1">
          <a:blip r:embed="rId4">
            <a:alphaModFix/>
          </a:blip>
          <a:srcRect b="0" l="0" r="0" t="0"/>
          <a:stretch/>
        </p:blipFill>
        <p:spPr>
          <a:xfrm>
            <a:off x="2971798" y="4172236"/>
            <a:ext cx="2707241" cy="477209"/>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6" name="Shape 476"/>
        <p:cNvGrpSpPr/>
        <p:nvPr/>
      </p:nvGrpSpPr>
      <p:grpSpPr>
        <a:xfrm>
          <a:off x="0" y="0"/>
          <a:ext cx="0" cy="0"/>
          <a:chOff x="0" y="0"/>
          <a:chExt cx="0" cy="0"/>
        </a:xfrm>
      </p:grpSpPr>
      <p:sp>
        <p:nvSpPr>
          <p:cNvPr id="477" name="Google Shape;477;p59"/>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t>Metrics for Design Model</a:t>
            </a:r>
            <a:endParaRPr/>
          </a:p>
        </p:txBody>
      </p:sp>
      <p:sp>
        <p:nvSpPr>
          <p:cNvPr id="478" name="Google Shape;478;p59"/>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79" name="Google Shape;479;p59"/>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rgbClr val="C00000"/>
              </a:buClr>
              <a:buSzPts val="2000"/>
              <a:buNone/>
            </a:pPr>
            <a:r>
              <a:rPr b="1" lang="en-US" sz="2000">
                <a:solidFill>
                  <a:srgbClr val="C00000"/>
                </a:solidFill>
              </a:rPr>
              <a:t>4. Class Oriented Metrics – The MOOD Metrics Suite (contd.):</a:t>
            </a:r>
            <a:endParaRPr/>
          </a:p>
          <a:p>
            <a:pPr indent="0" lvl="0" marL="0" rtl="0" algn="just">
              <a:lnSpc>
                <a:spcPct val="100000"/>
              </a:lnSpc>
              <a:spcBef>
                <a:spcPts val="240"/>
              </a:spcBef>
              <a:spcAft>
                <a:spcPts val="0"/>
              </a:spcAft>
              <a:buClr>
                <a:schemeClr val="dk1"/>
              </a:buClr>
              <a:buSzPts val="1200"/>
              <a:buNone/>
            </a:pPr>
            <a:r>
              <a:t/>
            </a:r>
            <a:endParaRPr b="1" sz="1200">
              <a:solidFill>
                <a:srgbClr val="C00000"/>
              </a:solidFill>
            </a:endParaRPr>
          </a:p>
          <a:p>
            <a:pPr indent="-400050" lvl="0" marL="400050" rtl="0" algn="just">
              <a:lnSpc>
                <a:spcPct val="150000"/>
              </a:lnSpc>
              <a:spcBef>
                <a:spcPts val="360"/>
              </a:spcBef>
              <a:spcAft>
                <a:spcPts val="0"/>
              </a:spcAft>
              <a:buClr>
                <a:srgbClr val="3A30FA"/>
              </a:buClr>
              <a:buSzPts val="1800"/>
              <a:buFont typeface="Calibri"/>
              <a:buAutoNum type="romanLcPeriod" startAt="2"/>
            </a:pPr>
            <a:r>
              <a:rPr b="1" lang="en-US" sz="1800">
                <a:solidFill>
                  <a:srgbClr val="3A30FA"/>
                </a:solidFill>
              </a:rPr>
              <a:t>Coupling Factor (CF) - </a:t>
            </a:r>
            <a:r>
              <a:rPr lang="en-US" sz="1800">
                <a:solidFill>
                  <a:srgbClr val="242021"/>
                </a:solidFill>
              </a:rPr>
              <a:t>C</a:t>
            </a:r>
            <a:r>
              <a:rPr b="0" i="0" lang="en-US" sz="1800">
                <a:solidFill>
                  <a:srgbClr val="242021"/>
                </a:solidFill>
              </a:rPr>
              <a:t>oupling is an indication of the connections between elements of the OO design. The MOOD metrics suite defines coupling in the following way:</a:t>
            </a:r>
            <a:endParaRPr/>
          </a:p>
          <a:p>
            <a:pPr indent="-285750" lvl="0" marL="400050" rtl="0" algn="just">
              <a:lnSpc>
                <a:spcPct val="150000"/>
              </a:lnSpc>
              <a:spcBef>
                <a:spcPts val="360"/>
              </a:spcBef>
              <a:spcAft>
                <a:spcPts val="0"/>
              </a:spcAft>
              <a:buClr>
                <a:schemeClr val="dk1"/>
              </a:buClr>
              <a:buSzPts val="1800"/>
              <a:buFont typeface="Calibri"/>
              <a:buNone/>
            </a:pPr>
            <a:r>
              <a:t/>
            </a:r>
            <a:endParaRPr sz="1800">
              <a:solidFill>
                <a:srgbClr val="242021"/>
              </a:solidFill>
            </a:endParaRPr>
          </a:p>
          <a:p>
            <a:pPr indent="0" lvl="0" marL="0" rtl="0" algn="just">
              <a:lnSpc>
                <a:spcPct val="150000"/>
              </a:lnSpc>
              <a:spcBef>
                <a:spcPts val="360"/>
              </a:spcBef>
              <a:spcAft>
                <a:spcPts val="0"/>
              </a:spcAft>
              <a:buClr>
                <a:srgbClr val="242021"/>
              </a:buClr>
              <a:buSzPts val="1800"/>
              <a:buNone/>
            </a:pPr>
            <a:r>
              <a:rPr lang="en-US" sz="1800">
                <a:solidFill>
                  <a:srgbClr val="242021"/>
                </a:solidFill>
              </a:rPr>
              <a:t>       </a:t>
            </a:r>
            <a:r>
              <a:rPr b="0" i="0" lang="en-US" sz="1800">
                <a:solidFill>
                  <a:srgbClr val="242021"/>
                </a:solidFill>
              </a:rPr>
              <a:t>where the summations occur over </a:t>
            </a:r>
            <a:r>
              <a:rPr b="0" i="1" lang="en-US" sz="1800">
                <a:solidFill>
                  <a:srgbClr val="242021"/>
                </a:solidFill>
              </a:rPr>
              <a:t>i </a:t>
            </a:r>
            <a:r>
              <a:rPr lang="en-US" sz="1800">
                <a:solidFill>
                  <a:srgbClr val="242021"/>
                </a:solidFill>
              </a:rPr>
              <a:t>=</a:t>
            </a:r>
            <a:r>
              <a:rPr b="0" i="0" lang="en-US" sz="1800">
                <a:solidFill>
                  <a:srgbClr val="242021"/>
                </a:solidFill>
              </a:rPr>
              <a:t> 1 to </a:t>
            </a:r>
            <a:r>
              <a:rPr b="0" i="1" lang="en-US" sz="1800">
                <a:solidFill>
                  <a:srgbClr val="242021"/>
                </a:solidFill>
              </a:rPr>
              <a:t>Tc </a:t>
            </a:r>
            <a:r>
              <a:rPr b="0" i="0" lang="en-US" sz="1800">
                <a:solidFill>
                  <a:srgbClr val="242021"/>
                </a:solidFill>
              </a:rPr>
              <a:t>and </a:t>
            </a:r>
            <a:r>
              <a:rPr b="0" i="1" lang="en-US" sz="1800">
                <a:solidFill>
                  <a:srgbClr val="242021"/>
                </a:solidFill>
              </a:rPr>
              <a:t>j </a:t>
            </a:r>
            <a:r>
              <a:rPr lang="en-US" sz="1800">
                <a:solidFill>
                  <a:srgbClr val="242021"/>
                </a:solidFill>
              </a:rPr>
              <a:t>=</a:t>
            </a:r>
            <a:r>
              <a:rPr b="0" i="0" lang="en-US" sz="1800">
                <a:solidFill>
                  <a:srgbClr val="242021"/>
                </a:solidFill>
              </a:rPr>
              <a:t> 1 to </a:t>
            </a:r>
            <a:r>
              <a:rPr b="0" i="1" lang="en-US" sz="1800">
                <a:solidFill>
                  <a:srgbClr val="242021"/>
                </a:solidFill>
              </a:rPr>
              <a:t>Tc</a:t>
            </a:r>
            <a:r>
              <a:rPr b="0" i="0" lang="en-US" sz="1800">
                <a:solidFill>
                  <a:srgbClr val="242021"/>
                </a:solidFill>
              </a:rPr>
              <a:t>. </a:t>
            </a:r>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228600" lvl="0" marL="342900" rtl="0" algn="just">
              <a:lnSpc>
                <a:spcPct val="150000"/>
              </a:lnSpc>
              <a:spcBef>
                <a:spcPts val="360"/>
              </a:spcBef>
              <a:spcAft>
                <a:spcPts val="0"/>
              </a:spcAft>
              <a:buClr>
                <a:schemeClr val="dk1"/>
              </a:buClr>
              <a:buSzPts val="1800"/>
              <a:buNone/>
            </a:pPr>
            <a:r>
              <a:t/>
            </a:r>
            <a:endParaRPr sz="1800">
              <a:solidFill>
                <a:srgbClr val="242021"/>
              </a:solidFill>
            </a:endParaRPr>
          </a:p>
          <a:p>
            <a:pPr indent="-342900" lvl="0" marL="342900" rtl="0" algn="just">
              <a:lnSpc>
                <a:spcPct val="150000"/>
              </a:lnSpc>
              <a:spcBef>
                <a:spcPts val="360"/>
              </a:spcBef>
              <a:spcAft>
                <a:spcPts val="0"/>
              </a:spcAft>
              <a:buClr>
                <a:srgbClr val="242021"/>
              </a:buClr>
              <a:buSzPts val="1800"/>
              <a:buChar char="•"/>
            </a:pPr>
            <a:r>
              <a:rPr lang="en-US" sz="1800">
                <a:solidFill>
                  <a:srgbClr val="242021"/>
                </a:solidFill>
              </a:rPr>
              <a:t>I</a:t>
            </a:r>
            <a:r>
              <a:rPr b="0" i="0" lang="en-US" sz="1800">
                <a:solidFill>
                  <a:srgbClr val="242021"/>
                </a:solidFill>
              </a:rPr>
              <a:t>t is reasonable to conclude that as the value for CF increases, the complexity of the OO software will also increase and understandability, maintainability, and the potential for reuse may suffer as a result.</a:t>
            </a:r>
            <a:endParaRPr/>
          </a:p>
          <a:p>
            <a:pPr indent="0" lvl="0" marL="0" rtl="0" algn="just">
              <a:lnSpc>
                <a:spcPct val="100000"/>
              </a:lnSpc>
              <a:spcBef>
                <a:spcPts val="360"/>
              </a:spcBef>
              <a:spcAft>
                <a:spcPts val="0"/>
              </a:spcAft>
              <a:buClr>
                <a:schemeClr val="dk1"/>
              </a:buClr>
              <a:buSzPts val="1400"/>
              <a:buNone/>
            </a:pPr>
            <a:r>
              <a:rPr lang="en-US" sz="1400"/>
              <a:t> </a:t>
            </a:r>
            <a:br>
              <a:rPr lang="en-US" sz="1400"/>
            </a:br>
            <a:r>
              <a:rPr lang="en-US" sz="1800"/>
              <a:t> </a:t>
            </a:r>
            <a:br>
              <a:rPr lang="en-US" sz="1800"/>
            </a:br>
            <a:endParaRPr sz="1800"/>
          </a:p>
          <a:p>
            <a:pPr indent="0" lvl="0" marL="0" rtl="0" algn="just">
              <a:lnSpc>
                <a:spcPct val="100000"/>
              </a:lnSpc>
              <a:spcBef>
                <a:spcPts val="360"/>
              </a:spcBef>
              <a:spcAft>
                <a:spcPts val="0"/>
              </a:spcAft>
              <a:buClr>
                <a:schemeClr val="dk1"/>
              </a:buClr>
              <a:buSzPts val="1800"/>
              <a:buNone/>
            </a:pPr>
            <a:br>
              <a:rPr lang="en-US" sz="1800"/>
            </a:br>
            <a:endParaRPr sz="1800"/>
          </a:p>
        </p:txBody>
      </p:sp>
      <p:pic>
        <p:nvPicPr>
          <p:cNvPr id="480" name="Google Shape;480;p59"/>
          <p:cNvPicPr preferRelativeResize="0"/>
          <p:nvPr/>
        </p:nvPicPr>
        <p:blipFill rotWithShape="1">
          <a:blip r:embed="rId3">
            <a:alphaModFix/>
          </a:blip>
          <a:srcRect b="0" l="0" r="0" t="0"/>
          <a:stretch/>
        </p:blipFill>
        <p:spPr>
          <a:xfrm>
            <a:off x="1143000" y="3962400"/>
            <a:ext cx="7080411" cy="829173"/>
          </a:xfrm>
          <a:prstGeom prst="rect">
            <a:avLst/>
          </a:prstGeom>
          <a:noFill/>
          <a:ln>
            <a:noFill/>
          </a:ln>
        </p:spPr>
      </p:pic>
      <p:pic>
        <p:nvPicPr>
          <p:cNvPr id="481" name="Google Shape;481;p59"/>
          <p:cNvPicPr preferRelativeResize="0"/>
          <p:nvPr/>
        </p:nvPicPr>
        <p:blipFill rotWithShape="1">
          <a:blip r:embed="rId4">
            <a:alphaModFix/>
          </a:blip>
          <a:srcRect b="0" l="0" r="0" t="0"/>
          <a:stretch/>
        </p:blipFill>
        <p:spPr>
          <a:xfrm>
            <a:off x="2895599" y="2514600"/>
            <a:ext cx="3429001" cy="77619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5" name="Shape 485"/>
        <p:cNvGrpSpPr/>
        <p:nvPr/>
      </p:nvGrpSpPr>
      <p:grpSpPr>
        <a:xfrm>
          <a:off x="0" y="0"/>
          <a:ext cx="0" cy="0"/>
          <a:chOff x="0" y="0"/>
          <a:chExt cx="0" cy="0"/>
        </a:xfrm>
      </p:grpSpPr>
      <p:sp>
        <p:nvSpPr>
          <p:cNvPr id="486" name="Google Shape;486;p60"/>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87" name="Google Shape;487;p60"/>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88" name="Google Shape;488;p60"/>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5. Operation Oriented Metrics</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Average operation size (OSavg). </a:t>
            </a:r>
            <a:r>
              <a:rPr b="0" i="0" lang="en-US" sz="1800">
                <a:solidFill>
                  <a:srgbClr val="242021"/>
                </a:solidFill>
              </a:rPr>
              <a:t>Size can be determined by counting the number of lines of code or the number of messages sent by the operation. As the number of messages sent by a single operation increases, it is likely that responsibilities have not been well allocated within a class.</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Operation complexity (OC). </a:t>
            </a:r>
            <a:r>
              <a:rPr b="0" i="0" lang="en-US" sz="1800">
                <a:solidFill>
                  <a:srgbClr val="242021"/>
                </a:solidFill>
              </a:rPr>
              <a:t>The complexity of an operation can be computed using any of the complexity metrics proposed for conventional software. Because operations should be limited to a specific responsibility, the designer should strive to keep OC as low as possible.</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Average number of parameters per operation (NPavg). </a:t>
            </a:r>
            <a:r>
              <a:rPr b="0" i="0" lang="en-US" sz="1800">
                <a:solidFill>
                  <a:srgbClr val="242021"/>
                </a:solidFill>
              </a:rPr>
              <a:t>The larger the number of operation parameters, the more complex the collaboration between objects. In general, NPavg should be kept as low as possible.</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2" name="Shape 492"/>
        <p:cNvGrpSpPr/>
        <p:nvPr/>
      </p:nvGrpSpPr>
      <p:grpSpPr>
        <a:xfrm>
          <a:off x="0" y="0"/>
          <a:ext cx="0" cy="0"/>
          <a:chOff x="0" y="0"/>
          <a:chExt cx="0" cy="0"/>
        </a:xfrm>
      </p:grpSpPr>
      <p:sp>
        <p:nvSpPr>
          <p:cNvPr id="493" name="Google Shape;493;p61"/>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494" name="Google Shape;494;p61"/>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495" name="Google Shape;495;p61"/>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6. User Interface Design Metrics</a:t>
            </a:r>
            <a:endParaRPr/>
          </a:p>
          <a:p>
            <a:pPr indent="-342900" lvl="0" marL="342900" rtl="0" algn="just">
              <a:lnSpc>
                <a:spcPct val="150000"/>
              </a:lnSpc>
              <a:spcBef>
                <a:spcPts val="360"/>
              </a:spcBef>
              <a:spcAft>
                <a:spcPts val="0"/>
              </a:spcAft>
              <a:buClr>
                <a:srgbClr val="3A30FA"/>
              </a:buClr>
              <a:buSzPts val="1800"/>
              <a:buChar char="•"/>
            </a:pPr>
            <a:r>
              <a:rPr b="1" i="1" lang="en-US" sz="1800">
                <a:solidFill>
                  <a:srgbClr val="3A30FA"/>
                </a:solidFill>
              </a:rPr>
              <a:t>Layout appropriateness (LA)</a:t>
            </a:r>
            <a:r>
              <a:rPr b="1" i="0" lang="en-US" sz="1800">
                <a:solidFill>
                  <a:srgbClr val="242021"/>
                </a:solidFill>
              </a:rPr>
              <a:t> </a:t>
            </a:r>
            <a:r>
              <a:rPr b="0" i="0" lang="en-US" sz="1800">
                <a:solidFill>
                  <a:srgbClr val="242021"/>
                </a:solidFill>
              </a:rPr>
              <a:t>is a worthwhile design metric for human/computer interfaces. </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A typical GUI uses layout entities—graphic icons, text, menus, windows, and the like—to assist the user in completing tasks. </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To accomplish a given task using a GUI, the user must move from one layout entity to the next. </a:t>
            </a:r>
            <a:endParaRPr/>
          </a:p>
          <a:p>
            <a:pPr indent="-342900" lvl="0" marL="342900" rtl="0" algn="just">
              <a:lnSpc>
                <a:spcPct val="150000"/>
              </a:lnSpc>
              <a:spcBef>
                <a:spcPts val="360"/>
              </a:spcBef>
              <a:spcAft>
                <a:spcPts val="0"/>
              </a:spcAft>
              <a:buClr>
                <a:srgbClr val="242021"/>
              </a:buClr>
              <a:buSzPts val="1800"/>
              <a:buChar char="•"/>
            </a:pPr>
            <a:r>
              <a:rPr b="0" i="0" lang="en-US" sz="1800">
                <a:solidFill>
                  <a:srgbClr val="242021"/>
                </a:solidFill>
              </a:rPr>
              <a:t>The absolute and relative position of each layout entity, the frequency with which it is used, and the “cost” of the transition from one layout entity to the next all contribute to the appropriateness of the interface.</a:t>
            </a:r>
            <a:endParaRPr/>
          </a:p>
          <a:p>
            <a:pPr indent="0" lvl="0" marL="0" rtl="0" algn="just">
              <a:lnSpc>
                <a:spcPct val="150000"/>
              </a:lnSpc>
              <a:spcBef>
                <a:spcPts val="360"/>
              </a:spcBef>
              <a:spcAft>
                <a:spcPts val="0"/>
              </a:spcAft>
              <a:buClr>
                <a:schemeClr val="dk1"/>
              </a:buClr>
              <a:buSzPts val="1800"/>
              <a:buNone/>
            </a:pPr>
            <a:br>
              <a:rPr lang="en-US" sz="1800"/>
            </a:br>
            <a:endParaRPr b="1" sz="1800">
              <a:solidFill>
                <a:srgbClr val="C00000"/>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9" name="Shape 499"/>
        <p:cNvGrpSpPr/>
        <p:nvPr/>
      </p:nvGrpSpPr>
      <p:grpSpPr>
        <a:xfrm>
          <a:off x="0" y="0"/>
          <a:ext cx="0" cy="0"/>
          <a:chOff x="0" y="0"/>
          <a:chExt cx="0" cy="0"/>
        </a:xfrm>
      </p:grpSpPr>
      <p:sp>
        <p:nvSpPr>
          <p:cNvPr id="500" name="Google Shape;500;p62"/>
          <p:cNvSpPr txBox="1"/>
          <p:nvPr>
            <p:ph type="title"/>
          </p:nvPr>
        </p:nvSpPr>
        <p:spPr>
          <a:xfrm>
            <a:off x="0" y="-74476"/>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501" name="Google Shape;501;p62"/>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02" name="Google Shape;502;p62"/>
          <p:cNvSpPr txBox="1"/>
          <p:nvPr>
            <p:ph idx="1" type="body"/>
          </p:nvPr>
        </p:nvSpPr>
        <p:spPr>
          <a:xfrm>
            <a:off x="457200" y="763724"/>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7. Component Level Design Metrics</a:t>
            </a:r>
            <a:endParaRPr/>
          </a:p>
          <a:p>
            <a:pPr indent="0" lvl="0" marL="400050" rtl="0" algn="just">
              <a:lnSpc>
                <a:spcPct val="150000"/>
              </a:lnSpc>
              <a:spcBef>
                <a:spcPts val="360"/>
              </a:spcBef>
              <a:spcAft>
                <a:spcPts val="0"/>
              </a:spcAft>
              <a:buSzPts val="2200"/>
              <a:buNone/>
            </a:pPr>
            <a:r>
              <a:rPr b="0" i="0" lang="en-US" sz="1800">
                <a:solidFill>
                  <a:srgbClr val="242021"/>
                </a:solidFill>
              </a:rPr>
              <a:t>Component-level design metrics for conventional software components focus on internal characteristics of a software component and include measures of the</a:t>
            </a:r>
            <a:r>
              <a:rPr lang="en-US" sz="1800"/>
              <a:t> </a:t>
            </a:r>
            <a:br>
              <a:rPr lang="en-US" sz="1800"/>
            </a:br>
            <a:r>
              <a:rPr b="0" i="0" lang="en-US" sz="1800">
                <a:solidFill>
                  <a:srgbClr val="242021"/>
                </a:solidFill>
              </a:rPr>
              <a:t>“three Cs”—module cohesion, coupling, and complexity. </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Cohesion metrics. </a:t>
            </a:r>
            <a:r>
              <a:rPr b="0" i="0" lang="en-US" sz="1800">
                <a:solidFill>
                  <a:srgbClr val="242021"/>
                </a:solidFill>
              </a:rPr>
              <a:t>The metrics are defined in terms of five concepts and measures:</a:t>
            </a:r>
            <a:endParaRPr/>
          </a:p>
          <a:p>
            <a:pPr indent="-285750" lvl="1" marL="742950" rtl="0" algn="just">
              <a:lnSpc>
                <a:spcPct val="150000"/>
              </a:lnSpc>
              <a:spcBef>
                <a:spcPts val="360"/>
              </a:spcBef>
              <a:spcAft>
                <a:spcPts val="0"/>
              </a:spcAft>
              <a:buClr>
                <a:srgbClr val="C00000"/>
              </a:buClr>
              <a:buSzPts val="1800"/>
              <a:buChar char="–"/>
            </a:pPr>
            <a:r>
              <a:rPr b="0" i="1" lang="en-US" sz="1800">
                <a:solidFill>
                  <a:srgbClr val="C00000"/>
                </a:solidFill>
              </a:rPr>
              <a:t>Data slice. </a:t>
            </a:r>
            <a:r>
              <a:rPr b="0" i="0" lang="en-US" sz="1800">
                <a:solidFill>
                  <a:srgbClr val="242021"/>
                </a:solidFill>
              </a:rPr>
              <a:t>Stated simply, a data slice is a backward walk through a module that looks for data values that affect the module location at which the walk began. </a:t>
            </a:r>
            <a:endParaRPr/>
          </a:p>
          <a:p>
            <a:pPr indent="-285750" lvl="1" marL="742950" rtl="0" algn="just">
              <a:lnSpc>
                <a:spcPct val="150000"/>
              </a:lnSpc>
              <a:spcBef>
                <a:spcPts val="360"/>
              </a:spcBef>
              <a:spcAft>
                <a:spcPts val="0"/>
              </a:spcAft>
              <a:buClr>
                <a:srgbClr val="C00000"/>
              </a:buClr>
              <a:buSzPts val="1800"/>
              <a:buChar char="–"/>
            </a:pPr>
            <a:r>
              <a:rPr i="1" lang="en-US" sz="1800">
                <a:solidFill>
                  <a:srgbClr val="C00000"/>
                </a:solidFill>
              </a:rPr>
              <a:t>Data tokens. </a:t>
            </a:r>
            <a:r>
              <a:rPr b="0" i="0" lang="en-US" sz="1800">
                <a:solidFill>
                  <a:srgbClr val="242021"/>
                </a:solidFill>
              </a:rPr>
              <a:t>The variables defined for a module can be defined as data tokens</a:t>
            </a:r>
            <a:endParaRPr/>
          </a:p>
          <a:p>
            <a:pPr indent="-285750" lvl="1" marL="742950" rtl="0" algn="just">
              <a:lnSpc>
                <a:spcPct val="150000"/>
              </a:lnSpc>
              <a:spcBef>
                <a:spcPts val="360"/>
              </a:spcBef>
              <a:spcAft>
                <a:spcPts val="0"/>
              </a:spcAft>
              <a:buClr>
                <a:srgbClr val="C00000"/>
              </a:buClr>
              <a:buSzPts val="1800"/>
              <a:buChar char="–"/>
            </a:pPr>
            <a:r>
              <a:rPr i="1" lang="en-US" sz="1800">
                <a:solidFill>
                  <a:srgbClr val="C00000"/>
                </a:solidFill>
              </a:rPr>
              <a:t>Glue tokens. </a:t>
            </a:r>
            <a:r>
              <a:rPr b="0" i="0" lang="en-US" sz="1800">
                <a:solidFill>
                  <a:srgbClr val="242021"/>
                </a:solidFill>
              </a:rPr>
              <a:t>This set of data tokens lies on one or more data slice.</a:t>
            </a:r>
            <a:endParaRPr/>
          </a:p>
          <a:p>
            <a:pPr indent="-285750" lvl="1" marL="742950" rtl="0" algn="just">
              <a:lnSpc>
                <a:spcPct val="150000"/>
              </a:lnSpc>
              <a:spcBef>
                <a:spcPts val="360"/>
              </a:spcBef>
              <a:spcAft>
                <a:spcPts val="0"/>
              </a:spcAft>
              <a:buClr>
                <a:srgbClr val="C00000"/>
              </a:buClr>
              <a:buSzPts val="1800"/>
              <a:buChar char="–"/>
            </a:pPr>
            <a:r>
              <a:rPr i="1" lang="en-US" sz="1800">
                <a:solidFill>
                  <a:srgbClr val="C00000"/>
                </a:solidFill>
              </a:rPr>
              <a:t>Superglue tokens. </a:t>
            </a:r>
            <a:r>
              <a:rPr b="0" i="0" lang="en-US" sz="1800">
                <a:solidFill>
                  <a:srgbClr val="242021"/>
                </a:solidFill>
              </a:rPr>
              <a:t>These data tokens are common to every data slice in a module.</a:t>
            </a:r>
            <a:endParaRPr/>
          </a:p>
          <a:p>
            <a:pPr indent="-285750" lvl="1" marL="742950" rtl="0" algn="just">
              <a:lnSpc>
                <a:spcPct val="150000"/>
              </a:lnSpc>
              <a:spcBef>
                <a:spcPts val="360"/>
              </a:spcBef>
              <a:spcAft>
                <a:spcPts val="0"/>
              </a:spcAft>
              <a:buClr>
                <a:srgbClr val="C00000"/>
              </a:buClr>
              <a:buSzPts val="1800"/>
              <a:buChar char="–"/>
            </a:pPr>
            <a:r>
              <a:rPr i="1" lang="en-US" sz="1800">
                <a:solidFill>
                  <a:srgbClr val="C00000"/>
                </a:solidFill>
              </a:rPr>
              <a:t>Stickiness. </a:t>
            </a:r>
            <a:r>
              <a:rPr b="0" i="0" lang="en-US" sz="1800">
                <a:solidFill>
                  <a:srgbClr val="242021"/>
                </a:solidFill>
              </a:rPr>
              <a:t>The relative stickiness of a glue token is directly proportional to the number of data slices that it binds.</a:t>
            </a:r>
            <a:endParaRPr/>
          </a:p>
          <a:p>
            <a:pPr indent="0" lvl="1" marL="457200" rtl="0" algn="just">
              <a:lnSpc>
                <a:spcPct val="100000"/>
              </a:lnSpc>
              <a:spcBef>
                <a:spcPts val="360"/>
              </a:spcBef>
              <a:spcAft>
                <a:spcPts val="0"/>
              </a:spcAft>
              <a:buClr>
                <a:schemeClr val="dk1"/>
              </a:buClr>
              <a:buSzPts val="1400"/>
              <a:buNone/>
            </a:pPr>
            <a:br>
              <a:rPr lang="en-US" sz="1400"/>
            </a:br>
            <a:r>
              <a:rPr lang="en-US" sz="1800"/>
              <a:t> </a:t>
            </a:r>
            <a:br>
              <a:rPr lang="en-US" sz="1800"/>
            </a:br>
            <a:br>
              <a:rPr lang="en-US" sz="1800"/>
            </a:br>
            <a:endParaRPr b="1" sz="1800">
              <a:solidFill>
                <a:srgbClr val="C0000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06" name="Shape 506"/>
        <p:cNvGrpSpPr/>
        <p:nvPr/>
      </p:nvGrpSpPr>
      <p:grpSpPr>
        <a:xfrm>
          <a:off x="0" y="0"/>
          <a:ext cx="0" cy="0"/>
          <a:chOff x="0" y="0"/>
          <a:chExt cx="0" cy="0"/>
        </a:xfrm>
      </p:grpSpPr>
      <p:sp>
        <p:nvSpPr>
          <p:cNvPr id="507" name="Google Shape;507;p63"/>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Design Model</a:t>
            </a:r>
            <a:endParaRPr/>
          </a:p>
        </p:txBody>
      </p:sp>
      <p:sp>
        <p:nvSpPr>
          <p:cNvPr id="508" name="Google Shape;508;p63"/>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09" name="Google Shape;509;p63"/>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7. Component Level Design Metrics (contd.)</a:t>
            </a:r>
            <a:endParaRPr/>
          </a:p>
          <a:p>
            <a:pPr indent="-400050" lvl="0" marL="400050" rtl="0" algn="just">
              <a:lnSpc>
                <a:spcPct val="150000"/>
              </a:lnSpc>
              <a:spcBef>
                <a:spcPts val="360"/>
              </a:spcBef>
              <a:spcAft>
                <a:spcPts val="0"/>
              </a:spcAft>
              <a:buClr>
                <a:srgbClr val="3A30FA"/>
              </a:buClr>
              <a:buSzPts val="1800"/>
              <a:buFont typeface="Calibri"/>
              <a:buAutoNum type="romanLcPeriod" startAt="2"/>
            </a:pPr>
            <a:r>
              <a:rPr b="1" i="0" lang="en-US" sz="1800">
                <a:solidFill>
                  <a:srgbClr val="3A30FA"/>
                </a:solidFill>
              </a:rPr>
              <a:t>Coupling metrics. </a:t>
            </a:r>
            <a:r>
              <a:rPr b="0" i="0" lang="en-US" sz="1800">
                <a:solidFill>
                  <a:srgbClr val="242021"/>
                </a:solidFill>
              </a:rPr>
              <a:t>Module coupling provides an indication of the “connectedness” of a module to other modules, global data, and the outside environment. </a:t>
            </a:r>
            <a:endParaRPr/>
          </a:p>
          <a:p>
            <a:pPr indent="-330200" lvl="0" marL="400050" rtl="0" algn="just">
              <a:lnSpc>
                <a:spcPct val="150000"/>
              </a:lnSpc>
              <a:spcBef>
                <a:spcPts val="220"/>
              </a:spcBef>
              <a:spcAft>
                <a:spcPts val="0"/>
              </a:spcAft>
              <a:buClr>
                <a:schemeClr val="dk1"/>
              </a:buClr>
              <a:buSzPts val="1100"/>
              <a:buFont typeface="Calibri"/>
              <a:buNone/>
            </a:pPr>
            <a:r>
              <a:t/>
            </a:r>
            <a:endParaRPr b="0" i="0" sz="1100">
              <a:solidFill>
                <a:srgbClr val="242021"/>
              </a:solidFill>
            </a:endParaRPr>
          </a:p>
          <a:p>
            <a:pPr indent="-400050" lvl="0" marL="400050" rtl="0" algn="just">
              <a:lnSpc>
                <a:spcPct val="150000"/>
              </a:lnSpc>
              <a:spcBef>
                <a:spcPts val="360"/>
              </a:spcBef>
              <a:spcAft>
                <a:spcPts val="0"/>
              </a:spcAft>
              <a:buClr>
                <a:srgbClr val="3A30FA"/>
              </a:buClr>
              <a:buSzPts val="1800"/>
              <a:buFont typeface="Calibri"/>
              <a:buAutoNum type="romanLcPeriod" startAt="2"/>
            </a:pPr>
            <a:r>
              <a:rPr b="1" i="0" lang="en-US" sz="1800">
                <a:solidFill>
                  <a:srgbClr val="3A30FA"/>
                </a:solidFill>
              </a:rPr>
              <a:t>Complexity metrics. </a:t>
            </a:r>
            <a:r>
              <a:rPr b="0" i="0" lang="en-US" sz="1800">
                <a:solidFill>
                  <a:srgbClr val="242021"/>
                </a:solidFill>
              </a:rPr>
              <a:t>They can be used to predict critical information about reliability and maintainability of software systems from automatic analysis of source code.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Complexity metrics also provide feedback during the software project to help control the design activity.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During testing and maintenance, they provide detailed information about software modules to help pinpoint areas of potential instability.</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The most widely used (and debated) complexity metric for computer software is </a:t>
            </a:r>
            <a:r>
              <a:rPr b="0" i="1" lang="en-US" sz="1800">
                <a:solidFill>
                  <a:srgbClr val="C00000"/>
                </a:solidFill>
              </a:rPr>
              <a:t>cyclomatic complexity</a:t>
            </a:r>
            <a:r>
              <a:rPr lang="en-US" sz="1800">
                <a:solidFill>
                  <a:srgbClr val="242021"/>
                </a:solidFill>
              </a:rPr>
              <a:t> (lower value desirable for being less error prone).</a:t>
            </a:r>
            <a:endParaRPr b="0" i="0" sz="1800">
              <a:solidFill>
                <a:srgbClr val="242021"/>
              </a:solidFill>
            </a:endParaRPr>
          </a:p>
          <a:p>
            <a:pPr indent="0" lvl="1" marL="457200" rtl="0" algn="just">
              <a:lnSpc>
                <a:spcPct val="150000"/>
              </a:lnSpc>
              <a:spcBef>
                <a:spcPts val="360"/>
              </a:spcBef>
              <a:spcAft>
                <a:spcPts val="0"/>
              </a:spcAft>
              <a:buClr>
                <a:schemeClr val="dk1"/>
              </a:buClr>
              <a:buSzPts val="1100"/>
              <a:buNone/>
            </a:pPr>
            <a:r>
              <a:rPr lang="en-US" sz="1100"/>
              <a:t> </a:t>
            </a:r>
            <a:br>
              <a:rPr lang="en-US" sz="1100"/>
            </a:br>
            <a:br>
              <a:rPr lang="en-US" sz="1400"/>
            </a:br>
            <a:r>
              <a:rPr lang="en-US" sz="1800"/>
              <a:t> </a:t>
            </a:r>
            <a:br>
              <a:rPr lang="en-US" sz="1800"/>
            </a:br>
            <a:br>
              <a:rPr lang="en-US" sz="1800"/>
            </a:br>
            <a:endParaRPr b="1" sz="1800">
              <a:solidFill>
                <a:srgbClr val="C0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4"/>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15" name="Google Shape;515;p64"/>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16" name="Google Shape;516;p64"/>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AutoNum type="arabicPeriod"/>
            </a:pPr>
            <a:r>
              <a:rPr b="1" lang="en-US" sz="2000">
                <a:solidFill>
                  <a:srgbClr val="C00000"/>
                </a:solidFill>
              </a:rPr>
              <a:t>Halstead Metrics Applied to Testing:</a:t>
            </a:r>
            <a:endParaRPr/>
          </a:p>
          <a:p>
            <a:pPr indent="0" lvl="0" marL="0" rtl="0" algn="just">
              <a:lnSpc>
                <a:spcPct val="150000"/>
              </a:lnSpc>
              <a:spcBef>
                <a:spcPts val="360"/>
              </a:spcBef>
              <a:spcAft>
                <a:spcPts val="0"/>
              </a:spcAft>
              <a:buClr>
                <a:srgbClr val="242021"/>
              </a:buClr>
              <a:buSzPts val="1800"/>
              <a:buNone/>
            </a:pPr>
            <a:r>
              <a:rPr b="0" i="0" lang="en-US" sz="1800">
                <a:solidFill>
                  <a:srgbClr val="242021"/>
                </a:solidFill>
              </a:rPr>
              <a:t>Using the definitions for program volume </a:t>
            </a:r>
            <a:r>
              <a:rPr b="0" i="1" lang="en-US" sz="1800">
                <a:solidFill>
                  <a:srgbClr val="242021"/>
                </a:solidFill>
              </a:rPr>
              <a:t>V </a:t>
            </a:r>
            <a:r>
              <a:rPr b="0" i="0" lang="en-US" sz="1800">
                <a:solidFill>
                  <a:srgbClr val="242021"/>
                </a:solidFill>
              </a:rPr>
              <a:t>and program level </a:t>
            </a:r>
            <a:r>
              <a:rPr b="0" i="1" lang="en-US" sz="1800">
                <a:solidFill>
                  <a:srgbClr val="242021"/>
                </a:solidFill>
              </a:rPr>
              <a:t>PL, </a:t>
            </a:r>
            <a:r>
              <a:rPr b="0" i="0" lang="en-US" sz="1800">
                <a:solidFill>
                  <a:srgbClr val="242021"/>
                </a:solidFill>
              </a:rPr>
              <a:t>Halstead effort </a:t>
            </a:r>
            <a:r>
              <a:rPr b="0" i="1" lang="en-US" sz="1800">
                <a:solidFill>
                  <a:srgbClr val="242021"/>
                </a:solidFill>
              </a:rPr>
              <a:t>e </a:t>
            </a:r>
            <a:r>
              <a:rPr b="0" i="0" lang="en-US" sz="1800">
                <a:solidFill>
                  <a:srgbClr val="242021"/>
                </a:solidFill>
              </a:rPr>
              <a:t>can be computed as:</a:t>
            </a:r>
            <a:endParaRPr/>
          </a:p>
          <a:p>
            <a:pPr indent="0" lvl="0" marL="0" rtl="0" algn="just">
              <a:lnSpc>
                <a:spcPct val="150000"/>
              </a:lnSpc>
              <a:spcBef>
                <a:spcPts val="360"/>
              </a:spcBef>
              <a:spcAft>
                <a:spcPts val="0"/>
              </a:spcAft>
              <a:buClr>
                <a:schemeClr val="dk1"/>
              </a:buClr>
              <a:buSzPts val="1800"/>
              <a:buNone/>
            </a:pPr>
            <a:br>
              <a:rPr lang="en-US" sz="1800"/>
            </a:br>
            <a:endParaRPr sz="1800"/>
          </a:p>
          <a:p>
            <a:pPr indent="0" lvl="0" marL="0" rtl="0" algn="just">
              <a:lnSpc>
                <a:spcPct val="150000"/>
              </a:lnSpc>
              <a:spcBef>
                <a:spcPts val="360"/>
              </a:spcBef>
              <a:spcAft>
                <a:spcPts val="0"/>
              </a:spcAft>
              <a:buClr>
                <a:srgbClr val="242021"/>
              </a:buClr>
              <a:buSzPts val="1800"/>
              <a:buNone/>
            </a:pPr>
            <a:r>
              <a:rPr b="0" i="0" lang="en-US" sz="1800">
                <a:solidFill>
                  <a:srgbClr val="242021"/>
                </a:solidFill>
              </a:rPr>
              <a:t>The percentage of </a:t>
            </a:r>
            <a:r>
              <a:rPr b="1" i="0" lang="en-US" sz="1800">
                <a:solidFill>
                  <a:srgbClr val="242021"/>
                </a:solidFill>
              </a:rPr>
              <a:t>overall testing effort to be allocated to a module </a:t>
            </a:r>
            <a:r>
              <a:rPr b="1" i="1" lang="en-US" sz="1800">
                <a:solidFill>
                  <a:srgbClr val="242021"/>
                </a:solidFill>
              </a:rPr>
              <a:t>k </a:t>
            </a:r>
            <a:r>
              <a:rPr b="0" i="0" lang="en-US" sz="1800">
                <a:solidFill>
                  <a:srgbClr val="242021"/>
                </a:solidFill>
              </a:rPr>
              <a:t>can be estimated using the following relationship:</a:t>
            </a:r>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endParaRPr>
          </a:p>
          <a:p>
            <a:pPr indent="0" lvl="0" marL="0" rtl="0" algn="just">
              <a:lnSpc>
                <a:spcPct val="150000"/>
              </a:lnSpc>
              <a:spcBef>
                <a:spcPts val="180"/>
              </a:spcBef>
              <a:spcAft>
                <a:spcPts val="0"/>
              </a:spcAft>
              <a:buClr>
                <a:schemeClr val="dk1"/>
              </a:buClr>
              <a:buSzPts val="900"/>
              <a:buNone/>
            </a:pPr>
            <a:r>
              <a:t/>
            </a:r>
            <a:endParaRPr b="0" i="0" sz="900">
              <a:solidFill>
                <a:srgbClr val="242021"/>
              </a:solidFill>
            </a:endParaRPr>
          </a:p>
          <a:p>
            <a:pPr indent="0" lvl="0" marL="0" rtl="0" algn="just">
              <a:lnSpc>
                <a:spcPct val="150000"/>
              </a:lnSpc>
              <a:spcBef>
                <a:spcPts val="360"/>
              </a:spcBef>
              <a:spcAft>
                <a:spcPts val="0"/>
              </a:spcAft>
              <a:buClr>
                <a:srgbClr val="242021"/>
              </a:buClr>
              <a:buSzPts val="1800"/>
              <a:buNone/>
            </a:pPr>
            <a:r>
              <a:rPr b="0" i="0" lang="en-US" sz="1800">
                <a:solidFill>
                  <a:srgbClr val="242021"/>
                </a:solidFill>
              </a:rPr>
              <a:t>where </a:t>
            </a:r>
            <a:r>
              <a:rPr b="0" i="1" lang="en-US" sz="1800">
                <a:solidFill>
                  <a:srgbClr val="242021"/>
                </a:solidFill>
              </a:rPr>
              <a:t>e</a:t>
            </a:r>
            <a:r>
              <a:rPr b="0" i="0" lang="en-US" sz="1800">
                <a:solidFill>
                  <a:srgbClr val="242021"/>
                </a:solidFill>
              </a:rPr>
              <a:t>(</a:t>
            </a:r>
            <a:r>
              <a:rPr b="0" i="1" lang="en-US" sz="1800">
                <a:solidFill>
                  <a:srgbClr val="242021"/>
                </a:solidFill>
              </a:rPr>
              <a:t>k</a:t>
            </a:r>
            <a:r>
              <a:rPr b="0" i="0" lang="en-US" sz="1800">
                <a:solidFill>
                  <a:srgbClr val="242021"/>
                </a:solidFill>
              </a:rPr>
              <a:t>) is computed for module </a:t>
            </a:r>
            <a:r>
              <a:rPr b="0" i="1" lang="en-US" sz="1800">
                <a:solidFill>
                  <a:srgbClr val="242021"/>
                </a:solidFill>
              </a:rPr>
              <a:t>k</a:t>
            </a:r>
            <a:r>
              <a:rPr b="0" i="0" lang="en-US" sz="1800">
                <a:solidFill>
                  <a:srgbClr val="242021"/>
                </a:solidFill>
              </a:rPr>
              <a:t> and the summation in the denominator is the sum of Halstead effort across all modules of the system.</a:t>
            </a:r>
            <a:endParaRPr/>
          </a:p>
          <a:p>
            <a:pPr indent="0" lvl="0" marL="0" rtl="0" algn="just">
              <a:lnSpc>
                <a:spcPct val="150000"/>
              </a:lnSpc>
              <a:spcBef>
                <a:spcPts val="360"/>
              </a:spcBef>
              <a:spcAft>
                <a:spcPts val="0"/>
              </a:spcAft>
              <a:buClr>
                <a:schemeClr val="dk1"/>
              </a:buClr>
              <a:buSzPts val="1800"/>
              <a:buNone/>
            </a:pPr>
            <a:r>
              <a:t/>
            </a:r>
            <a:endParaRPr sz="1800"/>
          </a:p>
        </p:txBody>
      </p:sp>
      <p:pic>
        <p:nvPicPr>
          <p:cNvPr id="517" name="Google Shape;517;p64"/>
          <p:cNvPicPr preferRelativeResize="0"/>
          <p:nvPr/>
        </p:nvPicPr>
        <p:blipFill rotWithShape="1">
          <a:blip r:embed="rId3">
            <a:alphaModFix/>
          </a:blip>
          <a:srcRect b="0" l="0" r="0" t="0"/>
          <a:stretch/>
        </p:blipFill>
        <p:spPr>
          <a:xfrm>
            <a:off x="3238500" y="2464174"/>
            <a:ext cx="2048333" cy="1170476"/>
          </a:xfrm>
          <a:prstGeom prst="rect">
            <a:avLst/>
          </a:prstGeom>
          <a:noFill/>
          <a:ln>
            <a:noFill/>
          </a:ln>
        </p:spPr>
      </p:pic>
      <p:pic>
        <p:nvPicPr>
          <p:cNvPr id="518" name="Google Shape;518;p64"/>
          <p:cNvPicPr preferRelativeResize="0"/>
          <p:nvPr/>
        </p:nvPicPr>
        <p:blipFill rotWithShape="1">
          <a:blip r:embed="rId4">
            <a:alphaModFix/>
          </a:blip>
          <a:srcRect b="0" l="0" r="0" t="0"/>
          <a:stretch/>
        </p:blipFill>
        <p:spPr>
          <a:xfrm>
            <a:off x="2471965" y="4453137"/>
            <a:ext cx="3581401" cy="548173"/>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6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24" name="Google Shape;524;p6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25" name="Google Shape;525;p65"/>
          <p:cNvSpPr txBox="1"/>
          <p:nvPr>
            <p:ph idx="1" type="body"/>
          </p:nvPr>
        </p:nvSpPr>
        <p:spPr>
          <a:xfrm>
            <a:off x="457200" y="1124534"/>
            <a:ext cx="8229600" cy="4526100"/>
          </a:xfrm>
          <a:prstGeom prst="rect">
            <a:avLst/>
          </a:prstGeom>
          <a:noFill/>
          <a:ln>
            <a:noFill/>
          </a:ln>
        </p:spPr>
        <p:txBody>
          <a:bodyPr anchorCtr="0" anchor="t" bIns="45700" lIns="91425" spcFirstLastPara="1" rIns="91425" wrap="square" tIns="45700">
            <a:noAutofit/>
          </a:bodyPr>
          <a:lstStyle/>
          <a:p>
            <a:pPr indent="-457200" lvl="0" marL="457200" rtl="0" algn="just">
              <a:lnSpc>
                <a:spcPct val="150000"/>
              </a:lnSpc>
              <a:spcBef>
                <a:spcPts val="0"/>
              </a:spcBef>
              <a:spcAft>
                <a:spcPts val="0"/>
              </a:spcAft>
              <a:buClr>
                <a:srgbClr val="C00000"/>
              </a:buClr>
              <a:buSzPts val="2000"/>
              <a:buAutoNum type="arabicPeriod"/>
            </a:pPr>
            <a:r>
              <a:rPr b="1" lang="en-US" sz="2000">
                <a:solidFill>
                  <a:srgbClr val="C00000"/>
                </a:solidFill>
              </a:rPr>
              <a:t>Halstead Metrics Applied to Testing (contd.):</a:t>
            </a:r>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sz="1800">
              <a:solidFill>
                <a:srgbClr val="242021"/>
              </a:solidFill>
              <a:latin typeface="Arial"/>
              <a:ea typeface="Arial"/>
              <a:cs typeface="Arial"/>
              <a:sym typeface="Arial"/>
            </a:endParaRPr>
          </a:p>
          <a:p>
            <a:pPr indent="0" lvl="0" marL="0" rtl="0" algn="just">
              <a:lnSpc>
                <a:spcPct val="150000"/>
              </a:lnSpc>
              <a:spcBef>
                <a:spcPts val="360"/>
              </a:spcBef>
              <a:spcAft>
                <a:spcPts val="0"/>
              </a:spcAft>
              <a:buClr>
                <a:schemeClr val="dk1"/>
              </a:buClr>
              <a:buSzPts val="1800"/>
              <a:buNone/>
            </a:pPr>
            <a:r>
              <a:t/>
            </a:r>
            <a:endParaRPr b="0" i="0" sz="1800">
              <a:solidFill>
                <a:srgbClr val="242021"/>
              </a:solidFill>
              <a:latin typeface="Arial"/>
              <a:ea typeface="Arial"/>
              <a:cs typeface="Arial"/>
              <a:sym typeface="Arial"/>
            </a:endParaRPr>
          </a:p>
          <a:p>
            <a:pPr indent="0" lvl="0" marL="0" rtl="0" algn="just">
              <a:lnSpc>
                <a:spcPct val="100000"/>
              </a:lnSpc>
              <a:spcBef>
                <a:spcPts val="360"/>
              </a:spcBef>
              <a:spcAft>
                <a:spcPts val="0"/>
              </a:spcAft>
              <a:buClr>
                <a:srgbClr val="242021"/>
              </a:buClr>
              <a:buSzPts val="1800"/>
              <a:buNone/>
            </a:pPr>
            <a:r>
              <a:rPr b="0" i="0" lang="en-US" sz="1800">
                <a:solidFill>
                  <a:srgbClr val="242021"/>
                </a:solidFill>
              </a:rPr>
              <a:t>Halstead defines a volume ratio </a:t>
            </a:r>
            <a:r>
              <a:rPr b="0" i="1" lang="en-US" sz="1800">
                <a:solidFill>
                  <a:srgbClr val="242021"/>
                </a:solidFill>
              </a:rPr>
              <a:t>L </a:t>
            </a:r>
            <a:r>
              <a:rPr b="0" i="0" lang="en-US" sz="1800">
                <a:solidFill>
                  <a:srgbClr val="242021"/>
                </a:solidFill>
              </a:rPr>
              <a:t>as the ratio of volume of the most compact form of a program to the volume of the actual program. In actuality, </a:t>
            </a:r>
            <a:r>
              <a:rPr b="0" i="1" lang="en-US" sz="1800">
                <a:solidFill>
                  <a:srgbClr val="242021"/>
                </a:solidFill>
              </a:rPr>
              <a:t>L </a:t>
            </a:r>
            <a:r>
              <a:rPr b="0" i="0" lang="en-US" sz="1800">
                <a:solidFill>
                  <a:srgbClr val="242021"/>
                </a:solidFill>
              </a:rPr>
              <a:t>must always be less than 1.</a:t>
            </a:r>
            <a:r>
              <a:rPr lang="en-US" sz="1800"/>
              <a:t> </a:t>
            </a:r>
            <a:br>
              <a:rPr lang="en-US" sz="1800"/>
            </a:br>
            <a:endParaRPr sz="1800">
              <a:solidFill>
                <a:srgbClr val="242021"/>
              </a:solidFill>
            </a:endParaRPr>
          </a:p>
          <a:p>
            <a:pPr indent="0" lvl="0" marL="0" rtl="0" algn="just">
              <a:lnSpc>
                <a:spcPct val="150000"/>
              </a:lnSpc>
              <a:spcBef>
                <a:spcPts val="180"/>
              </a:spcBef>
              <a:spcAft>
                <a:spcPts val="0"/>
              </a:spcAft>
              <a:buClr>
                <a:schemeClr val="dk1"/>
              </a:buClr>
              <a:buSzPts val="900"/>
              <a:buNone/>
            </a:pPr>
            <a:r>
              <a:t/>
            </a:r>
            <a:endParaRPr b="0" i="0" sz="900">
              <a:solidFill>
                <a:srgbClr val="242021"/>
              </a:solidFill>
            </a:endParaRPr>
          </a:p>
          <a:p>
            <a:pPr indent="0" lvl="0" marL="0" rtl="0" algn="just">
              <a:lnSpc>
                <a:spcPct val="150000"/>
              </a:lnSpc>
              <a:spcBef>
                <a:spcPts val="360"/>
              </a:spcBef>
              <a:spcAft>
                <a:spcPts val="0"/>
              </a:spcAft>
              <a:buClr>
                <a:schemeClr val="dk1"/>
              </a:buClr>
              <a:buSzPts val="1800"/>
              <a:buNone/>
            </a:pPr>
            <a:r>
              <a:t/>
            </a:r>
            <a:endParaRPr sz="1800"/>
          </a:p>
        </p:txBody>
      </p:sp>
      <p:pic>
        <p:nvPicPr>
          <p:cNvPr id="526" name="Google Shape;526;p65"/>
          <p:cNvPicPr preferRelativeResize="0"/>
          <p:nvPr/>
        </p:nvPicPr>
        <p:blipFill rotWithShape="1">
          <a:blip r:embed="rId3">
            <a:alphaModFix/>
          </a:blip>
          <a:srcRect b="0" l="0" r="0" t="0"/>
          <a:stretch/>
        </p:blipFill>
        <p:spPr>
          <a:xfrm>
            <a:off x="489358" y="1691026"/>
            <a:ext cx="5726883" cy="1253580"/>
          </a:xfrm>
          <a:prstGeom prst="rect">
            <a:avLst/>
          </a:prstGeom>
          <a:noFill/>
          <a:ln>
            <a:noFill/>
          </a:ln>
        </p:spPr>
      </p:pic>
      <p:pic>
        <p:nvPicPr>
          <p:cNvPr id="527" name="Google Shape;527;p65"/>
          <p:cNvPicPr preferRelativeResize="0"/>
          <p:nvPr/>
        </p:nvPicPr>
        <p:blipFill rotWithShape="1">
          <a:blip r:embed="rId4">
            <a:alphaModFix/>
          </a:blip>
          <a:srcRect b="0" l="0" r="0" t="0"/>
          <a:stretch/>
        </p:blipFill>
        <p:spPr>
          <a:xfrm>
            <a:off x="1981200" y="3076693"/>
            <a:ext cx="5014914" cy="1631099"/>
          </a:xfrm>
          <a:prstGeom prst="rect">
            <a:avLst/>
          </a:prstGeom>
          <a:noFill/>
          <a:ln>
            <a:noFill/>
          </a:ln>
        </p:spPr>
      </p:pic>
      <p:pic>
        <p:nvPicPr>
          <p:cNvPr id="528" name="Google Shape;528;p65"/>
          <p:cNvPicPr preferRelativeResize="0"/>
          <p:nvPr/>
        </p:nvPicPr>
        <p:blipFill rotWithShape="1">
          <a:blip r:embed="rId5">
            <a:alphaModFix/>
          </a:blip>
          <a:srcRect b="0" l="0" r="0" t="0"/>
          <a:stretch/>
        </p:blipFill>
        <p:spPr>
          <a:xfrm>
            <a:off x="3352800" y="5650634"/>
            <a:ext cx="1323976" cy="521566"/>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2" name="Shape 532"/>
        <p:cNvGrpSpPr/>
        <p:nvPr/>
      </p:nvGrpSpPr>
      <p:grpSpPr>
        <a:xfrm>
          <a:off x="0" y="0"/>
          <a:ext cx="0" cy="0"/>
          <a:chOff x="0" y="0"/>
          <a:chExt cx="0" cy="0"/>
        </a:xfrm>
      </p:grpSpPr>
      <p:sp>
        <p:nvSpPr>
          <p:cNvPr id="533" name="Google Shape;533;p6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34" name="Google Shape;534;p6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35" name="Google Shape;535;p66"/>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Metrics for Object-Oriented Testing: </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Lack of cohesion in methods (LCOM).</a:t>
            </a:r>
            <a:r>
              <a:rPr b="0" i="0" lang="en-US" sz="1800">
                <a:solidFill>
                  <a:srgbClr val="3A30FA"/>
                </a:solidFill>
              </a:rPr>
              <a:t> </a:t>
            </a:r>
            <a:r>
              <a:rPr b="0" i="0" lang="en-US" sz="1800">
                <a:solidFill>
                  <a:srgbClr val="242021"/>
                </a:solidFill>
              </a:rPr>
              <a:t>The higher the value of LCOM, the more states must be tested to ensure that methods do not generate side effects.</a:t>
            </a:r>
            <a:endParaRPr/>
          </a:p>
          <a:p>
            <a:pPr indent="-400050" lvl="0" marL="400050" rtl="0" algn="just">
              <a:lnSpc>
                <a:spcPct val="150000"/>
              </a:lnSpc>
              <a:spcBef>
                <a:spcPts val="360"/>
              </a:spcBef>
              <a:spcAft>
                <a:spcPts val="0"/>
              </a:spcAft>
              <a:buClr>
                <a:srgbClr val="3A30FA"/>
              </a:buClr>
              <a:buSzPts val="1800"/>
              <a:buFont typeface="Calibri"/>
              <a:buAutoNum type="romanLcPeriod"/>
            </a:pPr>
            <a:r>
              <a:rPr b="1" i="0" lang="en-US" sz="1800">
                <a:solidFill>
                  <a:srgbClr val="3A30FA"/>
                </a:solidFill>
              </a:rPr>
              <a:t>Percent public and protected (PAP).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Public attributes are inherited from other classes and therefore are visible to those classes.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Protected attributes are accessible to methods in subclasses.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This metric indicates the percentage of class attributes that are public or protected. </a:t>
            </a:r>
            <a:endParaRPr/>
          </a:p>
          <a:p>
            <a:pPr indent="-285750" lvl="1" marL="742950" rtl="0" algn="just">
              <a:lnSpc>
                <a:spcPct val="150000"/>
              </a:lnSpc>
              <a:spcBef>
                <a:spcPts val="360"/>
              </a:spcBef>
              <a:spcAft>
                <a:spcPts val="0"/>
              </a:spcAft>
              <a:buClr>
                <a:srgbClr val="242021"/>
              </a:buClr>
              <a:buSzPts val="1800"/>
              <a:buChar char="–"/>
            </a:pPr>
            <a:r>
              <a:rPr b="0" i="0" lang="en-US" sz="1800">
                <a:solidFill>
                  <a:srgbClr val="242021"/>
                </a:solidFill>
              </a:rPr>
              <a:t>High values for PAP increase the likelihood of side effects among classes because public and protected attributes lead to high potential for coupling. </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9" name="Shape 539"/>
        <p:cNvGrpSpPr/>
        <p:nvPr/>
      </p:nvGrpSpPr>
      <p:grpSpPr>
        <a:xfrm>
          <a:off x="0" y="0"/>
          <a:ext cx="0" cy="0"/>
          <a:chOff x="0" y="0"/>
          <a:chExt cx="0" cy="0"/>
        </a:xfrm>
      </p:grpSpPr>
      <p:sp>
        <p:nvSpPr>
          <p:cNvPr id="540" name="Google Shape;540;p6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41" name="Google Shape;541;p6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42" name="Google Shape;542;p67"/>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Metrics for Object-Oriented Testing (contd.): </a:t>
            </a:r>
            <a:endParaRPr/>
          </a:p>
          <a:p>
            <a:pPr indent="-400050" lvl="0" marL="400050" rtl="0" algn="just">
              <a:lnSpc>
                <a:spcPct val="150000"/>
              </a:lnSpc>
              <a:spcBef>
                <a:spcPts val="360"/>
              </a:spcBef>
              <a:spcAft>
                <a:spcPts val="0"/>
              </a:spcAft>
              <a:buClr>
                <a:srgbClr val="3A30FA"/>
              </a:buClr>
              <a:buSzPts val="1800"/>
              <a:buFont typeface="Calibri"/>
              <a:buAutoNum type="romanLcPeriod" startAt="3"/>
            </a:pPr>
            <a:r>
              <a:rPr b="1" i="0" lang="en-US" sz="1800">
                <a:solidFill>
                  <a:srgbClr val="3A30FA"/>
                </a:solidFill>
              </a:rPr>
              <a:t>Public access to data members (PAD). </a:t>
            </a:r>
            <a:r>
              <a:rPr b="0" i="0" lang="en-US" sz="1800">
                <a:solidFill>
                  <a:srgbClr val="242021"/>
                </a:solidFill>
              </a:rPr>
              <a:t>This metric indicates the number of classes (or methods) that can access another class’s attributes, a violation of encapsulation. High values for PAD lead to the potential for side effects among classes. Tests must be designed to ensure that such side effects are uncovered.</a:t>
            </a:r>
            <a:endParaRPr/>
          </a:p>
          <a:p>
            <a:pPr indent="-285750" lvl="0" marL="400050" rtl="0" algn="just">
              <a:lnSpc>
                <a:spcPct val="150000"/>
              </a:lnSpc>
              <a:spcBef>
                <a:spcPts val="360"/>
              </a:spcBef>
              <a:spcAft>
                <a:spcPts val="0"/>
              </a:spcAft>
              <a:buClr>
                <a:schemeClr val="dk1"/>
              </a:buClr>
              <a:buSzPts val="1800"/>
              <a:buFont typeface="Calibri"/>
              <a:buNone/>
            </a:pPr>
            <a:r>
              <a:t/>
            </a:r>
            <a:endParaRPr b="0" i="0" sz="1800">
              <a:solidFill>
                <a:srgbClr val="242021"/>
              </a:solidFill>
            </a:endParaRPr>
          </a:p>
          <a:p>
            <a:pPr indent="-400050" lvl="0" marL="400050" rtl="0" algn="just">
              <a:lnSpc>
                <a:spcPct val="150000"/>
              </a:lnSpc>
              <a:spcBef>
                <a:spcPts val="360"/>
              </a:spcBef>
              <a:spcAft>
                <a:spcPts val="0"/>
              </a:spcAft>
              <a:buClr>
                <a:srgbClr val="3A30FA"/>
              </a:buClr>
              <a:buSzPts val="1800"/>
              <a:buFont typeface="Calibri"/>
              <a:buAutoNum type="romanLcPeriod" startAt="3"/>
            </a:pPr>
            <a:r>
              <a:rPr b="1" i="0" lang="en-US" sz="1800">
                <a:solidFill>
                  <a:srgbClr val="3A30FA"/>
                </a:solidFill>
              </a:rPr>
              <a:t>Number of root classes (NOR). </a:t>
            </a:r>
            <a:r>
              <a:rPr b="0" i="0" lang="en-US" sz="1800">
                <a:solidFill>
                  <a:srgbClr val="242021"/>
                </a:solidFill>
              </a:rPr>
              <a:t>This metric is a count of the distinct class hierarchies that are described in the design model. Test suites for each root class and the corresponding class hierarchy must be developed. As NOR increases, testing effort also increases.</a:t>
            </a:r>
            <a:endParaRPr/>
          </a:p>
          <a:p>
            <a:pPr indent="0" lvl="0" marL="0" rtl="0" algn="just">
              <a:lnSpc>
                <a:spcPct val="150000"/>
              </a:lnSpc>
              <a:spcBef>
                <a:spcPts val="280"/>
              </a:spcBef>
              <a:spcAft>
                <a:spcPts val="0"/>
              </a:spcAft>
              <a:buClr>
                <a:schemeClr val="dk1"/>
              </a:buClr>
              <a:buSzPts val="1400"/>
              <a:buNone/>
            </a:pPr>
            <a:br>
              <a:rPr lang="en-US" sz="1400"/>
            </a:br>
            <a:endParaRPr b="0" i="0" sz="1800">
              <a:solidFill>
                <a:srgbClr val="242021"/>
              </a:solidFil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6" name="Shape 546"/>
        <p:cNvGrpSpPr/>
        <p:nvPr/>
      </p:nvGrpSpPr>
      <p:grpSpPr>
        <a:xfrm>
          <a:off x="0" y="0"/>
          <a:ext cx="0" cy="0"/>
          <a:chOff x="0" y="0"/>
          <a:chExt cx="0" cy="0"/>
        </a:xfrm>
      </p:grpSpPr>
      <p:sp>
        <p:nvSpPr>
          <p:cNvPr id="547" name="Google Shape;547;p68"/>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48" name="Google Shape;548;p68"/>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49" name="Google Shape;549;p68"/>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Metrics for Object-Oriented Testing (contd.): </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i="0" lang="en-US" sz="1800">
                <a:solidFill>
                  <a:srgbClr val="3A30FA"/>
                </a:solidFill>
              </a:rPr>
              <a:t>Fan-in (FIN). </a:t>
            </a:r>
            <a:r>
              <a:rPr b="0" i="0" lang="en-US" sz="1800">
                <a:solidFill>
                  <a:srgbClr val="242021"/>
                </a:solidFill>
              </a:rPr>
              <a:t>When used in the OO context, fan-in in the inheritance hierarchy is an indication of multiple inheritance. FIN &gt; 1 indicates that a class inherits its attributes and operations from more than one root class. FIN &gt; 1 should be avoided when possible.</a:t>
            </a:r>
            <a:r>
              <a:rPr lang="en-US" sz="1800"/>
              <a:t> </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lang="en-US" sz="1800">
                <a:solidFill>
                  <a:srgbClr val="3A30FA"/>
                </a:solidFill>
              </a:rPr>
              <a:t>Depth of the inheritance tree (DIT). </a:t>
            </a:r>
            <a:r>
              <a:rPr b="0" i="0" lang="en-US" sz="1800">
                <a:solidFill>
                  <a:srgbClr val="242021"/>
                </a:solidFill>
              </a:rPr>
              <a:t>This metric is “</a:t>
            </a:r>
            <a:r>
              <a:rPr b="0" i="1" lang="en-US" sz="1800">
                <a:solidFill>
                  <a:srgbClr val="242021"/>
                </a:solidFill>
              </a:rPr>
              <a:t>the maximum length from the node to the root of the tree”</a:t>
            </a:r>
            <a:r>
              <a:rPr b="0" i="0" lang="en-US" sz="1800">
                <a:solidFill>
                  <a:srgbClr val="242021"/>
                </a:solidFill>
              </a:rPr>
              <a:t>. As DIT grows, it is likely that lower-level classes will inherit many methods</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lang="en-US" sz="1800">
                <a:solidFill>
                  <a:srgbClr val="3A30FA"/>
                </a:solidFill>
              </a:rPr>
              <a:t>Number of children (NOC). </a:t>
            </a:r>
            <a:r>
              <a:rPr b="0" i="0" lang="en-US" sz="1800">
                <a:solidFill>
                  <a:srgbClr val="242021"/>
                </a:solidFill>
              </a:rPr>
              <a:t>The subclasses that are immediately subordinate to a class in the class hierarchy are termed its children. As the number of children grows, reuse increases, but also, as NOC increases, the amount of testing will also increase.</a:t>
            </a:r>
            <a:endParaRPr/>
          </a:p>
          <a:p>
            <a:pPr indent="-273050" lvl="0" marL="342900" rtl="0" algn="l">
              <a:lnSpc>
                <a:spcPct val="100000"/>
              </a:lnSpc>
              <a:spcBef>
                <a:spcPts val="220"/>
              </a:spcBef>
              <a:spcAft>
                <a:spcPts val="0"/>
              </a:spcAft>
              <a:buClr>
                <a:schemeClr val="dk1"/>
              </a:buClr>
              <a:buSzPts val="1100"/>
              <a:buNone/>
            </a:pPr>
            <a:r>
              <a:t/>
            </a:r>
            <a:endParaRPr b="0" i="0" sz="1100">
              <a:solidFill>
                <a:srgbClr val="242021"/>
              </a:solidFill>
            </a:endParaRPr>
          </a:p>
          <a:p>
            <a:pPr indent="-342900" lvl="0" marL="342900" rtl="0" algn="l">
              <a:lnSpc>
                <a:spcPct val="100000"/>
              </a:lnSpc>
              <a:spcBef>
                <a:spcPts val="280"/>
              </a:spcBef>
              <a:spcAft>
                <a:spcPts val="0"/>
              </a:spcAft>
              <a:buClr>
                <a:schemeClr val="dk1"/>
              </a:buClr>
              <a:buSzPts val="1100"/>
              <a:buChar char="•"/>
            </a:pPr>
            <a:br>
              <a:rPr lang="en-US" sz="1100"/>
            </a:br>
            <a:br>
              <a:rPr lang="en-US" sz="1400"/>
            </a:br>
            <a:endParaRPr b="0" i="0" sz="1800">
              <a:solidFill>
                <a:srgbClr val="242021"/>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3" name="Shape 553"/>
        <p:cNvGrpSpPr/>
        <p:nvPr/>
      </p:nvGrpSpPr>
      <p:grpSpPr>
        <a:xfrm>
          <a:off x="0" y="0"/>
          <a:ext cx="0" cy="0"/>
          <a:chOff x="0" y="0"/>
          <a:chExt cx="0" cy="0"/>
        </a:xfrm>
      </p:grpSpPr>
      <p:sp>
        <p:nvSpPr>
          <p:cNvPr id="554" name="Google Shape;554;p75"/>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Metrics for Testing</a:t>
            </a:r>
            <a:endParaRPr/>
          </a:p>
        </p:txBody>
      </p:sp>
      <p:sp>
        <p:nvSpPr>
          <p:cNvPr id="555" name="Google Shape;555;p75"/>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56" name="Google Shape;556;p75"/>
          <p:cNvSpPr txBox="1"/>
          <p:nvPr>
            <p:ph idx="1" type="body"/>
          </p:nvPr>
        </p:nvSpPr>
        <p:spPr>
          <a:xfrm>
            <a:off x="457200" y="1371600"/>
            <a:ext cx="8229600" cy="4526100"/>
          </a:xfrm>
          <a:prstGeom prst="rect">
            <a:avLst/>
          </a:prstGeom>
          <a:noFill/>
          <a:ln>
            <a:noFill/>
          </a:ln>
        </p:spPr>
        <p:txBody>
          <a:bodyPr anchorCtr="0" anchor="t" bIns="45700" lIns="91425" spcFirstLastPara="1" rIns="91425" wrap="square" tIns="45700">
            <a:noAutofit/>
          </a:bodyPr>
          <a:lstStyle/>
          <a:p>
            <a:pPr indent="0" lvl="0" marL="0" rtl="0" algn="just">
              <a:lnSpc>
                <a:spcPct val="150000"/>
              </a:lnSpc>
              <a:spcBef>
                <a:spcPts val="0"/>
              </a:spcBef>
              <a:spcAft>
                <a:spcPts val="0"/>
              </a:spcAft>
              <a:buClr>
                <a:srgbClr val="C00000"/>
              </a:buClr>
              <a:buSzPts val="2000"/>
              <a:buNone/>
            </a:pPr>
            <a:r>
              <a:rPr b="1" lang="en-US" sz="2000">
                <a:solidFill>
                  <a:srgbClr val="C00000"/>
                </a:solidFill>
              </a:rPr>
              <a:t>2. Metrics for Object-Oriented Testing (contd.): </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i="0" lang="en-US" sz="1800">
                <a:solidFill>
                  <a:srgbClr val="3A30FA"/>
                </a:solidFill>
              </a:rPr>
              <a:t>Fan-in (FIN). </a:t>
            </a:r>
            <a:r>
              <a:rPr b="0" i="0" lang="en-US" sz="1800">
                <a:solidFill>
                  <a:srgbClr val="242021"/>
                </a:solidFill>
              </a:rPr>
              <a:t>When used in the OO context, fan-in in the inheritance hierarchy is an indication of multiple inheritance. FIN &gt; 1 indicates that a class inherits its attributes and operations from more than one root class. FIN &gt; 1 should be avoided when possible.</a:t>
            </a:r>
            <a:r>
              <a:rPr lang="en-US" sz="1800"/>
              <a:t> </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lang="en-US" sz="1800">
                <a:solidFill>
                  <a:srgbClr val="3A30FA"/>
                </a:solidFill>
              </a:rPr>
              <a:t>Depth of the inheritance tree (DIT). </a:t>
            </a:r>
            <a:r>
              <a:rPr b="0" i="0" lang="en-US" sz="1800">
                <a:solidFill>
                  <a:srgbClr val="242021"/>
                </a:solidFill>
              </a:rPr>
              <a:t>This metric is “</a:t>
            </a:r>
            <a:r>
              <a:rPr b="0" i="1" lang="en-US" sz="1800">
                <a:solidFill>
                  <a:srgbClr val="242021"/>
                </a:solidFill>
              </a:rPr>
              <a:t>the maximum length from the node to the root of the tree”</a:t>
            </a:r>
            <a:r>
              <a:rPr b="0" i="0" lang="en-US" sz="1800">
                <a:solidFill>
                  <a:srgbClr val="242021"/>
                </a:solidFill>
              </a:rPr>
              <a:t>. As DIT grows, it is likely that lower-level classes will inherit many methods</a:t>
            </a:r>
            <a:endParaRPr/>
          </a:p>
          <a:p>
            <a:pPr indent="-400050" lvl="0" marL="400050" rtl="0" algn="just">
              <a:lnSpc>
                <a:spcPct val="150000"/>
              </a:lnSpc>
              <a:spcBef>
                <a:spcPts val="360"/>
              </a:spcBef>
              <a:spcAft>
                <a:spcPts val="0"/>
              </a:spcAft>
              <a:buClr>
                <a:srgbClr val="3A30FA"/>
              </a:buClr>
              <a:buSzPts val="1800"/>
              <a:buFont typeface="Calibri"/>
              <a:buAutoNum type="romanLcPeriod" startAt="5"/>
            </a:pPr>
            <a:r>
              <a:rPr b="1" lang="en-US" sz="1800">
                <a:solidFill>
                  <a:srgbClr val="3A30FA"/>
                </a:solidFill>
              </a:rPr>
              <a:t>Number of children (NOC). </a:t>
            </a:r>
            <a:r>
              <a:rPr b="0" i="0" lang="en-US" sz="1800">
                <a:solidFill>
                  <a:srgbClr val="242021"/>
                </a:solidFill>
              </a:rPr>
              <a:t>The subclasses that are immediately subordinate to a class in the class hierarchy are termed its children. As the number of children grows, reuse increases, but also, as NOC increases, the amount of testing will also increase.</a:t>
            </a:r>
            <a:endParaRPr/>
          </a:p>
          <a:p>
            <a:pPr indent="-273050" lvl="0" marL="342900" rtl="0" algn="l">
              <a:lnSpc>
                <a:spcPct val="100000"/>
              </a:lnSpc>
              <a:spcBef>
                <a:spcPts val="220"/>
              </a:spcBef>
              <a:spcAft>
                <a:spcPts val="0"/>
              </a:spcAft>
              <a:buClr>
                <a:schemeClr val="dk1"/>
              </a:buClr>
              <a:buSzPts val="1100"/>
              <a:buNone/>
            </a:pPr>
            <a:r>
              <a:t/>
            </a:r>
            <a:endParaRPr b="0" i="0" sz="1100">
              <a:solidFill>
                <a:srgbClr val="242021"/>
              </a:solidFill>
            </a:endParaRPr>
          </a:p>
          <a:p>
            <a:pPr indent="-342900" lvl="0" marL="342900" rtl="0" algn="l">
              <a:lnSpc>
                <a:spcPct val="100000"/>
              </a:lnSpc>
              <a:spcBef>
                <a:spcPts val="280"/>
              </a:spcBef>
              <a:spcAft>
                <a:spcPts val="0"/>
              </a:spcAft>
              <a:buClr>
                <a:schemeClr val="dk1"/>
              </a:buClr>
              <a:buSzPts val="1100"/>
              <a:buChar char="•"/>
            </a:pPr>
            <a:br>
              <a:rPr lang="en-US" sz="1100"/>
            </a:br>
            <a:br>
              <a:rPr lang="en-US" sz="1400"/>
            </a:br>
            <a:endParaRPr b="0" i="0" sz="1800">
              <a:solidFill>
                <a:srgbClr val="242021"/>
              </a:solidFil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6"/>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Practice Questions</a:t>
            </a:r>
            <a:endParaRPr/>
          </a:p>
        </p:txBody>
      </p:sp>
      <p:sp>
        <p:nvSpPr>
          <p:cNvPr id="562" name="Google Shape;562;p76"/>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63" name="Google Shape;563;p76"/>
          <p:cNvSpPr txBox="1"/>
          <p:nvPr>
            <p:ph idx="1" type="body"/>
          </p:nvPr>
        </p:nvSpPr>
        <p:spPr>
          <a:xfrm>
            <a:off x="128587" y="1428750"/>
            <a:ext cx="8229600" cy="4525963"/>
          </a:xfrm>
          <a:prstGeom prst="rect">
            <a:avLst/>
          </a:prstGeom>
          <a:noFill/>
          <a:ln>
            <a:noFill/>
          </a:ln>
        </p:spPr>
        <p:txBody>
          <a:bodyPr anchorCtr="0" anchor="t" bIns="45700" lIns="91425" spcFirstLastPara="1" rIns="91425" wrap="square" tIns="45700">
            <a:noAutofit/>
          </a:bodyPr>
          <a:lstStyle/>
          <a:p>
            <a:pPr indent="0" lvl="0" marL="88900" rtl="0" algn="l">
              <a:lnSpc>
                <a:spcPct val="100000"/>
              </a:lnSpc>
              <a:spcBef>
                <a:spcPts val="440"/>
              </a:spcBef>
              <a:spcAft>
                <a:spcPts val="0"/>
              </a:spcAft>
              <a:buSzPts val="2200"/>
              <a:buNone/>
            </a:pPr>
            <a:r>
              <a:rPr lang="en-US" sz="1600"/>
              <a:t>1. What are the four P’s of the management spectrum in software engineering?</a:t>
            </a:r>
            <a:endParaRPr/>
          </a:p>
          <a:p>
            <a:pPr indent="0" lvl="0" marL="88900" rtl="0" algn="l">
              <a:lnSpc>
                <a:spcPct val="100000"/>
              </a:lnSpc>
              <a:spcBef>
                <a:spcPts val="440"/>
              </a:spcBef>
              <a:spcAft>
                <a:spcPts val="0"/>
              </a:spcAft>
              <a:buSzPts val="2200"/>
              <a:buNone/>
            </a:pPr>
            <a:r>
              <a:rPr lang="en-US" sz="1600"/>
              <a:t>a) Planning, People, Process, Product</a:t>
            </a:r>
            <a:br>
              <a:rPr lang="en-US" sz="1600"/>
            </a:br>
            <a:r>
              <a:rPr lang="en-US" sz="1600"/>
              <a:t>b) People, Process, Product, Project</a:t>
            </a:r>
            <a:br>
              <a:rPr lang="en-US" sz="1600"/>
            </a:br>
            <a:r>
              <a:rPr lang="en-US" sz="1600"/>
              <a:t>c) People, Planning, Performance, Process</a:t>
            </a:r>
            <a:br>
              <a:rPr lang="en-US" sz="1600"/>
            </a:br>
            <a:r>
              <a:rPr lang="en-US" sz="1600"/>
              <a:t>d) Project, Process, Productivity, People</a:t>
            </a:r>
            <a:endParaRPr/>
          </a:p>
          <a:p>
            <a:pPr indent="0" lvl="0" marL="88900" rtl="0" algn="l">
              <a:lnSpc>
                <a:spcPct val="100000"/>
              </a:lnSpc>
              <a:spcBef>
                <a:spcPts val="440"/>
              </a:spcBef>
              <a:spcAft>
                <a:spcPts val="0"/>
              </a:spcAft>
              <a:buSzPts val="2200"/>
              <a:buNone/>
            </a:pPr>
            <a:r>
              <a:rPr lang="en-US" sz="1600"/>
              <a:t>Answer: b) People, Process, Product, Project</a:t>
            </a:r>
            <a:endParaRPr/>
          </a:p>
          <a:p>
            <a:pPr indent="0" lvl="0" marL="88900" rtl="0" algn="l">
              <a:lnSpc>
                <a:spcPct val="100000"/>
              </a:lnSpc>
              <a:spcBef>
                <a:spcPts val="440"/>
              </a:spcBef>
              <a:spcAft>
                <a:spcPts val="0"/>
              </a:spcAft>
              <a:buSzPts val="2200"/>
              <a:buNone/>
            </a:pPr>
            <a:r>
              <a:t/>
            </a:r>
            <a:endParaRPr sz="1600"/>
          </a:p>
          <a:p>
            <a:pPr indent="0" lvl="0" marL="88900" rtl="0" algn="l">
              <a:lnSpc>
                <a:spcPct val="100000"/>
              </a:lnSpc>
              <a:spcBef>
                <a:spcPts val="440"/>
              </a:spcBef>
              <a:spcAft>
                <a:spcPts val="0"/>
              </a:spcAft>
              <a:buSzPts val="2200"/>
              <a:buNone/>
            </a:pPr>
            <a:r>
              <a:rPr lang="en-US" sz="1600"/>
              <a:t>2. What is the main goal of software metrics?</a:t>
            </a:r>
            <a:endParaRPr/>
          </a:p>
          <a:p>
            <a:pPr indent="0" lvl="0" marL="88900" rtl="0" algn="l">
              <a:lnSpc>
                <a:spcPct val="100000"/>
              </a:lnSpc>
              <a:spcBef>
                <a:spcPts val="440"/>
              </a:spcBef>
              <a:spcAft>
                <a:spcPts val="0"/>
              </a:spcAft>
              <a:buSzPts val="2200"/>
              <a:buNone/>
            </a:pPr>
            <a:r>
              <a:rPr lang="en-US" sz="1600"/>
              <a:t>a) To make programming languages easier to learn</a:t>
            </a:r>
            <a:br>
              <a:rPr lang="en-US" sz="1600"/>
            </a:br>
            <a:r>
              <a:rPr lang="en-US" sz="1600"/>
              <a:t>b) To improve software quality and process efficiency</a:t>
            </a:r>
            <a:br>
              <a:rPr lang="en-US" sz="1600"/>
            </a:br>
            <a:r>
              <a:rPr lang="en-US" sz="1600"/>
              <a:t>c) To increase hardware speed</a:t>
            </a:r>
            <a:br>
              <a:rPr lang="en-US" sz="1600"/>
            </a:br>
            <a:r>
              <a:rPr lang="en-US" sz="1600"/>
              <a:t>d) To reduce software costs only</a:t>
            </a:r>
            <a:endParaRPr/>
          </a:p>
          <a:p>
            <a:pPr indent="0" lvl="0" marL="88900" rtl="0" algn="l">
              <a:lnSpc>
                <a:spcPct val="100000"/>
              </a:lnSpc>
              <a:spcBef>
                <a:spcPts val="440"/>
              </a:spcBef>
              <a:spcAft>
                <a:spcPts val="0"/>
              </a:spcAft>
              <a:buSzPts val="2200"/>
              <a:buNone/>
            </a:pPr>
            <a:r>
              <a:rPr lang="en-US" sz="1600"/>
              <a:t>Answer: b) To improve software qual</a:t>
            </a:r>
            <a:endParaRPr sz="1600"/>
          </a:p>
          <a:p>
            <a:pPr indent="0" lvl="0" marL="88900" rtl="0" algn="l">
              <a:lnSpc>
                <a:spcPct val="100000"/>
              </a:lnSpc>
              <a:spcBef>
                <a:spcPts val="440"/>
              </a:spcBef>
              <a:spcAft>
                <a:spcPts val="0"/>
              </a:spcAft>
              <a:buSzPts val="2200"/>
              <a:buNone/>
            </a:pPr>
            <a:r>
              <a:t/>
            </a:r>
            <a:endParaRPr sz="1600"/>
          </a:p>
          <a:p>
            <a:pPr indent="0" lvl="0" marL="88900" rtl="0" algn="l">
              <a:lnSpc>
                <a:spcPct val="100000"/>
              </a:lnSpc>
              <a:spcBef>
                <a:spcPts val="440"/>
              </a:spcBef>
              <a:spcAft>
                <a:spcPts val="0"/>
              </a:spcAft>
              <a:buSzPts val="2200"/>
              <a:buNone/>
            </a:pPr>
            <a:r>
              <a:t/>
            </a:r>
            <a:endParaRPr sz="1600"/>
          </a:p>
          <a:p>
            <a:pPr indent="-228600" lvl="0" marL="457200" rtl="0" algn="l">
              <a:lnSpc>
                <a:spcPct val="100000"/>
              </a:lnSpc>
              <a:spcBef>
                <a:spcPts val="440"/>
              </a:spcBef>
              <a:spcAft>
                <a:spcPts val="0"/>
              </a:spcAft>
              <a:buClr>
                <a:schemeClr val="dk1"/>
              </a:buClr>
              <a:buSzPts val="2200"/>
              <a:buNone/>
            </a:pPr>
            <a:r>
              <a:t/>
            </a:r>
            <a:endParaRPr/>
          </a:p>
        </p:txBody>
      </p:sp>
      <p:sp>
        <p:nvSpPr>
          <p:cNvPr id="564" name="Google Shape;564;p76"/>
          <p:cNvSpPr txBox="1"/>
          <p:nvPr/>
        </p:nvSpPr>
        <p:spPr>
          <a:xfrm>
            <a:off x="1014413" y="2843213"/>
            <a:ext cx="3057525"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
        <p:nvSpPr>
          <p:cNvPr id="565" name="Google Shape;565;p76"/>
          <p:cNvSpPr txBox="1"/>
          <p:nvPr/>
        </p:nvSpPr>
        <p:spPr>
          <a:xfrm>
            <a:off x="1014412" y="4724400"/>
            <a:ext cx="3057525"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7"/>
          <p:cNvSpPr txBox="1"/>
          <p:nvPr>
            <p:ph type="title"/>
          </p:nvPr>
        </p:nvSpPr>
        <p:spPr>
          <a:xfrm>
            <a:off x="0" y="0"/>
            <a:ext cx="6477000" cy="838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b="1" lang="en-US">
                <a:latin typeface="Times"/>
                <a:ea typeface="Times"/>
                <a:cs typeface="Times"/>
                <a:sym typeface="Times"/>
              </a:rPr>
              <a:t>Practice Questions</a:t>
            </a:r>
            <a:endParaRPr/>
          </a:p>
        </p:txBody>
      </p:sp>
      <p:sp>
        <p:nvSpPr>
          <p:cNvPr id="571" name="Google Shape;571;p77"/>
          <p:cNvSpPr txBox="1"/>
          <p:nvPr>
            <p:ph idx="12" type="sldNum"/>
          </p:nvPr>
        </p:nvSpPr>
        <p:spPr>
          <a:xfrm>
            <a:off x="6553200" y="6629400"/>
            <a:ext cx="2133600" cy="17895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a:p>
        </p:txBody>
      </p:sp>
      <p:sp>
        <p:nvSpPr>
          <p:cNvPr id="572" name="Google Shape;572;p77"/>
          <p:cNvSpPr txBox="1"/>
          <p:nvPr>
            <p:ph idx="1" type="body"/>
          </p:nvPr>
        </p:nvSpPr>
        <p:spPr>
          <a:xfrm>
            <a:off x="128587" y="1428750"/>
            <a:ext cx="8229600" cy="4525963"/>
          </a:xfrm>
          <a:prstGeom prst="rect">
            <a:avLst/>
          </a:prstGeom>
          <a:noFill/>
          <a:ln>
            <a:noFill/>
          </a:ln>
        </p:spPr>
        <p:txBody>
          <a:bodyPr anchorCtr="0" anchor="t" bIns="45700" lIns="91425" spcFirstLastPara="1" rIns="91425" wrap="square" tIns="45700">
            <a:noAutofit/>
          </a:bodyPr>
          <a:lstStyle/>
          <a:p>
            <a:pPr indent="0" lvl="0" marL="88900" rtl="0" algn="l">
              <a:lnSpc>
                <a:spcPct val="100000"/>
              </a:lnSpc>
              <a:spcBef>
                <a:spcPts val="440"/>
              </a:spcBef>
              <a:spcAft>
                <a:spcPts val="0"/>
              </a:spcAft>
              <a:buSzPts val="2200"/>
              <a:buNone/>
            </a:pPr>
            <a:r>
              <a:rPr lang="en-US" sz="1600"/>
              <a:t>3. What does DRE (Defect Removal Efficiency) measure?</a:t>
            </a:r>
            <a:endParaRPr/>
          </a:p>
          <a:p>
            <a:pPr indent="0" lvl="0" marL="88900" rtl="0" algn="l">
              <a:lnSpc>
                <a:spcPct val="100000"/>
              </a:lnSpc>
              <a:spcBef>
                <a:spcPts val="440"/>
              </a:spcBef>
              <a:spcAft>
                <a:spcPts val="0"/>
              </a:spcAft>
              <a:buSzPts val="2200"/>
              <a:buNone/>
            </a:pPr>
            <a:r>
              <a:rPr lang="en-US" sz="1600"/>
              <a:t>a) The number of users</a:t>
            </a:r>
            <a:br>
              <a:rPr lang="en-US" sz="1600"/>
            </a:br>
            <a:r>
              <a:rPr lang="en-US" sz="1600"/>
              <a:t>b) The speed of the software</a:t>
            </a:r>
            <a:br>
              <a:rPr lang="en-US" sz="1600"/>
            </a:br>
            <a:r>
              <a:rPr lang="en-US" sz="1600"/>
              <a:t>c) The ability to remove defects before delivery</a:t>
            </a:r>
            <a:br>
              <a:rPr lang="en-US" sz="1600"/>
            </a:br>
            <a:r>
              <a:rPr lang="en-US" sz="1600"/>
              <a:t>d) The cost of software development</a:t>
            </a:r>
            <a:endParaRPr/>
          </a:p>
          <a:p>
            <a:pPr indent="0" lvl="0" marL="88900" rtl="0" algn="l">
              <a:lnSpc>
                <a:spcPct val="100000"/>
              </a:lnSpc>
              <a:spcBef>
                <a:spcPts val="440"/>
              </a:spcBef>
              <a:spcAft>
                <a:spcPts val="0"/>
              </a:spcAft>
              <a:buSzPts val="2200"/>
              <a:buNone/>
            </a:pPr>
            <a:r>
              <a:rPr lang="en-US" sz="1600"/>
              <a:t>Answer: c) The ability to remove defects before delivery</a:t>
            </a:r>
            <a:endParaRPr/>
          </a:p>
          <a:p>
            <a:pPr indent="0" lvl="0" marL="88900" rtl="0" algn="l">
              <a:lnSpc>
                <a:spcPct val="100000"/>
              </a:lnSpc>
              <a:spcBef>
                <a:spcPts val="440"/>
              </a:spcBef>
              <a:spcAft>
                <a:spcPts val="0"/>
              </a:spcAft>
              <a:buSzPts val="2200"/>
              <a:buNone/>
            </a:pPr>
            <a:r>
              <a:t/>
            </a:r>
            <a:endParaRPr sz="1600"/>
          </a:p>
          <a:p>
            <a:pPr indent="0" lvl="0" marL="88900" rtl="0" algn="l">
              <a:lnSpc>
                <a:spcPct val="100000"/>
              </a:lnSpc>
              <a:spcBef>
                <a:spcPts val="440"/>
              </a:spcBef>
              <a:spcAft>
                <a:spcPts val="0"/>
              </a:spcAft>
              <a:buSzPts val="2200"/>
              <a:buNone/>
            </a:pPr>
            <a:r>
              <a:rPr lang="en-US" sz="1600"/>
              <a:t>4. What is another name for "Problem Decomposition"?</a:t>
            </a:r>
            <a:endParaRPr/>
          </a:p>
          <a:p>
            <a:pPr indent="0" lvl="0" marL="88900" rtl="0" algn="l">
              <a:lnSpc>
                <a:spcPct val="100000"/>
              </a:lnSpc>
              <a:spcBef>
                <a:spcPts val="440"/>
              </a:spcBef>
              <a:spcAft>
                <a:spcPts val="0"/>
              </a:spcAft>
              <a:buSzPts val="2200"/>
              <a:buNone/>
            </a:pPr>
            <a:r>
              <a:rPr lang="en-US" sz="1600"/>
              <a:t>a) Partitioning</a:t>
            </a:r>
            <a:br>
              <a:rPr lang="en-US" sz="1600"/>
            </a:br>
            <a:r>
              <a:rPr lang="en-US" sz="1600"/>
              <a:t>b) Integration</a:t>
            </a:r>
            <a:br>
              <a:rPr lang="en-US" sz="1600"/>
            </a:br>
            <a:r>
              <a:rPr lang="en-US" sz="1600"/>
              <a:t>c) Debugging</a:t>
            </a:r>
            <a:br>
              <a:rPr lang="en-US" sz="1600"/>
            </a:br>
            <a:r>
              <a:rPr lang="en-US" sz="1600"/>
              <a:t>d) Testing</a:t>
            </a:r>
            <a:endParaRPr/>
          </a:p>
          <a:p>
            <a:pPr indent="0" lvl="0" marL="88900" rtl="0" algn="l">
              <a:lnSpc>
                <a:spcPct val="100000"/>
              </a:lnSpc>
              <a:spcBef>
                <a:spcPts val="440"/>
              </a:spcBef>
              <a:spcAft>
                <a:spcPts val="0"/>
              </a:spcAft>
              <a:buSzPts val="2200"/>
              <a:buNone/>
            </a:pPr>
            <a:r>
              <a:rPr lang="en-US" sz="1600"/>
              <a:t>Answer: a) Partitioning</a:t>
            </a:r>
            <a:endParaRPr/>
          </a:p>
          <a:p>
            <a:pPr indent="0" lvl="0" marL="88900" rtl="0" algn="l">
              <a:lnSpc>
                <a:spcPct val="100000"/>
              </a:lnSpc>
              <a:spcBef>
                <a:spcPts val="440"/>
              </a:spcBef>
              <a:spcAft>
                <a:spcPts val="0"/>
              </a:spcAft>
              <a:buSzPts val="2200"/>
              <a:buNone/>
            </a:pPr>
            <a:r>
              <a:t/>
            </a:r>
            <a:endParaRPr sz="1600"/>
          </a:p>
          <a:p>
            <a:pPr indent="0" lvl="0" marL="88900" rtl="0" algn="l">
              <a:lnSpc>
                <a:spcPct val="100000"/>
              </a:lnSpc>
              <a:spcBef>
                <a:spcPts val="440"/>
              </a:spcBef>
              <a:spcAft>
                <a:spcPts val="0"/>
              </a:spcAft>
              <a:buSzPts val="2200"/>
              <a:buNone/>
            </a:pPr>
            <a:r>
              <a:t/>
            </a:r>
            <a:endParaRPr sz="1600"/>
          </a:p>
          <a:p>
            <a:pPr indent="-228600" lvl="0" marL="457200" rtl="0" algn="l">
              <a:lnSpc>
                <a:spcPct val="100000"/>
              </a:lnSpc>
              <a:spcBef>
                <a:spcPts val="440"/>
              </a:spcBef>
              <a:spcAft>
                <a:spcPts val="0"/>
              </a:spcAft>
              <a:buClr>
                <a:schemeClr val="dk1"/>
              </a:buClr>
              <a:buSzPts val="2200"/>
              <a:buNone/>
            </a:pPr>
            <a:r>
              <a:t/>
            </a:r>
            <a:endParaRPr/>
          </a:p>
        </p:txBody>
      </p:sp>
      <p:sp>
        <p:nvSpPr>
          <p:cNvPr id="573" name="Google Shape;573;p77"/>
          <p:cNvSpPr txBox="1"/>
          <p:nvPr/>
        </p:nvSpPr>
        <p:spPr>
          <a:xfrm>
            <a:off x="1014413" y="2843213"/>
            <a:ext cx="4014787" cy="257175"/>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
        <p:nvSpPr>
          <p:cNvPr id="574" name="Google Shape;574;p77"/>
          <p:cNvSpPr txBox="1"/>
          <p:nvPr/>
        </p:nvSpPr>
        <p:spPr>
          <a:xfrm>
            <a:off x="1014413" y="4757738"/>
            <a:ext cx="3057525" cy="307777"/>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t/>
            </a:r>
            <a:endParaRPr b="0" i="0" sz="1400" u="none" cap="none" strike="noStrike">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2021-07-05T10:09:00Z</dcterms:created>
  <dc:creator>ABC</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1033-11.2.0.10463</vt:lpwstr>
  </property>
  <property fmtid="{D5CDD505-2E9C-101B-9397-08002B2CF9AE}" pid="3" name="ICV">
    <vt:lpwstr>C66E8A929365439D9183C5235316B3C9</vt:lpwstr>
  </property>
</Properties>
</file>