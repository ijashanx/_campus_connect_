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63" r:id="rId3"/>
    <p:sldId id="257" r:id="rId4"/>
    <p:sldId id="260" r:id="rId5"/>
    <p:sldId id="258" r:id="rId6"/>
    <p:sldId id="259" r:id="rId7"/>
    <p:sldId id="264" r:id="rId8"/>
    <p:sldId id="262" r:id="rId9"/>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jA+1eX66IXCUKd/m7FHR3xUNQ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B0631-40D5-40E4-93E4-E84F9DB29769}" v="93" dt="2025-08-31T19:58:04.798"/>
    <p1510:client id="{CB6FB9B8-698D-4FA4-8D3F-9D0168C2913A}" v="20" dt="2025-09-01T04:42:35.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5" d="100"/>
          <a:sy n="55" d="100"/>
        </p:scale>
        <p:origin x="1600" y="65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32" Type="http://schemas.openxmlformats.org/officeDocument/2006/relationships/presProps" Target="presProps.xml"/><Relationship Id="rId5" Type="http://schemas.openxmlformats.org/officeDocument/2006/relationships/slide" Target="slides/slide4.xml"/><Relationship Id="rId36" Type="http://schemas.microsoft.com/office/2015/10/relationships/revisionInfo" Target="revisionInfo.xml"/><Relationship Id="rId10" Type="http://schemas.openxmlformats.org/officeDocument/2006/relationships/notesMaster" Target="notesMasters/notesMaster1.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pic>
        <p:nvPicPr>
          <p:cNvPr id="21" name="Google Shape;21;p45"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2" name="Google Shape;22;p45"/>
          <p:cNvGrpSpPr/>
          <p:nvPr/>
        </p:nvGrpSpPr>
        <p:grpSpPr>
          <a:xfrm>
            <a:off x="6146800" y="0"/>
            <a:ext cx="2997200" cy="876300"/>
            <a:chOff x="6096000" y="3924300"/>
            <a:chExt cx="2997200" cy="876300"/>
          </a:xfrm>
        </p:grpSpPr>
        <p:sp>
          <p:nvSpPr>
            <p:cNvPr id="23" name="Google Shape;23;p4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 name="Google Shape;24;p45"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5" name="Google Shape;25;p4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6" name="Google Shape;26;p45"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27" name="Google Shape;27;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4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45"/>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5"/>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
        <p:cNvGrpSpPr/>
        <p:nvPr/>
      </p:nvGrpSpPr>
      <p:grpSpPr>
        <a:xfrm>
          <a:off x="0" y="0"/>
          <a:ext cx="0" cy="0"/>
          <a:chOff x="0" y="0"/>
          <a:chExt cx="0" cy="0"/>
        </a:xfrm>
      </p:grpSpPr>
      <p:sp>
        <p:nvSpPr>
          <p:cNvPr id="33" name="Google Shape;33;p46"/>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6"/>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0" y="0"/>
            <a:ext cx="6477000" cy="8382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sz="4300" b="0" i="0">
                <a:solidFill>
                  <a:srgbClr val="54607B"/>
                </a:solidFill>
                <a:latin typeface="Trebuchet MS"/>
                <a:ea typeface="Trebuchet MS"/>
                <a:cs typeface="Trebuchet MS"/>
                <a:sym typeface="Trebuchet M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7"/>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7"/>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7" name="Google Shape;7;p4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4"/>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44"/>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 name="Google Shape;10;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1" name="Google Shape;11;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2" name="Google Shape;12;p44"/>
          <p:cNvGrpSpPr/>
          <p:nvPr/>
        </p:nvGrpSpPr>
        <p:grpSpPr>
          <a:xfrm>
            <a:off x="6146800" y="0"/>
            <a:ext cx="2997200" cy="876300"/>
            <a:chOff x="6096000" y="3924300"/>
            <a:chExt cx="2997200" cy="876300"/>
          </a:xfrm>
        </p:grpSpPr>
        <p:sp>
          <p:nvSpPr>
            <p:cNvPr id="13" name="Google Shape;13;p4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 name="Google Shape;14;p44"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15" name="Google Shape;15;p4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16" name="Google Shape;16;p44"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
        <p:nvSpPr>
          <p:cNvPr id="17" name="Google Shape;17;p44"/>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44"/>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44"/>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12700" marR="0" lvl="0"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cs.oracle.com/javas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
          <p:cNvSpPr txBox="1">
            <a:spLocks noGrp="1"/>
          </p:cNvSpPr>
          <p:nvPr>
            <p:ph type="title"/>
          </p:nvPr>
        </p:nvSpPr>
        <p:spPr>
          <a:xfrm>
            <a:off x="1083450" y="2871852"/>
            <a:ext cx="6388162" cy="641201"/>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100"/>
              </a:spcBef>
              <a:spcAft>
                <a:spcPts val="0"/>
              </a:spcAft>
              <a:buSzPts val="1400"/>
              <a:buNone/>
            </a:pPr>
            <a:r>
              <a:rPr lang="en-IN" sz="4000" b="1" dirty="0"/>
              <a:t>Edu - </a:t>
            </a:r>
            <a:r>
              <a:rPr lang="en-IN" sz="4000" b="1" dirty="0" err="1"/>
              <a:t>Enroll</a:t>
            </a:r>
            <a:endParaRPr sz="4000" b="1" dirty="0">
              <a:latin typeface="Times New Roman"/>
              <a:ea typeface="Times New Roman"/>
              <a:cs typeface="Times New Roman"/>
              <a:sym typeface="Times New Roman"/>
            </a:endParaRPr>
          </a:p>
        </p:txBody>
      </p:sp>
      <p:sp>
        <p:nvSpPr>
          <p:cNvPr id="46" name="Google Shape;46;p1"/>
          <p:cNvSpPr txBox="1">
            <a:spLocks noGrp="1"/>
          </p:cNvSpPr>
          <p:nvPr>
            <p:ph type="sldNum" idx="12"/>
          </p:nvPr>
        </p:nvSpPr>
        <p:spPr>
          <a:xfrm>
            <a:off x="6553200" y="6629400"/>
            <a:ext cx="2133600" cy="178955"/>
          </a:xfrm>
          <a:prstGeom prst="rect">
            <a:avLst/>
          </a:prstGeom>
          <a:noFill/>
          <a:ln>
            <a:noFill/>
          </a:ln>
        </p:spPr>
        <p:txBody>
          <a:bodyPr spcFirstLastPara="1" wrap="square" lIns="0" tIns="1900" rIns="0" bIns="0" anchor="ctr" anchorCtr="0">
            <a:spAutoFit/>
          </a:bodyPr>
          <a:lstStyle/>
          <a:p>
            <a:pPr marL="12700" lvl="0" indent="0" algn="r" rtl="0">
              <a:lnSpc>
                <a:spcPct val="100000"/>
              </a:lnSpc>
              <a:spcBef>
                <a:spcPts val="15"/>
              </a:spcBef>
              <a:spcAft>
                <a:spcPts val="0"/>
              </a:spcAft>
              <a:buSzPts val="1200"/>
              <a:buNone/>
            </a:pPr>
            <a:fld id="{00000000-1234-1234-1234-123412341234}" type="slidenum">
              <a:rPr lang="en-US"/>
              <a:t>1</a:t>
            </a:fld>
            <a:endParaRPr/>
          </a:p>
        </p:txBody>
      </p:sp>
      <p:sp>
        <p:nvSpPr>
          <p:cNvPr id="2" name="Google Shape;45;p1">
            <a:extLst>
              <a:ext uri="{FF2B5EF4-FFF2-40B4-BE49-F238E27FC236}">
                <a16:creationId xmlns:a16="http://schemas.microsoft.com/office/drawing/2014/main" id="{8FDB3F05-2CEB-36F5-C422-0A37C0A9F0CB}"/>
              </a:ext>
            </a:extLst>
          </p:cNvPr>
          <p:cNvSpPr txBox="1">
            <a:spLocks/>
          </p:cNvSpPr>
          <p:nvPr/>
        </p:nvSpPr>
        <p:spPr>
          <a:xfrm>
            <a:off x="262467" y="4602457"/>
            <a:ext cx="2035278" cy="6540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spcBef>
                <a:spcPts val="100"/>
              </a:spcBef>
            </a:pPr>
            <a:r>
              <a:rPr lang="en-US" sz="2000" dirty="0"/>
              <a:t>Submitted to:</a:t>
            </a:r>
          </a:p>
          <a:p>
            <a:pPr marL="12700" marR="5080">
              <a:spcBef>
                <a:spcPts val="100"/>
              </a:spcBef>
            </a:pPr>
            <a:r>
              <a:rPr lang="en-US" sz="2000" dirty="0"/>
              <a:t>Mrs. Soonam </a:t>
            </a:r>
          </a:p>
        </p:txBody>
      </p:sp>
      <p:sp>
        <p:nvSpPr>
          <p:cNvPr id="5" name="Google Shape;45;p1">
            <a:extLst>
              <a:ext uri="{FF2B5EF4-FFF2-40B4-BE49-F238E27FC236}">
                <a16:creationId xmlns:a16="http://schemas.microsoft.com/office/drawing/2014/main" id="{BA30764E-4E62-0F0A-DCFC-7247F6628B9B}"/>
              </a:ext>
            </a:extLst>
          </p:cNvPr>
          <p:cNvSpPr txBox="1">
            <a:spLocks/>
          </p:cNvSpPr>
          <p:nvPr/>
        </p:nvSpPr>
        <p:spPr>
          <a:xfrm>
            <a:off x="4256955" y="4281857"/>
            <a:ext cx="4429845" cy="1615827"/>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lgn="l">
              <a:spcBef>
                <a:spcPts val="100"/>
              </a:spcBef>
            </a:pPr>
            <a:r>
              <a:rPr lang="en-US" sz="2000" dirty="0"/>
              <a:t>Submitted by:</a:t>
            </a:r>
          </a:p>
          <a:p>
            <a:pPr marL="12700" marR="5080" algn="l">
              <a:spcBef>
                <a:spcPts val="100"/>
              </a:spcBef>
            </a:pPr>
            <a:r>
              <a:rPr lang="en-US" sz="2000" dirty="0"/>
              <a:t>Tanuj Thour                            2310991147</a:t>
            </a:r>
          </a:p>
          <a:p>
            <a:pPr marL="12700" marR="5080" algn="l">
              <a:spcBef>
                <a:spcPts val="100"/>
              </a:spcBef>
            </a:pPr>
            <a:r>
              <a:rPr lang="en-US" sz="2000" dirty="0"/>
              <a:t>Aditya Kochhar                      2310991511</a:t>
            </a:r>
          </a:p>
          <a:p>
            <a:pPr marL="12700" marR="5080" algn="l">
              <a:spcBef>
                <a:spcPts val="100"/>
              </a:spcBef>
            </a:pPr>
            <a:r>
              <a:rPr lang="en-US" sz="2000" dirty="0"/>
              <a:t>Jashanpreet Kaur Aujla          2310991522</a:t>
            </a:r>
          </a:p>
          <a:p>
            <a:pPr marL="12700" marR="5080" algn="l">
              <a:spcBef>
                <a:spcPts val="100"/>
              </a:spcBef>
            </a:pPr>
            <a:r>
              <a:rPr lang="en-US" sz="2000" dirty="0"/>
              <a:t>Parul Rana                              2310992333 </a:t>
            </a:r>
          </a:p>
        </p:txBody>
      </p:sp>
      <p:sp>
        <p:nvSpPr>
          <p:cNvPr id="6" name="TextBox 5">
            <a:extLst>
              <a:ext uri="{FF2B5EF4-FFF2-40B4-BE49-F238E27FC236}">
                <a16:creationId xmlns:a16="http://schemas.microsoft.com/office/drawing/2014/main" id="{82C8E628-74A0-FA44-C03A-CB683A943142}"/>
              </a:ext>
            </a:extLst>
          </p:cNvPr>
          <p:cNvSpPr txBox="1"/>
          <p:nvPr/>
        </p:nvSpPr>
        <p:spPr>
          <a:xfrm>
            <a:off x="293378" y="985870"/>
            <a:ext cx="8557244"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APC Final Evaluation </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81B682-3CE9-EDA9-F8D9-7F980D74AA66}"/>
              </a:ext>
            </a:extLst>
          </p:cNvPr>
          <p:cNvSpPr txBox="1"/>
          <p:nvPr/>
        </p:nvSpPr>
        <p:spPr>
          <a:xfrm>
            <a:off x="67733" y="93133"/>
            <a:ext cx="609600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Table of Content</a:t>
            </a:r>
            <a:endParaRPr lang="en-IN"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6CC3824-06AF-C3B2-421D-855631121311}"/>
              </a:ext>
            </a:extLst>
          </p:cNvPr>
          <p:cNvSpPr txBox="1"/>
          <p:nvPr/>
        </p:nvSpPr>
        <p:spPr>
          <a:xfrm>
            <a:off x="279400" y="1363133"/>
            <a:ext cx="8297333" cy="5011949"/>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Objectives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Problem Statement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Features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Future scope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References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Conclusion</a:t>
            </a:r>
          </a:p>
          <a:p>
            <a:pPr marL="457200" indent="-457200">
              <a:lnSpc>
                <a:spcPct val="150000"/>
              </a:lnSpc>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19273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2" name="TextBox 1">
            <a:extLst>
              <a:ext uri="{FF2B5EF4-FFF2-40B4-BE49-F238E27FC236}">
                <a16:creationId xmlns:a16="http://schemas.microsoft.com/office/drawing/2014/main" id="{A61E9816-1681-862D-BA1E-3CACDBE40A2F}"/>
              </a:ext>
            </a:extLst>
          </p:cNvPr>
          <p:cNvSpPr txBox="1"/>
          <p:nvPr/>
        </p:nvSpPr>
        <p:spPr>
          <a:xfrm>
            <a:off x="0" y="88542"/>
            <a:ext cx="5573027"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201CAA2C-F29F-09D1-D751-5C5D1588F404}"/>
              </a:ext>
            </a:extLst>
          </p:cNvPr>
          <p:cNvSpPr>
            <a:spLocks noChangeArrowheads="1"/>
          </p:cNvSpPr>
          <p:nvPr/>
        </p:nvSpPr>
        <p:spPr bwMode="auto">
          <a:xfrm>
            <a:off x="92597" y="1015747"/>
            <a:ext cx="888935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Course Enrollment Website </a:t>
            </a:r>
            <a:r>
              <a:rPr lang="en-US" sz="1800" dirty="0">
                <a:latin typeface="Times New Roman" panose="02020603050405020304" pitchFamily="18" charset="0"/>
                <a:cs typeface="Times New Roman" panose="02020603050405020304" pitchFamily="18" charset="0"/>
              </a:rPr>
              <a:t> is a web-based application developed to streamline the process of managing courses and student registrations in an academic setting. Traditionally, students face difficulties in manual course registration, and administrators spend significant effort handling records on paper or through basic spreadsheets.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system is designed with a </a:t>
            </a:r>
            <a:r>
              <a:rPr lang="en-US" sz="1800" b="1" dirty="0">
                <a:latin typeface="Times New Roman" panose="02020603050405020304" pitchFamily="18" charset="0"/>
                <a:cs typeface="Times New Roman" panose="02020603050405020304" pitchFamily="18" charset="0"/>
              </a:rPr>
              <a:t>Java-based backend </a:t>
            </a:r>
            <a:r>
              <a:rPr lang="en-US" sz="1800" dirty="0">
                <a:latin typeface="Times New Roman" panose="02020603050405020304" pitchFamily="18" charset="0"/>
                <a:cs typeface="Times New Roman" panose="02020603050405020304" pitchFamily="18" charset="0"/>
              </a:rPr>
              <a:t> and integrated with a database for secure data storage and retrieval. The website allows </a:t>
            </a:r>
            <a:r>
              <a:rPr lang="en-US" sz="1800" b="1" dirty="0">
                <a:latin typeface="Times New Roman" panose="02020603050405020304" pitchFamily="18" charset="0"/>
                <a:cs typeface="Times New Roman" panose="02020603050405020304" pitchFamily="18" charset="0"/>
              </a:rPr>
              <a:t>students to conveniently browse and enroll in multiple courses</a:t>
            </a:r>
            <a:r>
              <a:rPr lang="en-US" sz="1800" dirty="0">
                <a:latin typeface="Times New Roman" panose="02020603050405020304" pitchFamily="18" charset="0"/>
                <a:cs typeface="Times New Roman" panose="02020603050405020304" pitchFamily="18" charset="0"/>
              </a:rPr>
              <a:t> based on their academic requirements, while administrators are provided with tools to </a:t>
            </a:r>
            <a:r>
              <a:rPr lang="en-US" sz="1800" b="1" dirty="0">
                <a:latin typeface="Times New Roman" panose="02020603050405020304" pitchFamily="18" charset="0"/>
                <a:cs typeface="Times New Roman" panose="02020603050405020304" pitchFamily="18" charset="0"/>
              </a:rPr>
              <a:t>perform CRUD operations (Create, Read, Update, Delete)</a:t>
            </a:r>
            <a:r>
              <a:rPr lang="en-US" sz="1800" dirty="0">
                <a:latin typeface="Times New Roman" panose="02020603050405020304" pitchFamily="18" charset="0"/>
                <a:cs typeface="Times New Roman" panose="02020603050405020304" pitchFamily="18" charset="0"/>
              </a:rPr>
              <a:t> on both student and course details.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application aims to </a:t>
            </a:r>
            <a:r>
              <a:rPr lang="en-US" sz="1800" b="1" dirty="0">
                <a:latin typeface="Times New Roman" panose="02020603050405020304" pitchFamily="18" charset="0"/>
                <a:cs typeface="Times New Roman" panose="02020603050405020304" pitchFamily="18" charset="0"/>
              </a:rPr>
              <a:t>reduce manual work, eliminate redundancies, and improve efficiency</a:t>
            </a:r>
            <a:r>
              <a:rPr lang="en-US" sz="1800" dirty="0">
                <a:latin typeface="Times New Roman" panose="02020603050405020304" pitchFamily="18" charset="0"/>
                <a:cs typeface="Times New Roman" panose="02020603050405020304" pitchFamily="18" charset="0"/>
              </a:rPr>
              <a:t> by providing a centralized platform. It ensures </a:t>
            </a:r>
            <a:r>
              <a:rPr lang="en-US" sz="1800" b="1" dirty="0">
                <a:latin typeface="Times New Roman" panose="02020603050405020304" pitchFamily="18" charset="0"/>
                <a:cs typeface="Times New Roman" panose="02020603050405020304" pitchFamily="18" charset="0"/>
              </a:rPr>
              <a:t>transparency in enrollment processes, accurate record-keeping, and easy accessibility</a:t>
            </a:r>
            <a:r>
              <a:rPr lang="en-US" sz="1800" dirty="0">
                <a:latin typeface="Times New Roman" panose="02020603050405020304" pitchFamily="18" charset="0"/>
                <a:cs typeface="Times New Roman" panose="02020603050405020304" pitchFamily="18" charset="0"/>
              </a:rPr>
              <a:t> for both students and admins. By adopting this digital solution, institutions can achieve </a:t>
            </a:r>
            <a:r>
              <a:rPr lang="en-US" sz="1800" b="1" dirty="0">
                <a:latin typeface="Times New Roman" panose="02020603050405020304" pitchFamily="18" charset="0"/>
                <a:cs typeface="Times New Roman" panose="02020603050405020304" pitchFamily="18" charset="0"/>
              </a:rPr>
              <a:t>paperless management, faster operations, and a more organized academic workflow</a:t>
            </a:r>
            <a:r>
              <a:rPr lang="en-US" sz="18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9A4B59-826C-5E13-86B2-270B96D64EA0}"/>
              </a:ext>
            </a:extLst>
          </p:cNvPr>
          <p:cNvSpPr txBox="1"/>
          <p:nvPr/>
        </p:nvSpPr>
        <p:spPr>
          <a:xfrm>
            <a:off x="0" y="96253"/>
            <a:ext cx="5890661"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6F6FDAA4-0A23-39F2-6127-D5CF3206BFEF}"/>
              </a:ext>
            </a:extLst>
          </p:cNvPr>
          <p:cNvSpPr txBox="1"/>
          <p:nvPr/>
        </p:nvSpPr>
        <p:spPr>
          <a:xfrm>
            <a:off x="173255" y="1222408"/>
            <a:ext cx="8778240" cy="1133965"/>
          </a:xfrm>
          <a:prstGeom prst="rect">
            <a:avLst/>
          </a:prstGeom>
          <a:noFill/>
        </p:spPr>
        <p:txBody>
          <a:bodyPr wrap="square" rtlCol="0">
            <a:spAutoFit/>
          </a:bodyPr>
          <a:lstStyle/>
          <a:p>
            <a:pPr>
              <a:lnSpc>
                <a:spcPct val="150000"/>
              </a:lnSpc>
            </a:pP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endParaRPr lang="en-IN" sz="24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312564AC-7296-D8D1-0A9C-550B5CF9E963}"/>
              </a:ext>
            </a:extLst>
          </p:cNvPr>
          <p:cNvSpPr>
            <a:spLocks noChangeArrowheads="1"/>
          </p:cNvSpPr>
          <p:nvPr/>
        </p:nvSpPr>
        <p:spPr bwMode="auto">
          <a:xfrm>
            <a:off x="173255" y="581680"/>
            <a:ext cx="851354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platform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students to enroll in courses.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admins to perform CRUD operations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 Read, Update, Delete) on student and course details.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data storage and retrieval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backend technologies.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and reliable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course management.</a:t>
            </a:r>
          </a:p>
        </p:txBody>
      </p:sp>
    </p:spTree>
    <p:extLst>
      <p:ext uri="{BB962C8B-B14F-4D97-AF65-F5344CB8AC3E}">
        <p14:creationId xmlns:p14="http://schemas.microsoft.com/office/powerpoint/2010/main" val="2683196823"/>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299E4F-EB1F-00F7-6BDC-4EB835EA3C22}"/>
              </a:ext>
            </a:extLst>
          </p:cNvPr>
          <p:cNvSpPr txBox="1"/>
          <p:nvPr/>
        </p:nvSpPr>
        <p:spPr>
          <a:xfrm>
            <a:off x="0" y="105878"/>
            <a:ext cx="5659655"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F60C10AF-DE30-0A9A-87D0-19145B3C45BB}"/>
              </a:ext>
            </a:extLst>
          </p:cNvPr>
          <p:cNvSpPr txBox="1"/>
          <p:nvPr/>
        </p:nvSpPr>
        <p:spPr>
          <a:xfrm>
            <a:off x="114300" y="1000125"/>
            <a:ext cx="8625439" cy="5721053"/>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In most academic institutions, the </a:t>
            </a:r>
            <a:r>
              <a:rPr lang="en-US" sz="1800" b="1" dirty="0">
                <a:latin typeface="Times New Roman" panose="02020603050405020304" pitchFamily="18" charset="0"/>
                <a:cs typeface="Times New Roman" panose="02020603050405020304" pitchFamily="18" charset="0"/>
              </a:rPr>
              <a:t>course enrollment process is still handled manually</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This approach introduces several challenges:</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Manual Registration and Paperwork</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Managing enrollment through physical forms or spreadsheets consumes significant time and effort. It slows down the registration process and increases administrative burden.</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High Risk of Errors and Duplication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Manual handling often leads to </a:t>
            </a:r>
            <a:r>
              <a:rPr lang="en-US" sz="1800" b="1" dirty="0">
                <a:latin typeface="Times New Roman" panose="02020603050405020304" pitchFamily="18" charset="0"/>
                <a:cs typeface="Times New Roman" panose="02020603050405020304" pitchFamily="18" charset="0"/>
              </a:rPr>
              <a:t>mistakes such as duplicate entries, missing records, or incorrect data</a:t>
            </a:r>
            <a:r>
              <a:rPr lang="en-US" sz="1800" dirty="0">
                <a:latin typeface="Times New Roman" panose="02020603050405020304" pitchFamily="18" charset="0"/>
                <a:cs typeface="Times New Roman" panose="02020603050405020304" pitchFamily="18" charset="0"/>
              </a:rPr>
              <a:t>, which affect both students and administrators.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Difficulty in Tracking Student-Course Data</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Administrators struggle to maintain </a:t>
            </a:r>
            <a:r>
              <a:rPr lang="en-US" sz="1800" b="1" dirty="0">
                <a:latin typeface="Times New Roman" panose="02020603050405020304" pitchFamily="18" charset="0"/>
                <a:cs typeface="Times New Roman" panose="02020603050405020304" pitchFamily="18" charset="0"/>
              </a:rPr>
              <a:t>updated records</a:t>
            </a:r>
            <a:r>
              <a:rPr lang="en-US" sz="1800" dirty="0">
                <a:latin typeface="Times New Roman" panose="02020603050405020304" pitchFamily="18" charset="0"/>
                <a:cs typeface="Times New Roman" panose="02020603050405020304" pitchFamily="18" charset="0"/>
              </a:rPr>
              <a:t> of which student has enrolled in which courses, making it hard to generate reports or handle updates efficiently.</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Lack of a Centralized System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Students and admins have no single platform to view, update, or manage enrollment details. This leads to confusion, delays, and lack of transparency.</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814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FA8B57-46A4-DA2A-C60C-755BB98E2B56}"/>
              </a:ext>
            </a:extLst>
          </p:cNvPr>
          <p:cNvSpPr txBox="1"/>
          <p:nvPr/>
        </p:nvSpPr>
        <p:spPr>
          <a:xfrm>
            <a:off x="246430" y="136730"/>
            <a:ext cx="5355472"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Features</a:t>
            </a:r>
          </a:p>
        </p:txBody>
      </p:sp>
      <p:sp>
        <p:nvSpPr>
          <p:cNvPr id="2" name="Rectangle 1">
            <a:extLst>
              <a:ext uri="{FF2B5EF4-FFF2-40B4-BE49-F238E27FC236}">
                <a16:creationId xmlns:a16="http://schemas.microsoft.com/office/drawing/2014/main" id="{450D5950-5BA3-B83D-7713-141F5563C3D9}"/>
              </a:ext>
            </a:extLst>
          </p:cNvPr>
          <p:cNvSpPr>
            <a:spLocks noChangeArrowheads="1"/>
          </p:cNvSpPr>
          <p:nvPr/>
        </p:nvSpPr>
        <p:spPr bwMode="auto">
          <a:xfrm>
            <a:off x="67378" y="1106242"/>
            <a:ext cx="697003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Register/Login into the system.</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Enroll in multiple courses.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 course details (add, edit, delete).</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 enrollment records.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General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 authentication system.</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Database-driven backend for scalability.</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and intuitive user interface.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0818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E4D20D-5717-65A2-B548-4A6C98874BFA}"/>
              </a:ext>
            </a:extLst>
          </p:cNvPr>
          <p:cNvSpPr txBox="1"/>
          <p:nvPr/>
        </p:nvSpPr>
        <p:spPr>
          <a:xfrm>
            <a:off x="67734" y="135467"/>
            <a:ext cx="591820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References</a:t>
            </a:r>
            <a:endParaRPr lang="en-IN" sz="36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747AE2EA-690D-425D-CC15-2B6BB432BEFC}"/>
              </a:ext>
            </a:extLst>
          </p:cNvPr>
          <p:cNvSpPr>
            <a:spLocks noChangeArrowheads="1"/>
          </p:cNvSpPr>
          <p:nvPr/>
        </p:nvSpPr>
        <p:spPr bwMode="auto">
          <a:xfrm>
            <a:off x="67734" y="62754"/>
            <a:ext cx="70506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Java Documentation: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https://docs.oracle.com/javase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TutorialsPoint</a:t>
            </a:r>
            <a:r>
              <a:rPr kumimoji="0" lang="en-US" altLang="en-US" sz="1800" b="0" i="0" u="none" strike="noStrike" cap="none" normalizeH="0" baseline="0" dirty="0">
                <a:ln>
                  <a:noFill/>
                </a:ln>
                <a:solidFill>
                  <a:schemeClr val="tx1"/>
                </a:solidFill>
                <a:effectLst/>
                <a:latin typeface="Arial" panose="020B0604020202020204" pitchFamily="34" charset="0"/>
              </a:rPr>
              <a:t> – Java &amp; Web Development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APC framework official documentation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W3Schools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Arial" panose="020B0604020202020204" pitchFamily="34" charset="0"/>
              </a:rPr>
              <a:t>https://www.geeksforgeeks.org/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5543280"/>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77EB27-478C-38C5-BE3B-D853F0F525D0}"/>
              </a:ext>
            </a:extLst>
          </p:cNvPr>
          <p:cNvSpPr txBox="1"/>
          <p:nvPr/>
        </p:nvSpPr>
        <p:spPr>
          <a:xfrm>
            <a:off x="0" y="173254"/>
            <a:ext cx="5996539"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Conclusion</a:t>
            </a:r>
          </a:p>
        </p:txBody>
      </p:sp>
      <p:sp>
        <p:nvSpPr>
          <p:cNvPr id="4" name="Rectangle 2">
            <a:extLst>
              <a:ext uri="{FF2B5EF4-FFF2-40B4-BE49-F238E27FC236}">
                <a16:creationId xmlns:a16="http://schemas.microsoft.com/office/drawing/2014/main" id="{A1E2E31C-4114-081E-8161-809E411936E4}"/>
              </a:ext>
            </a:extLst>
          </p:cNvPr>
          <p:cNvSpPr>
            <a:spLocks noChangeArrowheads="1"/>
          </p:cNvSpPr>
          <p:nvPr/>
        </p:nvSpPr>
        <p:spPr bwMode="auto">
          <a:xfrm>
            <a:off x="92597" y="678331"/>
            <a:ext cx="851896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Course Enrollment Website  provides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digital solution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managing student-course interactions.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addresses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problems of manual enrollment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enhances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application of Java backend concepts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CRUD functionality.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future enhancements, the system can evolve into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 e-learning platform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44545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Theme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TotalTime>
  <Words>566</Words>
  <Application>Microsoft Office PowerPoint</Application>
  <PresentationFormat>On-screen Show (4:3)</PresentationFormat>
  <Paragraphs>82</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Trebuchet MS</vt:lpstr>
      <vt:lpstr>Theme2</vt:lpstr>
      <vt:lpstr>Edu - Enroll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Toshiba</dc:creator>
  <cp:lastModifiedBy>jashan preet</cp:lastModifiedBy>
  <cp:revision>3</cp:revision>
  <dcterms:created xsi:type="dcterms:W3CDTF">2025-08-12T04:51:10Z</dcterms:created>
  <dcterms:modified xsi:type="dcterms:W3CDTF">2025-09-28T15:39:08Z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2019-07-01T00:00:00Z</vt:filetime>
  </property>
  <property fmtid="{D5CDD505-2E9C-101B-9397-08002B2CF9AE}" pid="3" name="Creator">
    <vt:lpwstr>Microsoft® PowerPoint® for Office 365</vt:lpwstr>
  </property>
  <property fmtid="{D5CDD505-2E9C-101B-9397-08002B2CF9AE}" pid="4" name="LastSaved">
    <vt:filetime>2025-08-12T00:00:00Z</vt:filetime>
  </property>
  <property fmtid="{D5CDD505-2E9C-101B-9397-08002B2CF9AE}" pid="5" name="Producer">
    <vt:lpwstr>Microsoft® PowerPoint® for Office 365</vt:lpwstr>
  </property>
</Properties>
</file>