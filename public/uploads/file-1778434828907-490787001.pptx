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8231175" cx="14330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J+5rDVVQOTyruAIntB+8KDJB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D3835E-BE8D-4BCB-967D-06AC67F0252E}">
  <a:tblStyle styleId="{56D3835E-BE8D-4BCB-967D-06AC67F025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93" orient="horz"/>
        <p:guide pos="4579"/>
        <p:guide pos="2079" orient="horz"/>
        <p:guide pos="2496" orient="horz"/>
        <p:guide pos="2245" orient="horz"/>
        <p:guide pos="2694" orient="horz"/>
        <p:guide pos="2162" orient="horz"/>
        <p:guide pos="2594" orient="horz"/>
        <p:guide pos="3785"/>
        <p:guide pos="45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0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e97089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de97089d9_0_0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de97089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6de97089d9_0_6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6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7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de97089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6de97089d9_0_12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8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9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de97089d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6de97089d9_0_18:notes"/>
          <p:cNvSpPr/>
          <p:nvPr>
            <p:ph idx="2" type="sldImg"/>
          </p:nvPr>
        </p:nvSpPr>
        <p:spPr>
          <a:xfrm>
            <a:off x="444500" y="685800"/>
            <a:ext cx="5969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17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7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1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17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6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6"/>
          <p:cNvSpPr/>
          <p:nvPr/>
        </p:nvSpPr>
        <p:spPr>
          <a:xfrm flipH="1" rot="10800000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6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6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6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6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6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6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/>
        </p:nvSpPr>
        <p:spPr>
          <a:xfrm>
            <a:off x="3134773" y="7036631"/>
            <a:ext cx="81503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205359" y="6477391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" y="2024154"/>
            <a:ext cx="14330362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Deployment Models</a:t>
            </a:r>
            <a:endParaRPr b="1" i="0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3583781" y="3865685"/>
            <a:ext cx="8534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 - Computer Science &amp; Engineering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814525" y="4892675"/>
            <a:ext cx="6195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 (CC)(23CS009)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ctrTitle"/>
          </p:nvPr>
        </p:nvSpPr>
        <p:spPr>
          <a:xfrm>
            <a:off x="231354" y="3"/>
            <a:ext cx="8366874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400"/>
              <a:t>Contents</a:t>
            </a:r>
            <a:endParaRPr b="1" sz="4400"/>
          </a:p>
        </p:txBody>
      </p:sp>
      <p:sp>
        <p:nvSpPr>
          <p:cNvPr id="60" name="Google Shape;60;p20"/>
          <p:cNvSpPr txBox="1"/>
          <p:nvPr>
            <p:ph idx="1" type="subTitle"/>
          </p:nvPr>
        </p:nvSpPr>
        <p:spPr>
          <a:xfrm>
            <a:off x="0" y="1646241"/>
            <a:ext cx="13613849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1384300" marR="5080" rtl="0" algn="just">
              <a:lnSpc>
                <a:spcPct val="143800"/>
              </a:lnSpc>
              <a:spcBef>
                <a:spcPts val="595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Cloud Deployment Models</a:t>
            </a:r>
            <a:endParaRPr/>
          </a:p>
          <a:p>
            <a:pPr indent="-457200" lvl="0" marL="1384300" marR="5080" rtl="0" algn="just">
              <a:lnSpc>
                <a:spcPct val="143800"/>
              </a:lnSpc>
              <a:spcBef>
                <a:spcPts val="595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Cloud Deployment Models: Public, Private, Hybrid and Community</a:t>
            </a:r>
            <a:endParaRPr/>
          </a:p>
          <a:p>
            <a:pPr indent="-457200" lvl="0" marL="1384300" marR="5080" rtl="0" algn="just">
              <a:lnSpc>
                <a:spcPct val="143800"/>
              </a:lnSpc>
              <a:spcBef>
                <a:spcPts val="595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Comparison: Public vs. Private vs. Hybrid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4826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ctrTitle"/>
          </p:nvPr>
        </p:nvSpPr>
        <p:spPr>
          <a:xfrm>
            <a:off x="442950" y="0"/>
            <a:ext cx="815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Cloud Deployment Models</a:t>
            </a:r>
            <a:endParaRPr/>
          </a:p>
        </p:txBody>
      </p:sp>
      <p:sp>
        <p:nvSpPr>
          <p:cNvPr id="67" name="Google Shape;67;p21"/>
          <p:cNvSpPr txBox="1"/>
          <p:nvPr>
            <p:ph idx="1" type="subTitle"/>
          </p:nvPr>
        </p:nvSpPr>
        <p:spPr>
          <a:xfrm>
            <a:off x="442950" y="1646250"/>
            <a:ext cx="131709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		Cloud deployment models define how cloud services are deployed, managed, and accessed based on organizational needs and infrastructure ownership. 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	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		The four main models are </a:t>
            </a:r>
            <a:r>
              <a:rPr b="1" lang="en-US">
                <a:solidFill>
                  <a:schemeClr val="dk1"/>
                </a:solidFill>
              </a:rPr>
              <a:t>Public Cloud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b="1" lang="en-US">
                <a:solidFill>
                  <a:schemeClr val="dk1"/>
                </a:solidFill>
              </a:rPr>
              <a:t>Private Cloud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b="1" lang="en-US">
                <a:solidFill>
                  <a:schemeClr val="dk1"/>
                </a:solidFill>
              </a:rPr>
              <a:t>Hybrid Cloud</a:t>
            </a:r>
            <a:r>
              <a:rPr lang="en-US">
                <a:solidFill>
                  <a:schemeClr val="dk1"/>
                </a:solidFill>
              </a:rPr>
              <a:t>, and </a:t>
            </a:r>
            <a:r>
              <a:rPr b="1" lang="en-US">
                <a:solidFill>
                  <a:schemeClr val="dk1"/>
                </a:solidFill>
              </a:rPr>
              <a:t>Community Cloud</a:t>
            </a:r>
            <a:r>
              <a:rPr lang="en-US">
                <a:solidFill>
                  <a:schemeClr val="dk1"/>
                </a:solidFill>
              </a:rPr>
              <a:t>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" name="Google Shape;68;p2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</a:t>
            </a:r>
            <a:r>
              <a:rPr b="1" lang="en-US">
                <a:solidFill>
                  <a:schemeClr val="dk1"/>
                </a:solidFill>
              </a:rPr>
              <a:t>Public Cloud</a:t>
            </a:r>
            <a:endParaRPr/>
          </a:p>
        </p:txBody>
      </p:sp>
      <p:sp>
        <p:nvSpPr>
          <p:cNvPr id="74" name="Google Shape;74;p22"/>
          <p:cNvSpPr txBox="1"/>
          <p:nvPr>
            <p:ph idx="1" type="subTitle"/>
          </p:nvPr>
        </p:nvSpPr>
        <p:spPr>
          <a:xfrm>
            <a:off x="110169" y="1097495"/>
            <a:ext cx="13382495" cy="6031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dk1"/>
                </a:solidFill>
              </a:rPr>
              <a:t>Public Cloud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The public cloud is a cloud computing model where </a:t>
            </a:r>
            <a:r>
              <a:rPr b="1" lang="en-US">
                <a:solidFill>
                  <a:schemeClr val="dk1"/>
                </a:solidFill>
              </a:rPr>
              <a:t>services and infrastructure are hosted by third-party</a:t>
            </a:r>
            <a:r>
              <a:rPr lang="en-US">
                <a:solidFill>
                  <a:schemeClr val="dk1"/>
                </a:solidFill>
              </a:rPr>
              <a:t> providers and shared among multiple organizations. 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Public cloud services are accessed over the internet and offer scalability, cost-efficiency, and minimal management.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3255" y="3723896"/>
            <a:ext cx="7877175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</a:t>
            </a:r>
            <a:r>
              <a:rPr b="1" lang="en-US">
                <a:solidFill>
                  <a:schemeClr val="dk1"/>
                </a:solidFill>
              </a:rPr>
              <a:t>Public Cloud</a:t>
            </a:r>
            <a:endParaRPr/>
          </a:p>
        </p:txBody>
      </p:sp>
      <p:sp>
        <p:nvSpPr>
          <p:cNvPr id="82" name="Google Shape;82;p23"/>
          <p:cNvSpPr txBox="1"/>
          <p:nvPr>
            <p:ph idx="1" type="subTitle"/>
          </p:nvPr>
        </p:nvSpPr>
        <p:spPr>
          <a:xfrm>
            <a:off x="918975" y="1699125"/>
            <a:ext cx="12694800" cy="57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3900">
                <a:solidFill>
                  <a:schemeClr val="dk1"/>
                </a:solidFill>
              </a:rPr>
              <a:t>	</a:t>
            </a:r>
            <a:r>
              <a:rPr b="1" lang="en-US" sz="3900">
                <a:solidFill>
                  <a:schemeClr val="dk1"/>
                </a:solidFill>
              </a:rPr>
              <a:t>Characteristics:</a:t>
            </a:r>
            <a:endParaRPr sz="3900"/>
          </a:p>
          <a:p>
            <a:pPr indent="-501650" lvl="2" marL="1397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lang="en-US" sz="3100">
                <a:solidFill>
                  <a:schemeClr val="dk1"/>
                </a:solidFill>
              </a:rPr>
              <a:t>Shared resources across multiple tenants.</a:t>
            </a:r>
            <a:endParaRPr sz="3100"/>
          </a:p>
          <a:p>
            <a:pPr indent="-501650" lvl="2" marL="1397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lang="en-US" sz="3100">
                <a:solidFill>
                  <a:schemeClr val="dk1"/>
                </a:solidFill>
              </a:rPr>
              <a:t>Accessible over the internet.</a:t>
            </a:r>
            <a:endParaRPr sz="3100"/>
          </a:p>
          <a:p>
            <a:pPr indent="-501650" lvl="2" marL="1397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lang="en-US" sz="3100">
                <a:solidFill>
                  <a:schemeClr val="dk1"/>
                </a:solidFill>
              </a:rPr>
              <a:t>Providers manage infrastructure, maintenance, and upgrades.</a:t>
            </a:r>
            <a:endParaRPr sz="3100"/>
          </a:p>
          <a:p>
            <a:pPr indent="-501650" lvl="2" marL="1397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100"/>
              <a:buFont typeface="Arial"/>
              <a:buChar char="•"/>
            </a:pPr>
            <a:r>
              <a:rPr lang="en-US" sz="3100">
                <a:solidFill>
                  <a:schemeClr val="dk1"/>
                </a:solidFill>
              </a:rPr>
              <a:t>Pay-as-you-go pricing.</a:t>
            </a:r>
            <a:endParaRPr sz="3100"/>
          </a:p>
          <a:p>
            <a:pPr indent="0" lvl="0" marL="254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de97089d9_0_0"/>
          <p:cNvSpPr txBox="1"/>
          <p:nvPr>
            <p:ph type="ctrTitle"/>
          </p:nvPr>
        </p:nvSpPr>
        <p:spPr>
          <a:xfrm>
            <a:off x="10" y="3"/>
            <a:ext cx="8598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</a:t>
            </a:r>
            <a:r>
              <a:rPr b="1" lang="en-US">
                <a:solidFill>
                  <a:schemeClr val="dk1"/>
                </a:solidFill>
              </a:rPr>
              <a:t>Public Cloud</a:t>
            </a:r>
            <a:endParaRPr/>
          </a:p>
        </p:txBody>
      </p:sp>
      <p:sp>
        <p:nvSpPr>
          <p:cNvPr id="89" name="Google Shape;89;g36de97089d9_0_0"/>
          <p:cNvSpPr txBox="1"/>
          <p:nvPr>
            <p:ph idx="1" type="subTitle"/>
          </p:nvPr>
        </p:nvSpPr>
        <p:spPr>
          <a:xfrm>
            <a:off x="1097500" y="1520625"/>
            <a:ext cx="12039300" cy="59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3700">
                <a:solidFill>
                  <a:schemeClr val="dk1"/>
                </a:solidFill>
              </a:rPr>
              <a:t>	</a:t>
            </a:r>
            <a:r>
              <a:rPr b="1" lang="en-US" sz="3300">
                <a:solidFill>
                  <a:schemeClr val="dk1"/>
                </a:solidFill>
              </a:rPr>
              <a:t>Examples:</a:t>
            </a:r>
            <a:endParaRPr sz="3700"/>
          </a:p>
          <a:p>
            <a:pPr indent="-412750" lvl="2" marL="13716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900"/>
              <a:buFont typeface="Arial"/>
              <a:buChar char="•"/>
            </a:pPr>
            <a:r>
              <a:rPr b="1" lang="en-US" sz="2900">
                <a:solidFill>
                  <a:schemeClr val="dk1"/>
                </a:solidFill>
              </a:rPr>
              <a:t>Netflix:</a:t>
            </a:r>
            <a:r>
              <a:rPr lang="en-US" sz="2900">
                <a:solidFill>
                  <a:schemeClr val="dk1"/>
                </a:solidFill>
              </a:rPr>
              <a:t> Uses Amazon Web Services </a:t>
            </a:r>
            <a:r>
              <a:rPr b="1" lang="en-US" sz="2900">
                <a:solidFill>
                  <a:schemeClr val="dk1"/>
                </a:solidFill>
              </a:rPr>
              <a:t>(AWS)</a:t>
            </a:r>
            <a:r>
              <a:rPr lang="en-US" sz="2900">
                <a:solidFill>
                  <a:schemeClr val="dk1"/>
                </a:solidFill>
              </a:rPr>
              <a:t> for streaming, enabling scalability during peak hours.</a:t>
            </a:r>
            <a:endParaRPr sz="2900"/>
          </a:p>
          <a:p>
            <a:pPr indent="-412750" lvl="2" marL="13716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900"/>
              <a:buFont typeface="Arial"/>
              <a:buChar char="•"/>
            </a:pPr>
            <a:r>
              <a:rPr b="1" lang="en-US" sz="2900">
                <a:solidFill>
                  <a:schemeClr val="dk1"/>
                </a:solidFill>
              </a:rPr>
              <a:t>Adobe Creative Cloud:</a:t>
            </a:r>
            <a:r>
              <a:rPr lang="en-US" sz="2900">
                <a:solidFill>
                  <a:schemeClr val="dk1"/>
                </a:solidFill>
              </a:rPr>
              <a:t> Runs on </a:t>
            </a:r>
            <a:r>
              <a:rPr b="1" lang="en-US" sz="2900">
                <a:solidFill>
                  <a:schemeClr val="dk1"/>
                </a:solidFill>
              </a:rPr>
              <a:t>Microsoft Azure</a:t>
            </a:r>
            <a:r>
              <a:rPr lang="en-US" sz="2900">
                <a:solidFill>
                  <a:schemeClr val="dk1"/>
                </a:solidFill>
              </a:rPr>
              <a:t>, providing design software globally with high availability.</a:t>
            </a:r>
            <a:endParaRPr sz="2900"/>
          </a:p>
          <a:p>
            <a:pPr indent="-412750" lvl="2" marL="13716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900"/>
              <a:buFont typeface="Arial"/>
              <a:buChar char="•"/>
            </a:pPr>
            <a:r>
              <a:rPr b="1" lang="en-US" sz="2900">
                <a:solidFill>
                  <a:schemeClr val="dk1"/>
                </a:solidFill>
              </a:rPr>
              <a:t>Spotify:</a:t>
            </a:r>
            <a:r>
              <a:rPr lang="en-US" sz="2900">
                <a:solidFill>
                  <a:schemeClr val="dk1"/>
                </a:solidFill>
              </a:rPr>
              <a:t> Leverages Google Cloud Platform </a:t>
            </a:r>
            <a:r>
              <a:rPr b="1" lang="en-US" sz="2900">
                <a:solidFill>
                  <a:schemeClr val="dk1"/>
                </a:solidFill>
              </a:rPr>
              <a:t>(GCP)</a:t>
            </a:r>
            <a:r>
              <a:rPr lang="en-US" sz="2900">
                <a:solidFill>
                  <a:schemeClr val="dk1"/>
                </a:solidFill>
              </a:rPr>
              <a:t> for data analytics and real-time processing of user preferences.</a:t>
            </a:r>
            <a:endParaRPr sz="2900"/>
          </a:p>
          <a:p>
            <a:pPr indent="-412750" lvl="2" marL="13716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900"/>
              <a:buFont typeface="Arial"/>
              <a:buChar char="•"/>
            </a:pPr>
            <a:r>
              <a:rPr b="1" lang="en-US" sz="2900">
                <a:solidFill>
                  <a:schemeClr val="dk1"/>
                </a:solidFill>
              </a:rPr>
              <a:t>Dropbox:</a:t>
            </a:r>
            <a:r>
              <a:rPr lang="en-US" sz="2900">
                <a:solidFill>
                  <a:schemeClr val="dk1"/>
                </a:solidFill>
              </a:rPr>
              <a:t> Migrated from private infrastructure to </a:t>
            </a:r>
            <a:r>
              <a:rPr b="1" lang="en-US" sz="2900">
                <a:solidFill>
                  <a:schemeClr val="dk1"/>
                </a:solidFill>
              </a:rPr>
              <a:t>AWS</a:t>
            </a:r>
            <a:r>
              <a:rPr lang="en-US" sz="2900">
                <a:solidFill>
                  <a:schemeClr val="dk1"/>
                </a:solidFill>
              </a:rPr>
              <a:t> for cost savings and enhanced collaboration features.</a:t>
            </a:r>
            <a:endParaRPr sz="2900"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</p:txBody>
      </p:sp>
      <p:sp>
        <p:nvSpPr>
          <p:cNvPr id="90" name="Google Shape;90;g36de97089d9_0_0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Private Cloud</a:t>
            </a:r>
            <a:endParaRPr/>
          </a:p>
        </p:txBody>
      </p:sp>
      <p:sp>
        <p:nvSpPr>
          <p:cNvPr id="96" name="Google Shape;96;p24"/>
          <p:cNvSpPr txBox="1"/>
          <p:nvPr>
            <p:ph idx="1" type="subTitle"/>
          </p:nvPr>
        </p:nvSpPr>
        <p:spPr>
          <a:xfrm>
            <a:off x="862189" y="1458955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dk1"/>
                </a:solidFill>
              </a:rPr>
              <a:t>Private Cloud 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The private cloud is dedicated to a </a:t>
            </a:r>
            <a:r>
              <a:rPr b="1" lang="en-US">
                <a:solidFill>
                  <a:schemeClr val="dk1"/>
                </a:solidFill>
              </a:rPr>
              <a:t>single organization</a:t>
            </a:r>
            <a:r>
              <a:rPr lang="en-US">
                <a:solidFill>
                  <a:schemeClr val="dk1"/>
                </a:solidFill>
              </a:rPr>
              <a:t>, offering enhanced </a:t>
            </a:r>
            <a:r>
              <a:rPr b="1" i="1" lang="en-US">
                <a:solidFill>
                  <a:schemeClr val="dk1"/>
                </a:solidFill>
              </a:rPr>
              <a:t>security, control, and customization</a:t>
            </a:r>
            <a:r>
              <a:rPr lang="en-US">
                <a:solidFill>
                  <a:schemeClr val="dk1"/>
                </a:solidFill>
              </a:rPr>
              <a:t>. 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It can be hosted on-premises or by third-party providers.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2285" y="3842090"/>
            <a:ext cx="5566394" cy="4034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Private Cloud</a:t>
            </a:r>
            <a:endParaRPr/>
          </a:p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998325" y="1405813"/>
            <a:ext cx="12615600" cy="59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3500">
                <a:solidFill>
                  <a:schemeClr val="dk1"/>
                </a:solidFill>
              </a:rPr>
              <a:t>Characteristics:</a:t>
            </a:r>
            <a:endParaRPr sz="3900"/>
          </a:p>
          <a:p>
            <a:pPr indent="-5016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lang="en-US" sz="3100">
                <a:solidFill>
                  <a:schemeClr val="dk1"/>
                </a:solidFill>
              </a:rPr>
              <a:t>Exclusive use by one organization.</a:t>
            </a:r>
            <a:endParaRPr sz="3500"/>
          </a:p>
          <a:p>
            <a:pPr indent="-5016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lang="en-US" sz="3100">
                <a:solidFill>
                  <a:schemeClr val="dk1"/>
                </a:solidFill>
              </a:rPr>
              <a:t>Customizable architecture tailored to organizational needs.</a:t>
            </a:r>
            <a:endParaRPr sz="3500"/>
          </a:p>
          <a:p>
            <a:pPr indent="-5016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lang="en-US" sz="3100">
                <a:solidFill>
                  <a:schemeClr val="dk1"/>
                </a:solidFill>
              </a:rPr>
              <a:t>Enhanced privacy and compliance.</a:t>
            </a:r>
            <a:endParaRPr sz="3500"/>
          </a:p>
          <a:p>
            <a:pPr indent="-5016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lang="en-US" sz="3100">
                <a:solidFill>
                  <a:schemeClr val="dk1"/>
                </a:solidFill>
              </a:rPr>
              <a:t>High initial costs but reduced ongoing risks.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05" name="Google Shape;105;p2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de97089d9_0_6"/>
          <p:cNvSpPr txBox="1"/>
          <p:nvPr>
            <p:ph type="ctrTitle"/>
          </p:nvPr>
        </p:nvSpPr>
        <p:spPr>
          <a:xfrm>
            <a:off x="10" y="3"/>
            <a:ext cx="8598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Private Cloud</a:t>
            </a:r>
            <a:endParaRPr/>
          </a:p>
        </p:txBody>
      </p:sp>
      <p:sp>
        <p:nvSpPr>
          <p:cNvPr id="111" name="Google Shape;111;g36de97089d9_0_6"/>
          <p:cNvSpPr txBox="1"/>
          <p:nvPr>
            <p:ph idx="1" type="subTitle"/>
          </p:nvPr>
        </p:nvSpPr>
        <p:spPr>
          <a:xfrm>
            <a:off x="1057825" y="1699125"/>
            <a:ext cx="12217800" cy="56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dk1"/>
                </a:solidFill>
              </a:rPr>
              <a:t>Examples:</a:t>
            </a:r>
            <a:endParaRPr sz="3600"/>
          </a:p>
          <a:p>
            <a:pPr indent="-4826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Walmart:</a:t>
            </a:r>
            <a:r>
              <a:rPr lang="en-US">
                <a:solidFill>
                  <a:schemeClr val="dk1"/>
                </a:solidFill>
              </a:rPr>
              <a:t> Operates a private cloud using </a:t>
            </a:r>
            <a:r>
              <a:rPr b="1" lang="en-US">
                <a:solidFill>
                  <a:schemeClr val="dk1"/>
                </a:solidFill>
              </a:rPr>
              <a:t>OpenStack</a:t>
            </a:r>
            <a:r>
              <a:rPr lang="en-US">
                <a:solidFill>
                  <a:schemeClr val="dk1"/>
                </a:solidFill>
              </a:rPr>
              <a:t> for internal operations and inventory management.</a:t>
            </a:r>
            <a:endParaRPr sz="3200"/>
          </a:p>
          <a:p>
            <a:pPr indent="-4826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Capital One:</a:t>
            </a:r>
            <a:r>
              <a:rPr lang="en-US">
                <a:solidFill>
                  <a:schemeClr val="dk1"/>
                </a:solidFill>
              </a:rPr>
              <a:t> Uses </a:t>
            </a:r>
            <a:r>
              <a:rPr b="1" lang="en-US">
                <a:solidFill>
                  <a:schemeClr val="dk1"/>
                </a:solidFill>
              </a:rPr>
              <a:t>VMware</a:t>
            </a:r>
            <a:r>
              <a:rPr lang="en-US">
                <a:solidFill>
                  <a:schemeClr val="dk1"/>
                </a:solidFill>
              </a:rPr>
              <a:t>-based private cloud infrastructure for secure and compliant financial services.</a:t>
            </a:r>
            <a:endParaRPr sz="3200"/>
          </a:p>
          <a:p>
            <a:pPr indent="-4826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NASA:</a:t>
            </a:r>
            <a:r>
              <a:rPr lang="en-US">
                <a:solidFill>
                  <a:schemeClr val="dk1"/>
                </a:solidFill>
              </a:rPr>
              <a:t> Developed its private cloud called </a:t>
            </a:r>
            <a:r>
              <a:rPr b="1" lang="en-US">
                <a:solidFill>
                  <a:schemeClr val="dk1"/>
                </a:solidFill>
              </a:rPr>
              <a:t>Nebula</a:t>
            </a:r>
            <a:r>
              <a:rPr lang="en-US">
                <a:solidFill>
                  <a:schemeClr val="dk1"/>
                </a:solidFill>
              </a:rPr>
              <a:t> to support research data and internal projects.</a:t>
            </a:r>
            <a:endParaRPr sz="3200"/>
          </a:p>
          <a:p>
            <a:pPr indent="-4826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BMW:</a:t>
            </a:r>
            <a:r>
              <a:rPr lang="en-US">
                <a:solidFill>
                  <a:schemeClr val="dk1"/>
                </a:solidFill>
              </a:rPr>
              <a:t> Runs its applications on a private cloud for production and supply chain optimization.</a:t>
            </a:r>
            <a:endParaRPr sz="3200"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g36de97089d9_0_6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Hybrid Cloud</a:t>
            </a:r>
            <a:endParaRPr/>
          </a:p>
        </p:txBody>
      </p:sp>
      <p:sp>
        <p:nvSpPr>
          <p:cNvPr id="118" name="Google Shape;118;p26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dk1"/>
                </a:solidFill>
              </a:rPr>
              <a:t>Hybrid Cloud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</a:rPr>
              <a:t>The hybrid cloud </a:t>
            </a:r>
            <a:r>
              <a:rPr b="1" i="1" lang="en-US" sz="3200">
                <a:solidFill>
                  <a:schemeClr val="dk1"/>
                </a:solidFill>
              </a:rPr>
              <a:t>integrates public and private clouds</a:t>
            </a:r>
            <a:r>
              <a:rPr lang="en-US" sz="3200">
                <a:solidFill>
                  <a:schemeClr val="dk1"/>
                </a:solidFill>
              </a:rPr>
              <a:t>, allowing organizations to use both depending on their needs. 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</a:rPr>
              <a:t>For example, sensitive data can reside in a private cloud, while public cloud services handle high-volume workloads.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Hybrid Cloud</a:t>
            </a:r>
            <a:endParaRPr/>
          </a:p>
        </p:txBody>
      </p:sp>
      <p:sp>
        <p:nvSpPr>
          <p:cNvPr id="125" name="Google Shape;125;p27"/>
          <p:cNvSpPr txBox="1"/>
          <p:nvPr>
            <p:ph idx="1" type="subTitle"/>
          </p:nvPr>
        </p:nvSpPr>
        <p:spPr>
          <a:xfrm>
            <a:off x="978475" y="1584225"/>
            <a:ext cx="12356700" cy="5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54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3700">
                <a:solidFill>
                  <a:schemeClr val="dk1"/>
                </a:solidFill>
              </a:rPr>
              <a:t>Characteristics:</a:t>
            </a:r>
            <a:endParaRPr sz="3700"/>
          </a:p>
          <a:p>
            <a:pPr indent="-4889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300"/>
              <a:buFont typeface="Arial"/>
              <a:buChar char="•"/>
            </a:pPr>
            <a:r>
              <a:rPr lang="en-US" sz="3300">
                <a:solidFill>
                  <a:schemeClr val="dk1"/>
                </a:solidFill>
              </a:rPr>
              <a:t>Combines public and private cloud capabilities.</a:t>
            </a:r>
            <a:endParaRPr sz="3300"/>
          </a:p>
          <a:p>
            <a:pPr indent="-4889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300"/>
              <a:buFont typeface="Arial"/>
              <a:buChar char="•"/>
            </a:pPr>
            <a:r>
              <a:rPr lang="en-US" sz="3300">
                <a:solidFill>
                  <a:schemeClr val="dk1"/>
                </a:solidFill>
              </a:rPr>
              <a:t>Provides scalability while retaining data control.</a:t>
            </a:r>
            <a:endParaRPr sz="3300"/>
          </a:p>
          <a:p>
            <a:pPr indent="-4889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300"/>
              <a:buFont typeface="Arial"/>
              <a:buChar char="•"/>
            </a:pPr>
            <a:r>
              <a:rPr lang="en-US" sz="3300">
                <a:solidFill>
                  <a:schemeClr val="dk1"/>
                </a:solidFill>
              </a:rPr>
              <a:t>Complex setup and management.</a:t>
            </a:r>
            <a:endParaRPr sz="3300"/>
          </a:p>
          <a:p>
            <a:pPr indent="-4889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300"/>
              <a:buFont typeface="Arial"/>
              <a:buChar char="•"/>
            </a:pPr>
            <a:r>
              <a:rPr lang="en-US" sz="3300">
                <a:solidFill>
                  <a:schemeClr val="dk1"/>
                </a:solidFill>
              </a:rPr>
              <a:t>Ideal for dynamic or unpredictable workloads.</a:t>
            </a:r>
            <a:endParaRPr sz="3300"/>
          </a:p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de97089d9_0_12"/>
          <p:cNvSpPr txBox="1"/>
          <p:nvPr>
            <p:ph type="ctrTitle"/>
          </p:nvPr>
        </p:nvSpPr>
        <p:spPr>
          <a:xfrm>
            <a:off x="10" y="3"/>
            <a:ext cx="8598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Hybrid Cloud</a:t>
            </a:r>
            <a:endParaRPr/>
          </a:p>
        </p:txBody>
      </p:sp>
      <p:sp>
        <p:nvSpPr>
          <p:cNvPr id="132" name="Google Shape;132;g36de97089d9_0_12"/>
          <p:cNvSpPr txBox="1"/>
          <p:nvPr>
            <p:ph idx="1" type="subTitle"/>
          </p:nvPr>
        </p:nvSpPr>
        <p:spPr>
          <a:xfrm>
            <a:off x="286440" y="1167788"/>
            <a:ext cx="13737900" cy="60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dk1"/>
                </a:solidFill>
              </a:rPr>
              <a:t>Examples:</a:t>
            </a:r>
            <a:endParaRPr/>
          </a:p>
          <a:p>
            <a:pPr indent="-457200" lvl="1" marL="9652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Johnson Controls:</a:t>
            </a:r>
            <a:r>
              <a:rPr lang="en-US">
                <a:solidFill>
                  <a:schemeClr val="dk1"/>
                </a:solidFill>
              </a:rPr>
              <a:t> Uses </a:t>
            </a:r>
            <a:r>
              <a:rPr b="1" i="1" lang="en-US">
                <a:solidFill>
                  <a:schemeClr val="dk1"/>
                </a:solidFill>
              </a:rPr>
              <a:t>Microsoft Azure Hybrid Cloud</a:t>
            </a:r>
            <a:r>
              <a:rPr lang="en-US">
                <a:solidFill>
                  <a:schemeClr val="dk1"/>
                </a:solidFill>
              </a:rPr>
              <a:t> for IoT solutions, blending on-premises control with cloud scalability.</a:t>
            </a:r>
            <a:endParaRPr/>
          </a:p>
          <a:p>
            <a:pPr indent="-457200" lvl="1" marL="9652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Philips Healthcare:</a:t>
            </a:r>
            <a:r>
              <a:rPr lang="en-US">
                <a:solidFill>
                  <a:schemeClr val="dk1"/>
                </a:solidFill>
              </a:rPr>
              <a:t> Employs </a:t>
            </a:r>
            <a:r>
              <a:rPr b="1" i="1" lang="en-US">
                <a:solidFill>
                  <a:schemeClr val="dk1"/>
                </a:solidFill>
              </a:rPr>
              <a:t>AWS Outposts</a:t>
            </a:r>
            <a:r>
              <a:rPr lang="en-US">
                <a:solidFill>
                  <a:schemeClr val="dk1"/>
                </a:solidFill>
              </a:rPr>
              <a:t> for a hybrid cloud setup to process medical imaging data securely.</a:t>
            </a:r>
            <a:endParaRPr/>
          </a:p>
          <a:p>
            <a:pPr indent="-457200" lvl="1" marL="9652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HSBC:</a:t>
            </a:r>
            <a:r>
              <a:rPr lang="en-US">
                <a:solidFill>
                  <a:schemeClr val="dk1"/>
                </a:solidFill>
              </a:rPr>
              <a:t> Uses </a:t>
            </a:r>
            <a:r>
              <a:rPr b="1" i="1" lang="en-US">
                <a:solidFill>
                  <a:schemeClr val="dk1"/>
                </a:solidFill>
              </a:rPr>
              <a:t>Google Anthos</a:t>
            </a:r>
            <a:r>
              <a:rPr lang="en-US">
                <a:solidFill>
                  <a:schemeClr val="dk1"/>
                </a:solidFill>
              </a:rPr>
              <a:t> to migrate workloads between on-premises systems and public cloud environments.</a:t>
            </a:r>
            <a:endParaRPr/>
          </a:p>
          <a:p>
            <a:pPr indent="-457200" lvl="1" marL="9652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General Electric (GE):</a:t>
            </a:r>
            <a:r>
              <a:rPr lang="en-US">
                <a:solidFill>
                  <a:schemeClr val="dk1"/>
                </a:solidFill>
              </a:rPr>
              <a:t> Combines private cloud systems with </a:t>
            </a:r>
            <a:r>
              <a:rPr b="1" lang="en-US">
                <a:solidFill>
                  <a:schemeClr val="dk1"/>
                </a:solidFill>
              </a:rPr>
              <a:t>AWS</a:t>
            </a:r>
            <a:r>
              <a:rPr lang="en-US">
                <a:solidFill>
                  <a:schemeClr val="dk1"/>
                </a:solidFill>
              </a:rPr>
              <a:t> to support industrial IoT and analytics.</a:t>
            </a:r>
            <a:endParaRPr/>
          </a:p>
        </p:txBody>
      </p:sp>
      <p:sp>
        <p:nvSpPr>
          <p:cNvPr id="133" name="Google Shape;133;g36de97089d9_0_12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ctrTitle"/>
          </p:nvPr>
        </p:nvSpPr>
        <p:spPr>
          <a:xfrm>
            <a:off x="9" y="3"/>
            <a:ext cx="9441445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Community Cloud</a:t>
            </a:r>
            <a:endParaRPr/>
          </a:p>
        </p:txBody>
      </p:sp>
      <p:sp>
        <p:nvSpPr>
          <p:cNvPr id="139" name="Google Shape;139;p28"/>
          <p:cNvSpPr txBox="1"/>
          <p:nvPr>
            <p:ph idx="1" type="subTitle"/>
          </p:nvPr>
        </p:nvSpPr>
        <p:spPr>
          <a:xfrm>
            <a:off x="760164" y="1531344"/>
            <a:ext cx="13264308" cy="568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dk1"/>
                </a:solidFill>
              </a:rPr>
              <a:t>Community Cloud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>
                <a:solidFill>
                  <a:schemeClr val="dk1"/>
                </a:solidFill>
              </a:rPr>
              <a:t>A community cloud is a shared infrastructure tailored to the needs of a specific group of organizations with common objectives, such as compliance or collaborative projects.</a:t>
            </a:r>
            <a:endParaRPr/>
          </a:p>
          <a:p>
            <a:pPr indent="0" lvl="0" marL="254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28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ctrTitle"/>
          </p:nvPr>
        </p:nvSpPr>
        <p:spPr>
          <a:xfrm>
            <a:off x="9" y="3"/>
            <a:ext cx="9441445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Community Cloud</a:t>
            </a:r>
            <a:endParaRPr/>
          </a:p>
        </p:txBody>
      </p:sp>
      <p:sp>
        <p:nvSpPr>
          <p:cNvPr id="146" name="Google Shape;146;p29"/>
          <p:cNvSpPr txBox="1"/>
          <p:nvPr>
            <p:ph idx="1" type="subTitle"/>
          </p:nvPr>
        </p:nvSpPr>
        <p:spPr>
          <a:xfrm>
            <a:off x="1057825" y="1478525"/>
            <a:ext cx="12966600" cy="57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3900">
                <a:solidFill>
                  <a:schemeClr val="dk1"/>
                </a:solidFill>
              </a:rPr>
              <a:t>Characteristics:</a:t>
            </a:r>
            <a:endParaRPr sz="3900"/>
          </a:p>
          <a:p>
            <a:pPr indent="-5016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lang="en-US" sz="3500">
                <a:solidFill>
                  <a:schemeClr val="dk1"/>
                </a:solidFill>
              </a:rPr>
              <a:t>Shared by organizations with similar requirements.</a:t>
            </a:r>
            <a:endParaRPr sz="3500"/>
          </a:p>
          <a:p>
            <a:pPr indent="-5016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lang="en-US" sz="3500">
                <a:solidFill>
                  <a:schemeClr val="dk1"/>
                </a:solidFill>
              </a:rPr>
              <a:t>Cost-effective through shared resources.</a:t>
            </a:r>
            <a:endParaRPr sz="3500"/>
          </a:p>
          <a:p>
            <a:pPr indent="-5016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lang="en-US" sz="3500">
                <a:solidFill>
                  <a:schemeClr val="dk1"/>
                </a:solidFill>
              </a:rPr>
              <a:t>Focus on compliance and security for specific industries.</a:t>
            </a:r>
            <a:endParaRPr sz="3500"/>
          </a:p>
          <a:p>
            <a:pPr indent="-50165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500"/>
              <a:buFont typeface="Arial"/>
              <a:buChar char="•"/>
            </a:pPr>
            <a:r>
              <a:rPr lang="en-US" sz="3500">
                <a:solidFill>
                  <a:schemeClr val="dk1"/>
                </a:solidFill>
              </a:rPr>
              <a:t>Limited scalability compared to public clouds.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47" name="Google Shape;147;p2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de97089d9_0_18"/>
          <p:cNvSpPr txBox="1"/>
          <p:nvPr>
            <p:ph type="ctrTitle"/>
          </p:nvPr>
        </p:nvSpPr>
        <p:spPr>
          <a:xfrm>
            <a:off x="9" y="3"/>
            <a:ext cx="9441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Types of Cloud Deployment Models: Community Cloud</a:t>
            </a:r>
            <a:endParaRPr/>
          </a:p>
        </p:txBody>
      </p:sp>
      <p:sp>
        <p:nvSpPr>
          <p:cNvPr id="153" name="Google Shape;153;g36de97089d9_0_18"/>
          <p:cNvSpPr txBox="1"/>
          <p:nvPr>
            <p:ph idx="1" type="subTitle"/>
          </p:nvPr>
        </p:nvSpPr>
        <p:spPr>
          <a:xfrm>
            <a:off x="921125" y="1758625"/>
            <a:ext cx="12692700" cy="55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>
                <a:solidFill>
                  <a:schemeClr val="dk1"/>
                </a:solidFill>
              </a:rPr>
              <a:t>Examples: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G-Cloud UK:</a:t>
            </a:r>
            <a:r>
              <a:rPr lang="en-US">
                <a:solidFill>
                  <a:schemeClr val="dk1"/>
                </a:solidFill>
              </a:rPr>
              <a:t> A cloud framework for public sector organizations in the UK to access shared services securely.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NASA Nebula:</a:t>
            </a:r>
            <a:r>
              <a:rPr lang="en-US">
                <a:solidFill>
                  <a:schemeClr val="dk1"/>
                </a:solidFill>
              </a:rPr>
              <a:t> A community cloud developed for U.S. federal agencies to store and share research data.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Healthcare Community Cloud:</a:t>
            </a:r>
            <a:r>
              <a:rPr lang="en-US">
                <a:solidFill>
                  <a:schemeClr val="dk1"/>
                </a:solidFill>
              </a:rPr>
              <a:t> Used by hospitals for secure patient data sharing and collaborative research.</a:t>
            </a:r>
            <a:endParaRPr/>
          </a:p>
          <a:p>
            <a:pPr indent="-457200" lvl="1" marL="93980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US">
                <a:solidFill>
                  <a:schemeClr val="dk1"/>
                </a:solidFill>
              </a:rPr>
              <a:t>European Cloud Infrastructure (GAIA-X):</a:t>
            </a:r>
            <a:r>
              <a:rPr lang="en-US">
                <a:solidFill>
                  <a:schemeClr val="dk1"/>
                </a:solidFill>
              </a:rPr>
              <a:t> Designed to create a community cloud for European businesses, focusing on sovereignty and data privacy.</a:t>
            </a:r>
            <a:endParaRPr/>
          </a:p>
          <a:p>
            <a:pPr indent="0" lvl="0" marL="254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g36de97089d9_0_18"/>
          <p:cNvSpPr txBox="1"/>
          <p:nvPr>
            <p:ph idx="12" type="sldNum"/>
          </p:nvPr>
        </p:nvSpPr>
        <p:spPr>
          <a:xfrm>
            <a:off x="10270093" y="7629104"/>
            <a:ext cx="33438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chemeClr val="dk1"/>
                </a:solidFill>
              </a:rPr>
              <a:t>Selection of Cloud Deployment Model</a:t>
            </a:r>
            <a:endParaRPr/>
          </a:p>
        </p:txBody>
      </p:sp>
      <p:sp>
        <p:nvSpPr>
          <p:cNvPr id="160" name="Google Shape;160;p30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US" sz="3600">
                <a:solidFill>
                  <a:schemeClr val="dk1"/>
                </a:solidFill>
              </a:rPr>
              <a:t>	As Per Studies Cloud Deployment Model can be Chosen Based on Factors Such as:</a:t>
            </a:r>
            <a:endParaRPr/>
          </a:p>
          <a:p>
            <a:pPr indent="-457200" lvl="2" marL="1397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</a:rPr>
              <a:t>Compliance Requirements:</a:t>
            </a:r>
            <a:r>
              <a:rPr lang="en-US" sz="3200">
                <a:solidFill>
                  <a:schemeClr val="dk1"/>
                </a:solidFill>
              </a:rPr>
              <a:t> Private or community clouds for sensitive data.</a:t>
            </a:r>
            <a:endParaRPr/>
          </a:p>
          <a:p>
            <a:pPr indent="-457200" lvl="2" marL="1397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</a:rPr>
              <a:t>Budget Constraints:</a:t>
            </a:r>
            <a:r>
              <a:rPr lang="en-US" sz="3200">
                <a:solidFill>
                  <a:schemeClr val="dk1"/>
                </a:solidFill>
              </a:rPr>
              <a:t> Public clouds for startups and small businesses.</a:t>
            </a:r>
            <a:endParaRPr/>
          </a:p>
          <a:p>
            <a:pPr indent="-457200" lvl="2" marL="1397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</a:rPr>
              <a:t>Scalability Needs:</a:t>
            </a:r>
            <a:r>
              <a:rPr lang="en-US" sz="3200">
                <a:solidFill>
                  <a:schemeClr val="dk1"/>
                </a:solidFill>
              </a:rPr>
              <a:t> Hybrid or public clouds for dynamic workloads.</a:t>
            </a:r>
            <a:endParaRPr/>
          </a:p>
          <a:p>
            <a:pPr indent="-457200" lvl="2" marL="13970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</a:rPr>
              <a:t>Data Control:</a:t>
            </a:r>
            <a:r>
              <a:rPr lang="en-US" sz="3200">
                <a:solidFill>
                  <a:schemeClr val="dk1"/>
                </a:solidFill>
              </a:rPr>
              <a:t> Private clouds for maximum security and customization.</a:t>
            </a:r>
            <a:endParaRPr/>
          </a:p>
          <a:p>
            <a:pPr indent="-431800" lvl="0" marL="4572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Comparison of Deployment Models</a:t>
            </a:r>
            <a:endParaRPr/>
          </a:p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68" name="Google Shape;168;p31"/>
          <p:cNvGraphicFramePr/>
          <p:nvPr/>
        </p:nvGraphicFramePr>
        <p:xfrm>
          <a:off x="738130" y="1632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{56D3835E-BE8D-4BCB-967D-06AC67F0252E}</a:tableStyleId>
              </a:tblPr>
              <a:tblGrid>
                <a:gridCol w="1718625"/>
                <a:gridCol w="2192350"/>
                <a:gridCol w="1972025"/>
                <a:gridCol w="1707625"/>
                <a:gridCol w="2115250"/>
                <a:gridCol w="2996600"/>
              </a:tblGrid>
              <a:tr h="662000"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b="1"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Ownership</a:t>
                      </a:r>
                      <a:endParaRPr b="1"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Scalability</a:t>
                      </a:r>
                      <a:endParaRPr b="1"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Security</a:t>
                      </a:r>
                      <a:endParaRPr b="1"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</a:t>
                      </a:r>
                      <a:endParaRPr b="1"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Examples</a:t>
                      </a:r>
                      <a:endParaRPr b="1"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 Cloud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Third-party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Pay-as-you-go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AWS, 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Azure,</a:t>
                      </a:r>
                      <a:endParaRPr sz="2400" u="none" cap="none" strike="noStrike"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GCP, Dropbox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4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 Cloud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organization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 to high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upfront costs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Walmart, NASA,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BMW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Cloud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Mix of public/</a:t>
                      </a:r>
                      <a:endParaRPr/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Depends on usage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HSBC,</a:t>
                      </a: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Philips, Johnson Controls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Community Cloud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Shared organizations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Shared costs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NASA Nebula, G-Cloud UK, GAIA-X</a:t>
                      </a:r>
                      <a:endParaRPr sz="2400" u="none" cap="none" strike="noStrike"/>
                    </a:p>
                  </a:txBody>
                  <a:tcPr marT="12625" marB="12625" marR="12625" marL="126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ow To Write A Thank You Note In Five Easy Steps" id="175" name="Google Shape;1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7588" y="1366838"/>
            <a:ext cx="9753600" cy="54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