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77" r:id="rId5"/>
    <p:sldId id="27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1x5UvfXE+hgeBC9Fqn0h83VdX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4" d="100"/>
          <a:sy n="84" d="100"/>
        </p:scale>
        <p:origin x="780" y="1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03" name="Google Shape;103;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12" name="Google Shape;112;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122" name="Google Shape;122;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31" name="Google Shape;131;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2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6"/>
        <p:cNvGrpSpPr/>
        <p:nvPr/>
      </p:nvGrpSpPr>
      <p:grpSpPr>
        <a:xfrm>
          <a:off x="0" y="0"/>
          <a:ext cx="0" cy="0"/>
          <a:chOff x="0" y="0"/>
          <a:chExt cx="0" cy="0"/>
        </a:xfrm>
      </p:grpSpPr>
      <p:sp>
        <p:nvSpPr>
          <p:cNvPr id="47" name="Google Shape;47;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8" name="Google Shape;48;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7"/>
        <p:cNvGrpSpPr/>
        <p:nvPr/>
      </p:nvGrpSpPr>
      <p:grpSpPr>
        <a:xfrm>
          <a:off x="0" y="0"/>
          <a:ext cx="0" cy="0"/>
          <a:chOff x="0" y="0"/>
          <a:chExt cx="0" cy="0"/>
        </a:xfrm>
      </p:grpSpPr>
      <p:sp>
        <p:nvSpPr>
          <p:cNvPr id="68" name="Google Shape;68;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9"/>
        <p:cNvGrpSpPr/>
        <p:nvPr/>
      </p:nvGrpSpPr>
      <p:grpSpPr>
        <a:xfrm>
          <a:off x="0" y="0"/>
          <a:ext cx="0" cy="0"/>
          <a:chOff x="0" y="0"/>
          <a:chExt cx="0" cy="0"/>
        </a:xfrm>
      </p:grpSpPr>
      <p:sp>
        <p:nvSpPr>
          <p:cNvPr id="80" name="Google Shape;80;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hyperlink" Target="https://www.tutorialspoint.com/software_testing_dictionary/acceptance_testing.htm" TargetMode="External"/><Relationship Id="rId3" Type="http://schemas.openxmlformats.org/officeDocument/2006/relationships/hyperlink" Target="http://www.itinfo.am/eng/software-development-methodologies/" TargetMode="External"/><Relationship Id="rId7" Type="http://schemas.openxmlformats.org/officeDocument/2006/relationships/hyperlink" Target="https://www.tutorialspoint.com/software_testing_dictionary/validation_testing.htm"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hyperlink" Target="https://www.tutorialspoint.com/software_testing_dictionary/alpha_testing.htm" TargetMode="External"/><Relationship Id="rId5" Type="http://schemas.openxmlformats.org/officeDocument/2006/relationships/hyperlink" Target="https://www.softwaretestinghelp.com/types-of-software-testing/" TargetMode="External"/><Relationship Id="rId4" Type="http://schemas.openxmlformats.org/officeDocument/2006/relationships/hyperlink" Target="https://www.tutorialspoint.com/software_engineering/software_design_strategies.htm"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947786" y="2932386"/>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i="0" u="none" strike="noStrike" cap="none">
                <a:solidFill>
                  <a:srgbClr val="0070C0"/>
                </a:solidFill>
                <a:latin typeface="Times New Roman"/>
                <a:ea typeface="Times New Roman"/>
                <a:cs typeface="Times New Roman"/>
                <a:sym typeface="Times New Roman"/>
              </a:rPr>
              <a:t>Introduction to Software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1800" b="1" i="0" u="none" strike="noStrike" cap="none">
                <a:solidFill>
                  <a:srgbClr val="0070C0"/>
                </a:solidFill>
                <a:latin typeface="Times New Roman"/>
                <a:ea typeface="Times New Roman"/>
                <a:cs typeface="Times New Roman"/>
                <a:sym typeface="Times New Roman"/>
              </a:rPr>
              <a:t>Lecture (Theory)</a:t>
            </a:r>
            <a:endParaRPr sz="4400" b="0" i="0" u="none" strike="noStrike" cap="none">
              <a:solidFill>
                <a:srgbClr val="000000"/>
              </a:solidFill>
              <a:latin typeface="Arial"/>
              <a:ea typeface="Arial"/>
              <a:cs typeface="Arial"/>
              <a:sym typeface="Arial"/>
            </a:endParaRPr>
          </a:p>
          <a:p>
            <a:pPr marL="0" marR="0" lvl="0" indent="0" algn="ctr" rtl="0">
              <a:lnSpc>
                <a:spcPct val="100000"/>
              </a:lnSpc>
              <a:spcBef>
                <a:spcPts val="400"/>
              </a:spcBef>
              <a:spcAft>
                <a:spcPts val="0"/>
              </a:spcAft>
              <a:buNone/>
            </a:pPr>
            <a:r>
              <a:rPr lang="en-US" sz="1800" b="1" i="0" u="none" strike="noStrike" cap="none">
                <a:solidFill>
                  <a:srgbClr val="0070C0"/>
                </a:solidFill>
                <a:latin typeface="Times New Roman"/>
                <a:ea typeface="Times New Roman"/>
                <a:cs typeface="Times New Roman"/>
                <a:sym typeface="Times New Roman"/>
              </a:rPr>
              <a:t>Prepared By Dr. Chetna</a:t>
            </a:r>
            <a:endParaRPr sz="4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br>
              <a:rPr lang="en-US" sz="4400" b="0" i="0" u="none" strike="noStrike" cap="none">
                <a:solidFill>
                  <a:srgbClr val="000000"/>
                </a:solidFill>
                <a:latin typeface="Arial"/>
                <a:ea typeface="Arial"/>
                <a:cs typeface="Arial"/>
                <a:sym typeface="Arial"/>
              </a:rPr>
            </a:br>
            <a:endParaRPr sz="36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p:txBody>
      </p:sp>
      <p:sp>
        <p:nvSpPr>
          <p:cNvPr id="93" name="Google Shape;93;p1"/>
          <p:cNvSpPr txBox="1"/>
          <p:nvPr/>
        </p:nvSpPr>
        <p:spPr>
          <a:xfrm>
            <a:off x="1556894" y="1301969"/>
            <a:ext cx="634640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Object Oriented Software Engineering (OOSE)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22CS017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200" b="1" i="0" u="none" strike="noStrike" cap="none">
                <a:solidFill>
                  <a:srgbClr val="000000"/>
                </a:solidFill>
                <a:latin typeface="Times New Roman"/>
                <a:ea typeface="Times New Roman"/>
                <a:cs typeface="Times New Roman"/>
                <a:sym typeface="Times New Roman"/>
              </a:rPr>
              <a:t>Index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000"/>
              <a:buFont typeface="Arial"/>
              <a:buNone/>
            </a:pPr>
            <a:endParaRPr sz="3200" b="0" i="0" u="none" strike="noStrike" cap="none">
              <a:solidFill>
                <a:srgbClr val="000000"/>
              </a:solidFill>
              <a:latin typeface="Arial"/>
              <a:ea typeface="Arial"/>
              <a:cs typeface="Arial"/>
              <a:sym typeface="Arial"/>
            </a:endParaRPr>
          </a:p>
        </p:txBody>
      </p:sp>
      <p:sp>
        <p:nvSpPr>
          <p:cNvPr id="99" name="Google Shape;99;p2"/>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p:txBody>
      </p:sp>
      <p:sp>
        <p:nvSpPr>
          <p:cNvPr id="100" name="Google Shape;100;p2"/>
          <p:cNvSpPr txBox="1">
            <a:spLocks noGrp="1"/>
          </p:cNvSpPr>
          <p:nvPr>
            <p:ph type="body" idx="1"/>
          </p:nvPr>
        </p:nvSpPr>
        <p:spPr>
          <a:xfrm>
            <a:off x="675349" y="1190052"/>
            <a:ext cx="7826002" cy="4039737"/>
          </a:xfrm>
          <a:prstGeom prst="rect">
            <a:avLst/>
          </a:prstGeom>
          <a:noFill/>
          <a:ln>
            <a:noFill/>
          </a:ln>
        </p:spPr>
        <p:txBody>
          <a:bodyPr spcFirstLastPara="1" wrap="square" lIns="0" tIns="0" rIns="0" bIns="0" anchor="t" anchorCtr="0">
            <a:noAutofit/>
          </a:bodyPr>
          <a:lstStyle/>
          <a:p>
            <a:pPr marL="342900" lvl="0" indent="-342900" algn="l" rtl="0">
              <a:lnSpc>
                <a:spcPct val="150000"/>
              </a:lnSpc>
              <a:spcBef>
                <a:spcPts val="0"/>
              </a:spcBef>
              <a:spcAft>
                <a:spcPts val="0"/>
              </a:spcAft>
              <a:buSzPts val="2800"/>
              <a:buChar char="•"/>
            </a:pPr>
            <a:r>
              <a:rPr lang="en-US" sz="2000" b="1" i="0" u="none" strike="noStrike" cap="none">
                <a:solidFill>
                  <a:schemeClr val="dk1"/>
                </a:solidFill>
                <a:latin typeface="Times"/>
                <a:ea typeface="Times"/>
                <a:cs typeface="Times"/>
                <a:sym typeface="Times"/>
              </a:rPr>
              <a:t>What is Software</a:t>
            </a:r>
            <a:endParaRPr/>
          </a:p>
          <a:p>
            <a:pPr marL="342900" lvl="0" indent="-342900" algn="l" rtl="0">
              <a:lnSpc>
                <a:spcPct val="150000"/>
              </a:lnSpc>
              <a:spcBef>
                <a:spcPts val="0"/>
              </a:spcBef>
              <a:spcAft>
                <a:spcPts val="0"/>
              </a:spcAft>
              <a:buSzPts val="2800"/>
              <a:buChar char="•"/>
            </a:pPr>
            <a:r>
              <a:rPr lang="en-US" sz="2000" b="1">
                <a:latin typeface="Times"/>
                <a:ea typeface="Times"/>
                <a:cs typeface="Times"/>
                <a:sym typeface="Times"/>
              </a:rPr>
              <a:t>Hardware Vs Software</a:t>
            </a:r>
            <a:endParaRPr/>
          </a:p>
          <a:p>
            <a:pPr marL="342900" lvl="0" indent="-342900" algn="l" rtl="0">
              <a:lnSpc>
                <a:spcPct val="150000"/>
              </a:lnSpc>
              <a:spcBef>
                <a:spcPts val="0"/>
              </a:spcBef>
              <a:spcAft>
                <a:spcPts val="0"/>
              </a:spcAft>
              <a:buSzPts val="2800"/>
              <a:buChar char="•"/>
            </a:pPr>
            <a:r>
              <a:rPr lang="en-US" sz="2000" b="1">
                <a:latin typeface="Times"/>
                <a:ea typeface="Times"/>
                <a:cs typeface="Times"/>
                <a:sym typeface="Times"/>
              </a:rPr>
              <a:t>The Evolving Role of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The necessity of Software Evolution</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Characteristics of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Changing Nature of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Classification of the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Introduction of Software Engineering</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Key Principles of Software Engineering</a:t>
            </a:r>
            <a:endParaRPr sz="2000">
              <a:solidFill>
                <a:schemeClr val="dk1"/>
              </a:solidFill>
              <a:latin typeface="Times"/>
              <a:ea typeface="Times"/>
              <a:cs typeface="Times"/>
              <a:sym typeface="Times"/>
            </a:endParaRPr>
          </a:p>
          <a:p>
            <a:pPr marL="342900" lvl="0" indent="-342900" algn="l" rtl="0">
              <a:lnSpc>
                <a:spcPct val="150000"/>
              </a:lnSpc>
              <a:spcBef>
                <a:spcPts val="0"/>
              </a:spcBef>
              <a:spcAft>
                <a:spcPts val="0"/>
              </a:spcAft>
              <a:buSzPts val="2800"/>
              <a:buChar char="•"/>
            </a:pPr>
            <a:r>
              <a:rPr lang="en-US" sz="2000" b="1">
                <a:solidFill>
                  <a:schemeClr val="dk1"/>
                </a:solidFill>
                <a:latin typeface="Times"/>
                <a:ea typeface="Times"/>
                <a:cs typeface="Times"/>
                <a:sym typeface="Times"/>
              </a:rPr>
              <a:t>Practice Questions</a:t>
            </a:r>
            <a:endParaRPr/>
          </a:p>
          <a:p>
            <a:pPr marL="0" lvl="0" indent="0" algn="l" rtl="0">
              <a:lnSpc>
                <a:spcPct val="150000"/>
              </a:lnSpc>
              <a:spcBef>
                <a:spcPts val="0"/>
              </a:spcBef>
              <a:spcAft>
                <a:spcPts val="0"/>
              </a:spcAft>
              <a:buSzPts val="2800"/>
              <a:buNone/>
            </a:pPr>
            <a:r>
              <a:rPr lang="en-US" sz="2000" b="1" i="0">
                <a:solidFill>
                  <a:schemeClr val="dk1"/>
                </a:solidFill>
                <a:latin typeface="Times"/>
                <a:ea typeface="Times"/>
                <a:cs typeface="Times"/>
                <a:sym typeface="Times"/>
              </a:rPr>
              <a:t> </a:t>
            </a:r>
            <a:endParaRPr sz="2000" b="1">
              <a:solidFill>
                <a:schemeClr val="dk1"/>
              </a:solidFill>
              <a:latin typeface="Times"/>
              <a:ea typeface="Times"/>
              <a:cs typeface="Times"/>
              <a:sym typeface="Times"/>
            </a:endParaRPr>
          </a:p>
          <a:p>
            <a:pPr marL="342900" marR="0" lvl="0" indent="-165100" algn="l" rtl="0">
              <a:lnSpc>
                <a:spcPct val="150000"/>
              </a:lnSpc>
              <a:spcBef>
                <a:spcPts val="0"/>
              </a:spcBef>
              <a:spcAft>
                <a:spcPts val="0"/>
              </a:spcAft>
              <a:buClr>
                <a:schemeClr val="dk1"/>
              </a:buClr>
              <a:buSzPts val="2800"/>
              <a:buNone/>
            </a:pPr>
            <a:endParaRPr sz="1800">
              <a:latin typeface="Times New Roman"/>
              <a:ea typeface="Times New Roman"/>
              <a:cs typeface="Times New Roman"/>
              <a:sym typeface="Times New Roman"/>
            </a:endParaRPr>
          </a:p>
          <a:p>
            <a:pPr marL="342900" marR="0" lvl="0" indent="-165100" algn="l" rtl="0">
              <a:lnSpc>
                <a:spcPct val="150000"/>
              </a:lnSpc>
              <a:spcBef>
                <a:spcPts val="0"/>
              </a:spcBef>
              <a:spcAft>
                <a:spcPts val="0"/>
              </a:spcAft>
              <a:buClr>
                <a:schemeClr val="dk1"/>
              </a:buClr>
              <a:buSzPts val="2800"/>
              <a:buNone/>
            </a:pPr>
            <a:endParaRPr sz="1800">
              <a:latin typeface="Times New Roman"/>
              <a:ea typeface="Times New Roman"/>
              <a:cs typeface="Times New Roman"/>
              <a:sym typeface="Times New Roman"/>
            </a:endParaRPr>
          </a:p>
          <a:p>
            <a:pPr marL="342900" marR="0" lvl="0" indent="-165100" algn="l" rtl="0">
              <a:lnSpc>
                <a:spcPct val="150000"/>
              </a:lnSpc>
              <a:spcBef>
                <a:spcPts val="0"/>
              </a:spcBef>
              <a:spcAft>
                <a:spcPts val="0"/>
              </a:spcAft>
              <a:buClr>
                <a:schemeClr val="dk1"/>
              </a:buClr>
              <a:buSzPts val="2800"/>
              <a:buNone/>
            </a:pPr>
            <a:endParaRPr sz="1600">
              <a:latin typeface="Times"/>
              <a:ea typeface="Times"/>
              <a:cs typeface="Times"/>
              <a:sym typeface="Times"/>
            </a:endParaRPr>
          </a:p>
          <a:p>
            <a:pPr marL="342900" marR="0" lvl="0" indent="-165100" algn="l" rtl="0">
              <a:lnSpc>
                <a:spcPct val="150000"/>
              </a:lnSpc>
              <a:spcBef>
                <a:spcPts val="0"/>
              </a:spcBef>
              <a:spcAft>
                <a:spcPts val="0"/>
              </a:spcAft>
              <a:buClr>
                <a:schemeClr val="dk1"/>
              </a:buClr>
              <a:buSzPts val="2800"/>
              <a:buFont typeface="Times New Roman"/>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4"/>
          <p:cNvSpPr txBox="1"/>
          <p:nvPr/>
        </p:nvSpPr>
        <p:spPr>
          <a:xfrm>
            <a:off x="435990" y="236469"/>
            <a:ext cx="3215945"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chemeClr val="dk1"/>
                </a:solidFill>
                <a:latin typeface="Times"/>
                <a:ea typeface="Times"/>
                <a:cs typeface="Times"/>
                <a:sym typeface="Times"/>
              </a:rPr>
              <a:t>What is Software</a:t>
            </a:r>
            <a:endParaRPr sz="1400" b="0" i="0" u="none" strike="noStrike" cap="none" dirty="0">
              <a:solidFill>
                <a:srgbClr val="000000"/>
              </a:solidFill>
              <a:latin typeface="Arial"/>
              <a:ea typeface="Arial"/>
              <a:cs typeface="Arial"/>
              <a:sym typeface="Arial"/>
            </a:endParaRPr>
          </a:p>
        </p:txBody>
      </p:sp>
      <p:sp>
        <p:nvSpPr>
          <p:cNvPr id="108" name="Google Shape;108;p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 name="Google Shape;109;p4"/>
          <p:cNvSpPr/>
          <p:nvPr/>
        </p:nvSpPr>
        <p:spPr>
          <a:xfrm>
            <a:off x="310055" y="951885"/>
            <a:ext cx="8523889" cy="5632271"/>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highlight>
                  <a:srgbClr val="FFFF00"/>
                </a:highlight>
                <a:latin typeface="Times"/>
                <a:ea typeface="Times"/>
                <a:cs typeface="Times"/>
                <a:sym typeface="Times"/>
              </a:rPr>
              <a:t>Software</a:t>
            </a:r>
            <a:r>
              <a:rPr lang="en-US" sz="1800" b="0" i="0" u="none" strike="noStrike" cap="none" dirty="0">
                <a:solidFill>
                  <a:schemeClr val="dk1"/>
                </a:solidFill>
                <a:highlight>
                  <a:srgbClr val="FFFF00"/>
                </a:highlight>
                <a:latin typeface="Times"/>
                <a:ea typeface="Times"/>
                <a:cs typeface="Times"/>
                <a:sym typeface="Times"/>
              </a:rPr>
              <a:t> is a set of instructions, data or programs used to operate computers and execute specific tasks. </a:t>
            </a:r>
            <a:endParaRPr sz="1800" b="0" i="0" u="none" strike="noStrike" cap="none" dirty="0">
              <a:solidFill>
                <a:srgbClr val="000000"/>
              </a:solidFill>
              <a:highlight>
                <a:srgbClr val="FFFF00"/>
              </a:highlight>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800" b="0" i="0" u="none" strike="noStrike" cap="none" dirty="0">
                <a:solidFill>
                  <a:schemeClr val="dk1"/>
                </a:solidFill>
                <a:latin typeface="Times"/>
                <a:ea typeface="Times"/>
                <a:cs typeface="Times"/>
                <a:sym typeface="Times"/>
              </a:rPr>
              <a:t>Software is the opposite of hardware, which describes the physical aspects of a computer. </a:t>
            </a: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800" b="0" i="0" u="none" strike="noStrike" cap="none" dirty="0">
                <a:solidFill>
                  <a:schemeClr val="dk1"/>
                </a:solidFill>
                <a:latin typeface="Times"/>
                <a:ea typeface="Times"/>
                <a:cs typeface="Times"/>
                <a:sym typeface="Times"/>
              </a:rPr>
              <a:t>Software is a term used to refer to applications, scripts and programs that run on a device.</a:t>
            </a:r>
            <a:endParaRPr sz="1800" b="0" i="0" u="none" strike="noStrike" cap="none" dirty="0">
              <a:solidFill>
                <a:srgbClr val="000000"/>
              </a:solidFill>
              <a:latin typeface="Arial"/>
              <a:ea typeface="Arial"/>
              <a:cs typeface="Arial"/>
              <a:sym typeface="Arial"/>
            </a:endParaRPr>
          </a:p>
          <a:p>
            <a:pPr marL="285750" lvl="0" indent="-285750" algn="just">
              <a:buSzPts val="1600"/>
              <a:buFont typeface="Arial"/>
              <a:buChar char="•"/>
            </a:pPr>
            <a:r>
              <a:rPr lang="en-US" sz="1800" b="0" i="0" u="none" strike="noStrike" cap="none" dirty="0">
                <a:solidFill>
                  <a:schemeClr val="dk1"/>
                </a:solidFill>
                <a:latin typeface="Times"/>
                <a:ea typeface="Times"/>
                <a:cs typeface="Times"/>
                <a:sym typeface="Times"/>
              </a:rPr>
              <a:t>Software can be thought of as the variable part (it can be </a:t>
            </a:r>
            <a:r>
              <a:rPr lang="en-US" sz="1800" b="0" i="0" u="none" strike="noStrike" cap="none" dirty="0" err="1">
                <a:solidFill>
                  <a:schemeClr val="dk1"/>
                </a:solidFill>
                <a:latin typeface="Times"/>
                <a:ea typeface="Times"/>
                <a:cs typeface="Times"/>
                <a:sym typeface="Times"/>
              </a:rPr>
              <a:t>modified,updated</a:t>
            </a:r>
            <a:r>
              <a:rPr lang="en-US" sz="1800" b="0" i="0" u="none" strike="noStrike" cap="none" dirty="0">
                <a:solidFill>
                  <a:schemeClr val="dk1"/>
                </a:solidFill>
                <a:latin typeface="Times"/>
                <a:ea typeface="Times"/>
                <a:cs typeface="Times"/>
                <a:sym typeface="Times"/>
              </a:rPr>
              <a:t> etc. easily) of a </a:t>
            </a:r>
            <a:r>
              <a:rPr lang="en-US" sz="1800" b="0" i="0" u="none" strike="noStrike" cap="none" dirty="0" err="1">
                <a:solidFill>
                  <a:schemeClr val="dk1"/>
                </a:solidFill>
                <a:latin typeface="Times"/>
                <a:ea typeface="Times"/>
                <a:cs typeface="Times"/>
                <a:sym typeface="Times"/>
              </a:rPr>
              <a:t>comput</a:t>
            </a:r>
            <a:r>
              <a:rPr lang="en-US" sz="1800" dirty="0" err="1">
                <a:solidFill>
                  <a:schemeClr val="dk1"/>
                </a:solidFill>
                <a:latin typeface="Times"/>
                <a:ea typeface="Times"/>
                <a:cs typeface="Times"/>
                <a:sym typeface="Times"/>
              </a:rPr>
              <a:t>generic</a:t>
            </a:r>
            <a:r>
              <a:rPr lang="en-US" sz="1800" b="0" i="0" u="none" strike="noStrike" cap="none" dirty="0" err="1">
                <a:solidFill>
                  <a:schemeClr val="dk1"/>
                </a:solidFill>
                <a:latin typeface="Times"/>
                <a:ea typeface="Times"/>
                <a:cs typeface="Times"/>
                <a:sym typeface="Times"/>
              </a:rPr>
              <a:t>er</a:t>
            </a:r>
            <a:r>
              <a:rPr lang="en-US" sz="1800" b="0" i="0" u="none" strike="noStrike" cap="none" dirty="0">
                <a:solidFill>
                  <a:schemeClr val="dk1"/>
                </a:solidFill>
                <a:latin typeface="Times"/>
                <a:ea typeface="Times"/>
                <a:cs typeface="Times"/>
                <a:sym typeface="Times"/>
              </a:rPr>
              <a:t>, while hardware is the invariable part(it can’t be modified easily).</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a:ea typeface="Times"/>
                <a:cs typeface="Times"/>
                <a:sym typeface="Times"/>
              </a:rPr>
              <a:t>There are two main categories of software are</a:t>
            </a:r>
            <a:r>
              <a:rPr lang="en-US" sz="1800" b="0" i="0" u="none" strike="noStrike" cap="none" dirty="0">
                <a:solidFill>
                  <a:schemeClr val="dk1"/>
                </a:solidFill>
                <a:highlight>
                  <a:srgbClr val="FFFF00"/>
                </a:highlight>
                <a:latin typeface="Times"/>
                <a:ea typeface="Times"/>
                <a:cs typeface="Times"/>
                <a:sym typeface="Times"/>
              </a:rPr>
              <a:t> </a:t>
            </a:r>
            <a:r>
              <a:rPr lang="en-US" sz="1800" b="1" i="0" u="none" strike="noStrike" cap="none" dirty="0">
                <a:solidFill>
                  <a:schemeClr val="dk1"/>
                </a:solidFill>
                <a:highlight>
                  <a:srgbClr val="FFFF00"/>
                </a:highlight>
                <a:latin typeface="Times"/>
                <a:ea typeface="Times"/>
                <a:cs typeface="Times"/>
                <a:sym typeface="Times"/>
              </a:rPr>
              <a:t>application software and system software</a:t>
            </a:r>
            <a:r>
              <a:rPr lang="en-US" sz="1800" b="0" i="0" u="none" strike="noStrike" cap="none" dirty="0">
                <a:solidFill>
                  <a:schemeClr val="dk1"/>
                </a:solidFill>
                <a:latin typeface="Times"/>
                <a:ea typeface="Times"/>
                <a:cs typeface="Times"/>
                <a:sym typeface="Times"/>
              </a:rPr>
              <a:t>. </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285750" marR="0" lvl="0" indent="-285750" algn="just" rtl="0">
              <a:lnSpc>
                <a:spcPct val="100000"/>
              </a:lnSpc>
              <a:spcBef>
                <a:spcPts val="0"/>
              </a:spcBef>
              <a:spcAft>
                <a:spcPts val="0"/>
              </a:spcAft>
              <a:buClr>
                <a:srgbClr val="000000"/>
              </a:buClr>
              <a:buSzPts val="1600"/>
              <a:buFont typeface="Arial"/>
              <a:buChar char="•"/>
            </a:pPr>
            <a:r>
              <a:rPr lang="en-US" sz="1800" b="0" i="0" u="none" strike="noStrike" cap="none" dirty="0">
                <a:solidFill>
                  <a:schemeClr val="dk1"/>
                </a:solidFill>
                <a:latin typeface="Times"/>
                <a:ea typeface="Times"/>
                <a:cs typeface="Times"/>
                <a:sym typeface="Times"/>
              </a:rPr>
              <a:t>An </a:t>
            </a:r>
            <a:r>
              <a:rPr lang="en-US" sz="1800" b="1" i="0" u="none" strike="noStrike" cap="none" dirty="0">
                <a:solidFill>
                  <a:schemeClr val="dk1"/>
                </a:solidFill>
                <a:highlight>
                  <a:srgbClr val="FFFF00"/>
                </a:highlight>
                <a:latin typeface="Times"/>
                <a:ea typeface="Times"/>
                <a:cs typeface="Times"/>
                <a:sym typeface="Times"/>
              </a:rPr>
              <a:t>application(user-oriented software)</a:t>
            </a:r>
            <a:r>
              <a:rPr lang="en-US" sz="1800" b="0" i="0" u="none" strike="noStrike" cap="none" dirty="0">
                <a:solidFill>
                  <a:schemeClr val="dk1"/>
                </a:solidFill>
                <a:latin typeface="Times"/>
                <a:ea typeface="Times"/>
                <a:cs typeface="Times"/>
                <a:sym typeface="Times"/>
              </a:rPr>
              <a:t> is software that fulfills a </a:t>
            </a:r>
            <a:r>
              <a:rPr lang="en-US" sz="1800" b="0" i="0" u="none" strike="noStrike" cap="none" dirty="0">
                <a:solidFill>
                  <a:schemeClr val="dk1"/>
                </a:solidFill>
                <a:highlight>
                  <a:srgbClr val="FFFF00"/>
                </a:highlight>
                <a:latin typeface="Times"/>
                <a:ea typeface="Times"/>
                <a:cs typeface="Times"/>
                <a:sym typeface="Times"/>
              </a:rPr>
              <a:t>specific need or performs tasks</a:t>
            </a:r>
            <a:r>
              <a:rPr lang="en-US" sz="1800" b="0" i="0" u="none" strike="noStrike" cap="none" dirty="0">
                <a:solidFill>
                  <a:schemeClr val="dk1"/>
                </a:solidFill>
                <a:latin typeface="Times"/>
                <a:ea typeface="Times"/>
                <a:cs typeface="Times"/>
                <a:sym typeface="Times"/>
              </a:rPr>
              <a:t>. </a:t>
            </a: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800" b="1" i="0" u="none" strike="noStrike" cap="none" dirty="0">
                <a:solidFill>
                  <a:schemeClr val="dk1"/>
                </a:solidFill>
                <a:highlight>
                  <a:srgbClr val="FFFF00"/>
                </a:highlight>
                <a:latin typeface="Times"/>
                <a:ea typeface="Times"/>
                <a:cs typeface="Times"/>
                <a:sym typeface="Times"/>
              </a:rPr>
              <a:t>System software(Manages hardware and system resources) </a:t>
            </a:r>
            <a:r>
              <a:rPr lang="en-US" sz="1800" b="0" i="0" u="none" strike="noStrike" cap="none" dirty="0">
                <a:solidFill>
                  <a:schemeClr val="dk1"/>
                </a:solidFill>
                <a:latin typeface="Times"/>
                <a:ea typeface="Times"/>
                <a:cs typeface="Times"/>
                <a:sym typeface="Times"/>
              </a:rPr>
              <a:t>is designed to run a </a:t>
            </a:r>
            <a:r>
              <a:rPr lang="en-US" sz="1800" b="0" i="0" u="none" strike="noStrike" cap="none" dirty="0">
                <a:solidFill>
                  <a:schemeClr val="dk1"/>
                </a:solidFill>
                <a:highlight>
                  <a:srgbClr val="FFFF00"/>
                </a:highlight>
                <a:latin typeface="Times"/>
                <a:ea typeface="Times"/>
                <a:cs typeface="Times"/>
                <a:sym typeface="Times"/>
              </a:rPr>
              <a:t>computer's hardware </a:t>
            </a:r>
            <a:r>
              <a:rPr lang="en-US" sz="1800" b="0" i="0" u="none" strike="noStrike" cap="none" dirty="0">
                <a:solidFill>
                  <a:schemeClr val="dk1"/>
                </a:solidFill>
                <a:latin typeface="Times"/>
                <a:ea typeface="Times"/>
                <a:cs typeface="Times"/>
                <a:sym typeface="Times"/>
              </a:rPr>
              <a:t>and provides a platform for applications to run on top of.</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a:ea typeface="Times"/>
                <a:cs typeface="Times"/>
                <a:sym typeface="Times"/>
              </a:rPr>
              <a:t>Other types of software include </a:t>
            </a:r>
            <a:r>
              <a:rPr lang="en-US" sz="1800" b="1" i="0" u="none" strike="noStrike" cap="none" dirty="0">
                <a:solidFill>
                  <a:schemeClr val="dk1"/>
                </a:solidFill>
                <a:highlight>
                  <a:srgbClr val="FFFF00"/>
                </a:highlight>
                <a:latin typeface="Times"/>
                <a:ea typeface="Times"/>
                <a:cs typeface="Times"/>
                <a:sym typeface="Times"/>
              </a:rPr>
              <a:t>programming software(used to developing and writing programs)</a:t>
            </a:r>
            <a:r>
              <a:rPr lang="en-US" sz="1800" b="0" i="0" u="none" strike="noStrike" cap="none" dirty="0">
                <a:solidFill>
                  <a:schemeClr val="dk1"/>
                </a:solidFill>
                <a:latin typeface="Times"/>
                <a:ea typeface="Times"/>
                <a:cs typeface="Times"/>
                <a:sym typeface="Times"/>
              </a:rPr>
              <a:t>, which provides the programming tools software developers need; middleware, which sits between system software and applications; and </a:t>
            </a:r>
            <a:r>
              <a:rPr lang="en-US" sz="1800" b="1" i="0" u="none" strike="noStrike" cap="none" dirty="0">
                <a:solidFill>
                  <a:schemeClr val="dk1"/>
                </a:solidFill>
                <a:highlight>
                  <a:srgbClr val="FFFF00"/>
                </a:highlight>
                <a:latin typeface="Times"/>
                <a:ea typeface="Times"/>
                <a:cs typeface="Times"/>
                <a:sym typeface="Times"/>
              </a:rPr>
              <a:t>driver software(enable communication between hardware )</a:t>
            </a:r>
            <a:r>
              <a:rPr lang="en-US" sz="1800" b="0" i="0" u="none" strike="noStrike" cap="none" dirty="0">
                <a:solidFill>
                  <a:schemeClr val="dk1"/>
                </a:solidFill>
                <a:latin typeface="Times"/>
                <a:ea typeface="Times"/>
                <a:cs typeface="Times"/>
                <a:sym typeface="Times"/>
              </a:rPr>
              <a:t>, which operates computer devices and peripherals.</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0841DE-AEF6-E33C-C0C3-00750A4CADF5}"/>
              </a:ext>
            </a:extLst>
          </p:cNvPr>
          <p:cNvSpPr>
            <a:spLocks noChangeArrowheads="1"/>
          </p:cNvSpPr>
          <p:nvPr/>
        </p:nvSpPr>
        <p:spPr bwMode="auto">
          <a:xfrm>
            <a:off x="444138" y="1005840"/>
            <a:ext cx="8098972" cy="5107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Application Software (User-Oriented Software)</a:t>
            </a: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Designed for end users to perform specific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Web Browsers</a:t>
            </a:r>
            <a:r>
              <a:rPr kumimoji="0" lang="en-US" altLang="en-US" sz="1800" b="0" i="0" u="none" strike="noStrike" cap="none" normalizeH="0" baseline="0" dirty="0">
                <a:ln>
                  <a:noFill/>
                </a:ln>
                <a:solidFill>
                  <a:schemeClr val="tx1"/>
                </a:solidFill>
                <a:effectLst/>
                <a:latin typeface="Arial" panose="020B0604020202020204" pitchFamily="34" charset="0"/>
              </a:rPr>
              <a:t>: Google Chrome, Mozilla Firefox</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Office Suites</a:t>
            </a:r>
            <a:r>
              <a:rPr kumimoji="0" lang="en-US" altLang="en-US" sz="1800" b="0" i="0" u="none" strike="noStrike" cap="none" normalizeH="0" baseline="0" dirty="0">
                <a:ln>
                  <a:noFill/>
                </a:ln>
                <a:solidFill>
                  <a:schemeClr val="tx1"/>
                </a:solidFill>
                <a:effectLst/>
                <a:latin typeface="Arial" panose="020B0604020202020204" pitchFamily="34" charset="0"/>
              </a:rPr>
              <a:t>: Microsoft Office, Google Docs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Media Players</a:t>
            </a:r>
            <a:r>
              <a:rPr kumimoji="0" lang="en-US" altLang="en-US" sz="1800" b="0" i="0" u="none" strike="noStrike" cap="none" normalizeH="0" baseline="0" dirty="0">
                <a:ln>
                  <a:noFill/>
                </a:ln>
                <a:solidFill>
                  <a:schemeClr val="tx1"/>
                </a:solidFill>
                <a:effectLst/>
                <a:latin typeface="Arial" panose="020B0604020202020204" pitchFamily="34" charset="0"/>
              </a:rPr>
              <a:t>: VLC Media Player, Windows Media Player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Graphics Editing</a:t>
            </a:r>
            <a:r>
              <a:rPr kumimoji="0" lang="en-US" altLang="en-US" sz="1800" b="0" i="0" u="none" strike="noStrike" cap="none" normalizeH="0" baseline="0" dirty="0">
                <a:ln>
                  <a:noFill/>
                </a:ln>
                <a:solidFill>
                  <a:schemeClr val="tx1"/>
                </a:solidFill>
                <a:effectLst/>
                <a:latin typeface="Arial" panose="020B0604020202020204" pitchFamily="34" charset="0"/>
              </a:rPr>
              <a:t>: Adobe Photoshop, GIMP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Messaging Apps</a:t>
            </a:r>
            <a:r>
              <a:rPr kumimoji="0" lang="en-US" altLang="en-US" sz="1800" b="0" i="0" u="none" strike="noStrike" cap="none" normalizeH="0" baseline="0" dirty="0">
                <a:ln>
                  <a:noFill/>
                </a:ln>
                <a:solidFill>
                  <a:schemeClr val="tx1"/>
                </a:solidFill>
                <a:effectLst/>
                <a:latin typeface="Arial" panose="020B0604020202020204" pitchFamily="34" charset="0"/>
              </a:rPr>
              <a:t>: WhatsApp, Skype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Games</a:t>
            </a:r>
            <a:r>
              <a:rPr kumimoji="0" lang="en-US" altLang="en-US" sz="1800" b="0" i="0" u="none" strike="noStrike" cap="none" normalizeH="0" baseline="0" dirty="0">
                <a:ln>
                  <a:noFill/>
                </a:ln>
                <a:solidFill>
                  <a:schemeClr val="tx1"/>
                </a:solidFill>
                <a:effectLst/>
                <a:latin typeface="Arial" panose="020B0604020202020204" pitchFamily="34" charset="0"/>
              </a:rPr>
              <a:t>: Minecraft, Call of Duty</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System Software (Manages Hardware and System Resources)</a:t>
            </a: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a platform for application software to run.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Operating Systems</a:t>
            </a:r>
            <a:r>
              <a:rPr kumimoji="0" lang="en-US" altLang="en-US" sz="1800" b="0" i="0" u="none" strike="noStrike" cap="none" normalizeH="0" baseline="0" dirty="0">
                <a:ln>
                  <a:noFill/>
                </a:ln>
                <a:solidFill>
                  <a:schemeClr val="tx1"/>
                </a:solidFill>
                <a:effectLst/>
                <a:latin typeface="Arial" panose="020B0604020202020204" pitchFamily="34" charset="0"/>
              </a:rPr>
              <a:t>: Windows, macOS, Linux, Android, iOS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Device Drivers</a:t>
            </a:r>
            <a:r>
              <a:rPr kumimoji="0" lang="en-US" altLang="en-US" sz="1800" b="0" i="0" u="none" strike="noStrike" cap="none" normalizeH="0" baseline="0" dirty="0">
                <a:ln>
                  <a:noFill/>
                </a:ln>
                <a:solidFill>
                  <a:schemeClr val="tx1"/>
                </a:solidFill>
                <a:effectLst/>
                <a:latin typeface="Arial" panose="020B0604020202020204" pitchFamily="34" charset="0"/>
              </a:rPr>
              <a:t>: Printer driver, Graphics driver (NVIDIA, AMD)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Utilities</a:t>
            </a:r>
            <a:r>
              <a:rPr kumimoji="0" lang="en-US" altLang="en-US" sz="1800" b="0" i="0" u="none" strike="noStrike" cap="none" normalizeH="0" baseline="0" dirty="0">
                <a:ln>
                  <a:noFill/>
                </a:ln>
                <a:solidFill>
                  <a:schemeClr val="tx1"/>
                </a:solidFill>
                <a:effectLst/>
                <a:latin typeface="Arial" panose="020B0604020202020204" pitchFamily="34" charset="0"/>
              </a:rPr>
              <a:t>: Antivirus software, Disk Cleanup, Task Manager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Firmware</a:t>
            </a:r>
            <a:r>
              <a:rPr kumimoji="0" lang="en-US" altLang="en-US" sz="1800" b="0" i="0" u="none" strike="noStrike" cap="none" normalizeH="0" baseline="0" dirty="0">
                <a:ln>
                  <a:noFill/>
                </a:ln>
                <a:solidFill>
                  <a:schemeClr val="tx1"/>
                </a:solidFill>
                <a:effectLst/>
                <a:latin typeface="Arial" panose="020B0604020202020204" pitchFamily="34" charset="0"/>
              </a:rPr>
              <a:t>: BIOS, UEFI (basic software stored in ROM)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599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972A40-A57B-272E-B73E-B3DDE11B16D3}"/>
              </a:ext>
            </a:extLst>
          </p:cNvPr>
          <p:cNvSpPr>
            <a:spLocks noChangeArrowheads="1"/>
          </p:cNvSpPr>
          <p:nvPr/>
        </p:nvSpPr>
        <p:spPr bwMode="auto">
          <a:xfrm>
            <a:off x="235131" y="624485"/>
            <a:ext cx="8307978"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Programming Software</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(Used for developing and writing programs)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programmers write, debug, and test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Compilers</a:t>
            </a:r>
            <a:r>
              <a:rPr kumimoji="0" lang="en-US" altLang="en-US" sz="1800" b="0" i="0" u="none" strike="noStrike" cap="none" normalizeH="0" baseline="0" dirty="0">
                <a:ln>
                  <a:noFill/>
                </a:ln>
                <a:solidFill>
                  <a:schemeClr val="tx1"/>
                </a:solidFill>
                <a:effectLst/>
                <a:latin typeface="Arial" panose="020B0604020202020204" pitchFamily="34" charset="0"/>
              </a:rPr>
              <a:t>: GCC (GNU Compiler Collection), Microsoft Visual C++ Compiler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Interpreters</a:t>
            </a:r>
            <a:r>
              <a:rPr kumimoji="0" lang="en-US" altLang="en-US" sz="1800" b="0" i="0" u="none" strike="noStrike" cap="none" normalizeH="0" baseline="0" dirty="0">
                <a:ln>
                  <a:noFill/>
                </a:ln>
                <a:solidFill>
                  <a:schemeClr val="tx1"/>
                </a:solidFill>
                <a:effectLst/>
                <a:latin typeface="Arial" panose="020B0604020202020204" pitchFamily="34" charset="0"/>
              </a:rPr>
              <a:t>: Python Interpreter, Node.js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IDEs (Integrated Development Environments)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 Studio Code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Eclipse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PyCharm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 Editors</a:t>
            </a:r>
            <a:r>
              <a:rPr kumimoji="0" lang="en-US" altLang="en-US" sz="1800" b="0" i="0" u="none" strike="noStrike" cap="none" normalizeH="0" baseline="0" dirty="0">
                <a:ln>
                  <a:noFill/>
                </a:ln>
                <a:solidFill>
                  <a:schemeClr val="tx1"/>
                </a:solidFill>
                <a:effectLst/>
                <a:latin typeface="Arial" panose="020B0604020202020204" pitchFamily="34" charset="0"/>
              </a:rPr>
              <a:t>: Notepad++, Sublime Text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Debuggers</a:t>
            </a:r>
            <a:r>
              <a:rPr kumimoji="0" lang="en-US" altLang="en-US" sz="1800" b="0" i="0" u="none" strike="noStrike" cap="none" normalizeH="0" baseline="0" dirty="0">
                <a:ln>
                  <a:noFill/>
                </a:ln>
                <a:solidFill>
                  <a:schemeClr val="tx1"/>
                </a:solidFill>
                <a:effectLst/>
                <a:latin typeface="Arial" panose="020B0604020202020204" pitchFamily="34" charset="0"/>
              </a:rPr>
              <a:t>: GDB (GNU Debugger), LLDB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Driver Software</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(Enables communication between hardware and 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the operating system to interact with hardware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Graphics Drivers</a:t>
            </a:r>
            <a:r>
              <a:rPr kumimoji="0" lang="en-US" altLang="en-US" sz="1800" b="0" i="0" u="none" strike="noStrike" cap="none" normalizeH="0" baseline="0" dirty="0">
                <a:ln>
                  <a:noFill/>
                </a:ln>
                <a:solidFill>
                  <a:schemeClr val="tx1"/>
                </a:solidFill>
                <a:effectLst/>
                <a:latin typeface="Arial" panose="020B0604020202020204" pitchFamily="34" charset="0"/>
              </a:rPr>
              <a:t>: NVIDIA GeForce Driver, AMD Radeon Driver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Printer Drivers</a:t>
            </a:r>
            <a:r>
              <a:rPr kumimoji="0" lang="en-US" altLang="en-US" sz="1800" b="0" i="0" u="none" strike="noStrike" cap="none" normalizeH="0" baseline="0" dirty="0">
                <a:ln>
                  <a:noFill/>
                </a:ln>
                <a:solidFill>
                  <a:schemeClr val="tx1"/>
                </a:solidFill>
                <a:effectLst/>
                <a:latin typeface="Arial" panose="020B0604020202020204" pitchFamily="34" charset="0"/>
              </a:rPr>
              <a:t>: HP Printer Driver, Canon Printer Driver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Audio Drivers</a:t>
            </a:r>
            <a:r>
              <a:rPr kumimoji="0" lang="en-US" altLang="en-US" sz="1800" b="0" i="0" u="none" strike="noStrike" cap="none" normalizeH="0" baseline="0" dirty="0">
                <a:ln>
                  <a:noFill/>
                </a:ln>
                <a:solidFill>
                  <a:schemeClr val="tx1"/>
                </a:solidFill>
                <a:effectLst/>
                <a:latin typeface="Arial" panose="020B0604020202020204" pitchFamily="34" charset="0"/>
              </a:rPr>
              <a:t>: Realtek HD Audio Driver, ASIO Driver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Network Drivers</a:t>
            </a:r>
            <a:r>
              <a:rPr kumimoji="0" lang="en-US" altLang="en-US" sz="1800" b="0" i="0" u="none" strike="noStrike" cap="none" normalizeH="0" baseline="0" dirty="0">
                <a:ln>
                  <a:noFill/>
                </a:ln>
                <a:solidFill>
                  <a:schemeClr val="tx1"/>
                </a:solidFill>
                <a:effectLst/>
                <a:latin typeface="Arial" panose="020B0604020202020204" pitchFamily="34" charset="0"/>
              </a:rPr>
              <a:t>: Intel Wireless Adapter Driver, Broadcom Ethernet Driver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Chipset Drivers</a:t>
            </a:r>
            <a:r>
              <a:rPr kumimoji="0" lang="en-US" altLang="en-US" sz="1800" b="0" i="0" u="none" strike="noStrike" cap="none" normalizeH="0" baseline="0" dirty="0">
                <a:ln>
                  <a:noFill/>
                </a:ln>
                <a:solidFill>
                  <a:schemeClr val="tx1"/>
                </a:solidFill>
                <a:effectLst/>
                <a:latin typeface="Arial" panose="020B0604020202020204" pitchFamily="34" charset="0"/>
              </a:rPr>
              <a:t>: Intel Chipset Driver, AMD Chipset Driver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8719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6"/>
          <p:cNvSpPr txBox="1"/>
          <p:nvPr/>
        </p:nvSpPr>
        <p:spPr>
          <a:xfrm>
            <a:off x="435990" y="236469"/>
            <a:ext cx="4129657"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Hardware vs Software</a:t>
            </a:r>
            <a:endParaRPr sz="1400" b="0" i="0" u="none" strike="noStrike" cap="none">
              <a:solidFill>
                <a:srgbClr val="000000"/>
              </a:solidFill>
              <a:latin typeface="Arial"/>
              <a:ea typeface="Arial"/>
              <a:cs typeface="Arial"/>
              <a:sym typeface="Arial"/>
            </a:endParaRPr>
          </a:p>
        </p:txBody>
      </p:sp>
      <p:sp>
        <p:nvSpPr>
          <p:cNvPr id="117" name="Google Shape;117;p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8" name="Google Shape;118;p6" descr="What is software? Definition and meaning - Market Business News"/>
          <p:cNvPicPr preferRelativeResize="0"/>
          <p:nvPr/>
        </p:nvPicPr>
        <p:blipFill rotWithShape="1">
          <a:blip r:embed="rId3">
            <a:alphaModFix/>
          </a:blip>
          <a:srcRect t="18121"/>
          <a:stretch/>
        </p:blipFill>
        <p:spPr>
          <a:xfrm>
            <a:off x="1014059" y="1177159"/>
            <a:ext cx="7215541" cy="4669601"/>
          </a:xfrm>
          <a:prstGeom prst="rect">
            <a:avLst/>
          </a:prstGeom>
          <a:noFill/>
          <a:ln>
            <a:noFill/>
          </a:ln>
        </p:spPr>
      </p:pic>
      <p:sp>
        <p:nvSpPr>
          <p:cNvPr id="119" name="Google Shape;119;p6"/>
          <p:cNvSpPr txBox="1"/>
          <p:nvPr/>
        </p:nvSpPr>
        <p:spPr>
          <a:xfrm>
            <a:off x="3605048" y="6327228"/>
            <a:ext cx="286168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Figure 1: Hardware vs Software</a:t>
            </a:r>
            <a:endParaRPr sz="14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7"/>
          <p:cNvSpPr txBox="1"/>
          <p:nvPr/>
        </p:nvSpPr>
        <p:spPr>
          <a:xfrm>
            <a:off x="435990" y="236469"/>
            <a:ext cx="554190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The Evolving Role of Software</a:t>
            </a:r>
            <a:endParaRPr sz="1400" b="0" i="0" u="none" strike="noStrike" cap="none">
              <a:solidFill>
                <a:srgbClr val="000000"/>
              </a:solidFill>
              <a:latin typeface="Arial"/>
              <a:ea typeface="Arial"/>
              <a:cs typeface="Arial"/>
              <a:sym typeface="Arial"/>
            </a:endParaRPr>
          </a:p>
        </p:txBody>
      </p:sp>
      <p:sp>
        <p:nvSpPr>
          <p:cNvPr id="127" name="Google Shape;127;p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 name="Google Shape;128;p7"/>
          <p:cNvSpPr/>
          <p:nvPr/>
        </p:nvSpPr>
        <p:spPr>
          <a:xfrm>
            <a:off x="374146" y="1184007"/>
            <a:ext cx="8229600" cy="5078273"/>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Software Evolution</a:t>
            </a:r>
            <a:r>
              <a:rPr lang="en-US" sz="1800" b="0" i="0" u="none" strike="noStrike" cap="none" dirty="0">
                <a:solidFill>
                  <a:schemeClr val="dk1"/>
                </a:solidFill>
                <a:latin typeface="Times"/>
                <a:ea typeface="Times"/>
                <a:cs typeface="Times"/>
                <a:sym typeface="Times"/>
              </a:rPr>
              <a:t> is a term which refers </a:t>
            </a:r>
            <a:endParaRPr sz="1400" b="0" i="0" u="none" strike="noStrike" cap="none" dirty="0">
              <a:solidFill>
                <a:srgbClr val="000000"/>
              </a:solidFill>
              <a:latin typeface="Arial"/>
              <a:ea typeface="Arial"/>
              <a:cs typeface="Arial"/>
              <a:sym typeface="Arial"/>
            </a:endParaRPr>
          </a:p>
          <a:p>
            <a:pPr marL="285750" marR="0" lvl="2" indent="-285750" algn="just" rtl="0">
              <a:lnSpc>
                <a:spcPct val="100000"/>
              </a:lnSpc>
              <a:spcBef>
                <a:spcPts val="0"/>
              </a:spcBef>
              <a:spcAft>
                <a:spcPts val="0"/>
              </a:spcAft>
              <a:buClr>
                <a:srgbClr val="000000"/>
              </a:buClr>
              <a:buSzPts val="1800"/>
              <a:buFont typeface="Arial"/>
              <a:buChar char="•"/>
            </a:pPr>
            <a:r>
              <a:rPr lang="en-US" sz="1800" b="0" i="0" u="none" strike="noStrike" cap="none" dirty="0">
                <a:solidFill>
                  <a:schemeClr val="dk1"/>
                </a:solidFill>
                <a:highlight>
                  <a:srgbClr val="FFFF00"/>
                </a:highlight>
                <a:latin typeface="Times"/>
                <a:ea typeface="Times"/>
                <a:cs typeface="Times"/>
                <a:sym typeface="Times"/>
              </a:rPr>
              <a:t>to the process of developing software initially, then timely updating it for various reasons,</a:t>
            </a:r>
            <a:endParaRPr sz="1400" b="0" i="0" u="none" strike="noStrike" cap="none" dirty="0">
              <a:solidFill>
                <a:srgbClr val="000000"/>
              </a:solidFill>
              <a:highlight>
                <a:srgbClr val="FFFF00"/>
              </a:highlight>
              <a:latin typeface="Arial"/>
              <a:ea typeface="Arial"/>
              <a:cs typeface="Arial"/>
              <a:sym typeface="Arial"/>
            </a:endParaRPr>
          </a:p>
          <a:p>
            <a:pPr marL="285750" marR="0" lvl="2" indent="-285750" algn="just" rtl="0">
              <a:lnSpc>
                <a:spcPct val="100000"/>
              </a:lnSpc>
              <a:spcBef>
                <a:spcPts val="0"/>
              </a:spcBef>
              <a:spcAft>
                <a:spcPts val="0"/>
              </a:spcAft>
              <a:buClr>
                <a:srgbClr val="000000"/>
              </a:buClr>
              <a:buSzPts val="1800"/>
              <a:buFont typeface="Arial"/>
              <a:buChar char="•"/>
            </a:pPr>
            <a:r>
              <a:rPr lang="en-US" sz="1800" b="0" i="0" u="none" strike="noStrike" cap="none" dirty="0">
                <a:solidFill>
                  <a:schemeClr val="dk1"/>
                </a:solidFill>
                <a:highlight>
                  <a:srgbClr val="FFFF00"/>
                </a:highlight>
                <a:latin typeface="Times"/>
                <a:ea typeface="Times"/>
                <a:cs typeface="Times"/>
                <a:sym typeface="Times"/>
              </a:rPr>
              <a:t>to add new features  </a:t>
            </a:r>
            <a:endParaRPr sz="1400" b="0" i="0" u="none" strike="noStrike" cap="none" dirty="0">
              <a:solidFill>
                <a:srgbClr val="000000"/>
              </a:solidFill>
              <a:highlight>
                <a:srgbClr val="FFFF00"/>
              </a:highlight>
              <a:latin typeface="Arial"/>
              <a:ea typeface="Arial"/>
              <a:cs typeface="Arial"/>
              <a:sym typeface="Arial"/>
            </a:endParaRPr>
          </a:p>
          <a:p>
            <a:pPr marL="285750" marR="0" lvl="2" indent="-285750" algn="just" rtl="0">
              <a:lnSpc>
                <a:spcPct val="100000"/>
              </a:lnSpc>
              <a:spcBef>
                <a:spcPts val="0"/>
              </a:spcBef>
              <a:spcAft>
                <a:spcPts val="0"/>
              </a:spcAft>
              <a:buClr>
                <a:srgbClr val="000000"/>
              </a:buClr>
              <a:buSzPts val="1800"/>
              <a:buFont typeface="Arial"/>
              <a:buChar char="•"/>
            </a:pPr>
            <a:r>
              <a:rPr lang="en-US" sz="1800" b="0" i="0" u="none" strike="noStrike" cap="none" dirty="0">
                <a:solidFill>
                  <a:schemeClr val="dk1"/>
                </a:solidFill>
                <a:highlight>
                  <a:srgbClr val="FFFF00"/>
                </a:highlight>
                <a:latin typeface="Times"/>
                <a:ea typeface="Times"/>
                <a:cs typeface="Times"/>
                <a:sym typeface="Times"/>
              </a:rPr>
              <a:t>to remove obsolete functionalities </a:t>
            </a:r>
            <a:r>
              <a:rPr lang="en-US" sz="1800" b="0" i="0" u="none" strike="noStrike" cap="none" dirty="0">
                <a:solidFill>
                  <a:schemeClr val="dk1"/>
                </a:solidFill>
                <a:latin typeface="Times"/>
                <a:ea typeface="Times"/>
                <a:cs typeface="Times"/>
                <a:sym typeface="Times"/>
              </a:rPr>
              <a:t>(that are no longer in use) etc.</a:t>
            </a:r>
            <a:endParaRPr lang="en-US" dirty="0">
              <a:ea typeface="Times"/>
            </a:endParaRPr>
          </a:p>
          <a:p>
            <a:pPr marL="285750" marR="0" lvl="2" indent="-285750" algn="just" rtl="0">
              <a:lnSpc>
                <a:spcPct val="100000"/>
              </a:lnSpc>
              <a:spcBef>
                <a:spcPts val="0"/>
              </a:spcBef>
              <a:spcAft>
                <a:spcPts val="0"/>
              </a:spcAft>
              <a:buClr>
                <a:srgbClr val="000000"/>
              </a:buClr>
              <a:buSzPts val="1800"/>
              <a:buFont typeface="Arial"/>
              <a:buChar char="•"/>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a:ea typeface="Times"/>
                <a:cs typeface="Times"/>
                <a:sym typeface="Times"/>
              </a:rPr>
              <a:t> The evolution process includes fundamental activities of </a:t>
            </a:r>
            <a:r>
              <a:rPr lang="en-US" sz="1800" b="0" i="0" u="none" strike="noStrike" cap="none" dirty="0">
                <a:solidFill>
                  <a:schemeClr val="dk1"/>
                </a:solidFill>
                <a:highlight>
                  <a:srgbClr val="FFFF00"/>
                </a:highlight>
                <a:latin typeface="Times"/>
                <a:ea typeface="Times"/>
                <a:cs typeface="Times"/>
                <a:sym typeface="Times"/>
              </a:rPr>
              <a:t>change analysis</a:t>
            </a:r>
            <a:r>
              <a:rPr lang="en-US" sz="1800" b="0" i="0" u="none" strike="noStrike" cap="none" dirty="0">
                <a:solidFill>
                  <a:schemeClr val="dk1"/>
                </a:solidFill>
                <a:latin typeface="Times"/>
                <a:ea typeface="Times"/>
                <a:cs typeface="Times"/>
                <a:sym typeface="Times"/>
              </a:rPr>
              <a:t>, </a:t>
            </a:r>
            <a:r>
              <a:rPr lang="en-US" sz="1800" b="0" i="0" u="none" strike="noStrike" cap="none" dirty="0">
                <a:solidFill>
                  <a:schemeClr val="dk1"/>
                </a:solidFill>
                <a:highlight>
                  <a:srgbClr val="FFFF00"/>
                </a:highlight>
                <a:latin typeface="Times"/>
                <a:ea typeface="Times"/>
                <a:cs typeface="Times"/>
                <a:sym typeface="Times"/>
              </a:rPr>
              <a:t>release planning</a:t>
            </a:r>
            <a:r>
              <a:rPr lang="en-US" sz="1800" b="0" i="0" u="none" strike="noStrike" cap="none" dirty="0">
                <a:solidFill>
                  <a:schemeClr val="dk1"/>
                </a:solidFill>
                <a:latin typeface="Times"/>
                <a:ea typeface="Times"/>
                <a:cs typeface="Times"/>
                <a:sym typeface="Times"/>
              </a:rPr>
              <a:t>, </a:t>
            </a:r>
            <a:r>
              <a:rPr lang="en-US" sz="1800" b="0" i="0" u="none" strike="noStrike" cap="none" dirty="0">
                <a:solidFill>
                  <a:schemeClr val="dk1"/>
                </a:solidFill>
                <a:highlight>
                  <a:srgbClr val="FFFF00"/>
                </a:highlight>
                <a:latin typeface="Times"/>
                <a:ea typeface="Times"/>
                <a:cs typeface="Times"/>
                <a:sym typeface="Times"/>
              </a:rPr>
              <a:t>system implementation </a:t>
            </a:r>
            <a:r>
              <a:rPr lang="en-US" sz="1800" b="0" i="0" u="none" strike="noStrike" cap="none" dirty="0">
                <a:solidFill>
                  <a:schemeClr val="dk1"/>
                </a:solidFill>
                <a:latin typeface="Times"/>
                <a:ea typeface="Times"/>
                <a:cs typeface="Times"/>
                <a:sym typeface="Times"/>
              </a:rPr>
              <a:t>and </a:t>
            </a:r>
            <a:r>
              <a:rPr lang="en-US" sz="1800" b="0" i="0" u="none" strike="noStrike" cap="none" dirty="0">
                <a:solidFill>
                  <a:schemeClr val="dk1"/>
                </a:solidFill>
                <a:highlight>
                  <a:srgbClr val="FFFF00"/>
                </a:highlight>
                <a:latin typeface="Times"/>
                <a:ea typeface="Times"/>
                <a:cs typeface="Times"/>
                <a:sym typeface="Times"/>
              </a:rPr>
              <a:t>releasing a system to customers</a:t>
            </a:r>
            <a:r>
              <a:rPr lang="en-US" sz="1800" b="0" i="0" u="none" strike="noStrike" cap="none" dirty="0">
                <a:solidFill>
                  <a:schemeClr val="dk1"/>
                </a:solidFill>
                <a:latin typeface="Times"/>
                <a:ea typeface="Times"/>
                <a:cs typeface="Times"/>
                <a:sym typeface="Times"/>
              </a:rPr>
              <a:t>. The cost and impact of these changes are accessed to see how much system is affected by the change and how much it might cost to implement the change. If the proposed changes are accepted, a new release of the software system is planned.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a:ea typeface="Times"/>
                <a:cs typeface="Times"/>
                <a:sym typeface="Times"/>
              </a:rPr>
              <a:t>During release planning, all the proposed changes (fault repair, adaptation, and new functionality) are considered. A design is then made on which changes to implement in the next version of the system. The process of change implementation is an iteration of the development process where the revisions to the system are designed, implemented and tested. </a:t>
            </a: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a:ea typeface="Times"/>
              <a:cs typeface="Times"/>
              <a:sym typeface="Time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8"/>
          <p:cNvSpPr txBox="1"/>
          <p:nvPr/>
        </p:nvSpPr>
        <p:spPr>
          <a:xfrm>
            <a:off x="22441" y="204816"/>
            <a:ext cx="6556603"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The necessity of Software Evolution </a:t>
            </a:r>
            <a:endParaRPr sz="3200" b="1" i="0" u="none" strike="noStrike" cap="none">
              <a:solidFill>
                <a:schemeClr val="dk1"/>
              </a:solidFill>
              <a:latin typeface="Times"/>
              <a:ea typeface="Times"/>
              <a:cs typeface="Times"/>
              <a:sym typeface="Times"/>
            </a:endParaRPr>
          </a:p>
        </p:txBody>
      </p:sp>
      <p:sp>
        <p:nvSpPr>
          <p:cNvPr id="136" name="Google Shape;136;p8"/>
          <p:cNvSpPr txBox="1"/>
          <p:nvPr/>
        </p:nvSpPr>
        <p:spPr>
          <a:xfrm>
            <a:off x="350520" y="1584960"/>
            <a:ext cx="8496300"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dirty="0">
                <a:solidFill>
                  <a:schemeClr val="dk1"/>
                </a:solidFill>
                <a:latin typeface="Times"/>
                <a:ea typeface="Times"/>
                <a:cs typeface="Times"/>
                <a:sym typeface="Times"/>
              </a:rPr>
              <a:t>a) </a:t>
            </a:r>
            <a:r>
              <a:rPr lang="en-US" sz="1800" b="1" i="0" u="sng" strike="noStrike" cap="none" dirty="0">
                <a:solidFill>
                  <a:schemeClr val="dk1"/>
                </a:solidFill>
                <a:highlight>
                  <a:srgbClr val="FFFF00"/>
                </a:highlight>
                <a:latin typeface="Times"/>
                <a:ea typeface="Times"/>
                <a:cs typeface="Times"/>
                <a:sym typeface="Times"/>
              </a:rPr>
              <a:t>Change in requirement with time</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With the passes of time, the organization’s needs and modus Operandi of working could substantially be changed so in this frequently changing time the tools(software) that they are using need to change for maximizing the performance.</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b) </a:t>
            </a:r>
            <a:r>
              <a:rPr lang="en-US" sz="1800" b="1" i="0" u="sng" strike="noStrike" cap="none" dirty="0">
                <a:solidFill>
                  <a:schemeClr val="dk1"/>
                </a:solidFill>
                <a:highlight>
                  <a:srgbClr val="FFFF00"/>
                </a:highlight>
                <a:latin typeface="Times"/>
                <a:ea typeface="Times"/>
                <a:cs typeface="Times"/>
                <a:sym typeface="Times"/>
              </a:rPr>
              <a:t>Environment change</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As the working environment </a:t>
            </a:r>
            <a:r>
              <a:rPr lang="en-US" sz="1800" dirty="0">
                <a:solidFill>
                  <a:schemeClr val="dk1"/>
                </a:solidFill>
                <a:latin typeface="Times"/>
                <a:ea typeface="Times"/>
                <a:cs typeface="Times"/>
                <a:sym typeface="Times"/>
              </a:rPr>
              <a:t>changes,</a:t>
            </a:r>
            <a:r>
              <a:rPr lang="en-US" sz="1800" b="0" i="0" u="none" strike="noStrike" cap="none" dirty="0">
                <a:solidFill>
                  <a:schemeClr val="dk1"/>
                </a:solidFill>
                <a:latin typeface="Times"/>
                <a:ea typeface="Times"/>
                <a:cs typeface="Times"/>
                <a:sym typeface="Times"/>
              </a:rPr>
              <a:t> the things(tools) that enable us to work in that environment also </a:t>
            </a:r>
            <a:r>
              <a:rPr lang="en-US" sz="1800" dirty="0">
                <a:solidFill>
                  <a:schemeClr val="dk1"/>
                </a:solidFill>
                <a:latin typeface="Times"/>
                <a:ea typeface="Times"/>
                <a:cs typeface="Times"/>
                <a:sym typeface="Times"/>
              </a:rPr>
              <a:t>change</a:t>
            </a:r>
            <a:r>
              <a:rPr lang="en-US" sz="1800" b="0" i="0" u="none" strike="noStrike" cap="none" dirty="0">
                <a:solidFill>
                  <a:schemeClr val="dk1"/>
                </a:solidFill>
                <a:latin typeface="Times"/>
                <a:ea typeface="Times"/>
                <a:cs typeface="Times"/>
                <a:sym typeface="Times"/>
              </a:rPr>
              <a:t> </a:t>
            </a:r>
            <a:r>
              <a:rPr lang="en-US" sz="1800" dirty="0">
                <a:solidFill>
                  <a:schemeClr val="dk1"/>
                </a:solidFill>
                <a:latin typeface="Times"/>
                <a:ea typeface="Times"/>
                <a:cs typeface="Times"/>
                <a:sym typeface="Times"/>
              </a:rPr>
              <a:t>proportionally. The</a:t>
            </a:r>
            <a:r>
              <a:rPr lang="en-US" sz="1800" b="0" i="0" u="none" strike="noStrike" cap="none" dirty="0">
                <a:solidFill>
                  <a:schemeClr val="dk1"/>
                </a:solidFill>
                <a:latin typeface="Times"/>
                <a:ea typeface="Times"/>
                <a:cs typeface="Times"/>
                <a:sym typeface="Times"/>
              </a:rPr>
              <a:t> same happens in the software world as the working environment changes then, the organizations need reintroduction of old software with updated features and functionality to </a:t>
            </a:r>
            <a:r>
              <a:rPr lang="en-US" sz="1800" dirty="0">
                <a:solidFill>
                  <a:schemeClr val="dk1"/>
                </a:solidFill>
                <a:latin typeface="Times"/>
                <a:ea typeface="Times"/>
                <a:cs typeface="Times"/>
                <a:sym typeface="Times"/>
              </a:rPr>
              <a:t>adapt to</a:t>
            </a:r>
            <a:r>
              <a:rPr lang="en-US" sz="1800" b="0" i="0" u="none" strike="noStrike" cap="none" dirty="0">
                <a:solidFill>
                  <a:schemeClr val="dk1"/>
                </a:solidFill>
                <a:latin typeface="Times"/>
                <a:ea typeface="Times"/>
                <a:cs typeface="Times"/>
                <a:sym typeface="Times"/>
              </a:rPr>
              <a:t> the new environment.</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c) </a:t>
            </a:r>
            <a:r>
              <a:rPr lang="en-US" sz="1800" b="1" i="0" u="sng" strike="noStrike" cap="none" dirty="0">
                <a:solidFill>
                  <a:schemeClr val="dk1"/>
                </a:solidFill>
                <a:highlight>
                  <a:srgbClr val="FFFF00"/>
                </a:highlight>
                <a:latin typeface="Times"/>
                <a:ea typeface="Times"/>
                <a:cs typeface="Times"/>
                <a:sym typeface="Times"/>
              </a:rPr>
              <a:t>Errors and bugs</a:t>
            </a:r>
            <a:r>
              <a:rPr lang="en-US" sz="1800" b="1" i="0" u="none" strike="noStrike" cap="none" dirty="0">
                <a:solidFill>
                  <a:schemeClr val="dk1"/>
                </a:solidFill>
                <a:highlight>
                  <a:srgbClr val="FFFF00"/>
                </a:highlight>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As the age of the deployed software within an organization </a:t>
            </a:r>
            <a:r>
              <a:rPr lang="en-US" sz="1800" dirty="0">
                <a:solidFill>
                  <a:schemeClr val="dk1"/>
                </a:solidFill>
                <a:latin typeface="Times"/>
                <a:ea typeface="Times"/>
                <a:cs typeface="Times"/>
                <a:sym typeface="Times"/>
              </a:rPr>
              <a:t>increases,</a:t>
            </a:r>
            <a:r>
              <a:rPr lang="en-US" sz="1800" b="0" i="0" u="none" strike="noStrike" cap="none" dirty="0">
                <a:solidFill>
                  <a:schemeClr val="dk1"/>
                </a:solidFill>
                <a:latin typeface="Times"/>
                <a:ea typeface="Times"/>
                <a:cs typeface="Times"/>
                <a:sym typeface="Times"/>
              </a:rPr>
              <a:t> their preciseness or impeccability </a:t>
            </a:r>
            <a:r>
              <a:rPr lang="en-US" sz="1800" dirty="0">
                <a:solidFill>
                  <a:schemeClr val="dk1"/>
                </a:solidFill>
                <a:latin typeface="Times"/>
                <a:ea typeface="Times"/>
                <a:cs typeface="Times"/>
                <a:sym typeface="Times"/>
              </a:rPr>
              <a:t>decreases,</a:t>
            </a:r>
            <a:r>
              <a:rPr lang="en-US" sz="1800" b="0" i="0" u="none" strike="noStrike" cap="none" dirty="0">
                <a:solidFill>
                  <a:schemeClr val="dk1"/>
                </a:solidFill>
                <a:latin typeface="Times"/>
                <a:ea typeface="Times"/>
                <a:cs typeface="Times"/>
                <a:sym typeface="Times"/>
              </a:rPr>
              <a:t> and the efficiency to bear the increasing complexity workload also continually degrades. So, in that case, it becomes necessary to avoid use of obsolete and aged software. All such obsolete </a:t>
            </a:r>
            <a:r>
              <a:rPr lang="en-US" sz="1800" dirty="0">
                <a:solidFill>
                  <a:schemeClr val="dk1"/>
                </a:solidFill>
                <a:latin typeface="Times"/>
                <a:ea typeface="Times"/>
                <a:cs typeface="Times"/>
                <a:sym typeface="Times"/>
              </a:rPr>
              <a:t>software</a:t>
            </a:r>
            <a:r>
              <a:rPr lang="en-US" sz="1800" b="0" i="0" u="none" strike="noStrike" cap="none" dirty="0">
                <a:solidFill>
                  <a:schemeClr val="dk1"/>
                </a:solidFill>
                <a:latin typeface="Times"/>
                <a:ea typeface="Times"/>
                <a:cs typeface="Times"/>
                <a:sym typeface="Times"/>
              </a:rPr>
              <a:t> </a:t>
            </a:r>
            <a:r>
              <a:rPr lang="en-US" sz="1800" dirty="0">
                <a:solidFill>
                  <a:schemeClr val="dk1"/>
                </a:solidFill>
                <a:latin typeface="Times"/>
                <a:ea typeface="Times"/>
                <a:cs typeface="Times"/>
                <a:sym typeface="Times"/>
              </a:rPr>
              <a:t>needs</a:t>
            </a:r>
            <a:r>
              <a:rPr lang="en-US" sz="1800" b="0" i="0" u="none" strike="noStrike" cap="none" dirty="0">
                <a:solidFill>
                  <a:schemeClr val="dk1"/>
                </a:solidFill>
                <a:latin typeface="Times"/>
                <a:ea typeface="Times"/>
                <a:cs typeface="Times"/>
                <a:sym typeface="Times"/>
              </a:rPr>
              <a:t> to undergo the evolution process in order to become robust as per the workload complexity of the current </a:t>
            </a:r>
            <a:r>
              <a:rPr lang="en-US" sz="1800" dirty="0">
                <a:solidFill>
                  <a:schemeClr val="dk1"/>
                </a:solidFill>
                <a:latin typeface="Times"/>
                <a:ea typeface="Times"/>
                <a:cs typeface="Times"/>
                <a:sym typeface="Times"/>
              </a:rPr>
              <a:t>environment.</a:t>
            </a:r>
            <a:r>
              <a:rPr lang="en-US" sz="1800" b="0" i="0" u="none" strike="noStrike" cap="none" dirty="0">
                <a:solidFill>
                  <a:schemeClr val="dk1"/>
                </a:solidFill>
                <a:latin typeface="Times"/>
                <a:ea typeface="Times"/>
                <a:cs typeface="Times"/>
                <a:sym typeface="Times"/>
              </a:rPr>
              <a:t>  </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9"/>
          <p:cNvSpPr txBox="1"/>
          <p:nvPr/>
        </p:nvSpPr>
        <p:spPr>
          <a:xfrm>
            <a:off x="426607" y="1160418"/>
            <a:ext cx="8290786" cy="313928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 d) </a:t>
            </a:r>
            <a:r>
              <a:rPr lang="en-US" sz="1800" b="1" i="0" u="sng" strike="noStrike" cap="none" dirty="0">
                <a:solidFill>
                  <a:schemeClr val="dk1"/>
                </a:solidFill>
                <a:highlight>
                  <a:srgbClr val="FFFF00"/>
                </a:highlight>
                <a:latin typeface="Times"/>
                <a:ea typeface="Times"/>
                <a:cs typeface="Times"/>
                <a:sym typeface="Times"/>
              </a:rPr>
              <a:t>Security risks</a:t>
            </a:r>
            <a:r>
              <a:rPr lang="en-US" sz="1800" b="1" i="0" u="none" strike="noStrike" cap="none" dirty="0">
                <a:solidFill>
                  <a:schemeClr val="dk1"/>
                </a:solidFill>
                <a:highlight>
                  <a:srgbClr val="FFFF00"/>
                </a:highlight>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Using outdated software within an organization may lead you to at the verge of various software-based cyberattacks and could expose your confidential data illegally associated with the software that is in use. So, it becomes necessary to avoid such security breaches through regular assessment of the security patches/modules are used within the software. If the software isn’t robust enough to bear the current occurring Cyber attacks so it must be changed (updated).</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e) </a:t>
            </a:r>
            <a:r>
              <a:rPr lang="en-US" sz="1800" b="1" i="0" u="sng" strike="noStrike" cap="none" dirty="0">
                <a:solidFill>
                  <a:schemeClr val="dk1"/>
                </a:solidFill>
                <a:highlight>
                  <a:srgbClr val="FFFF00"/>
                </a:highlight>
                <a:latin typeface="Times"/>
                <a:ea typeface="Times"/>
                <a:cs typeface="Times"/>
                <a:sym typeface="Times"/>
              </a:rPr>
              <a:t>For having new functionality and features</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In order to increase the performance and fast data processing and other functionalities, an organization need to continuously evolute the software throughout its life cycle so that stakeholders &amp; clients of the product could work efficiently.</a:t>
            </a:r>
            <a:endParaRPr sz="1800" b="0" i="0" u="none" strike="noStrike" cap="none" dirty="0">
              <a:solidFill>
                <a:srgbClr val="000000"/>
              </a:solidFill>
              <a:latin typeface="Arial"/>
              <a:ea typeface="Arial"/>
              <a:cs typeface="Arial"/>
              <a:sym typeface="Arial"/>
            </a:endParaRPr>
          </a:p>
        </p:txBody>
      </p:sp>
      <p:sp>
        <p:nvSpPr>
          <p:cNvPr id="142" name="Google Shape;142;p9"/>
          <p:cNvSpPr txBox="1"/>
          <p:nvPr/>
        </p:nvSpPr>
        <p:spPr>
          <a:xfrm>
            <a:off x="22441" y="204816"/>
            <a:ext cx="6556603"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The necessity of Software Evolution </a:t>
            </a:r>
            <a:endParaRPr sz="3200" b="1" i="0" u="none" strike="noStrike" cap="none">
              <a:solidFill>
                <a:schemeClr val="dk1"/>
              </a:solidFill>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393762" y="812469"/>
            <a:ext cx="8356475" cy="477049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1800"/>
              <a:buFont typeface="Arial"/>
              <a:buChar char="•"/>
            </a:pPr>
            <a:br>
              <a:rPr lang="en-US" sz="1800" b="0" i="0" u="none" strike="noStrike" cap="none" dirty="0">
                <a:solidFill>
                  <a:schemeClr val="dk1"/>
                </a:solidFill>
                <a:latin typeface="Times New Roman"/>
                <a:ea typeface="Times New Roman"/>
                <a:cs typeface="Times New Roman"/>
                <a:sym typeface="Times New Roman"/>
              </a:rPr>
            </a:br>
            <a:endParaRPr sz="1800" b="0" i="0" u="none" strike="noStrike" cap="none"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Reliability:</a:t>
            </a:r>
            <a:r>
              <a:rPr lang="en-US" sz="1800" b="0" i="0" u="none" strike="noStrike" cap="none" dirty="0">
                <a:solidFill>
                  <a:schemeClr val="dk1"/>
                </a:solidFill>
                <a:latin typeface="Times New Roman"/>
                <a:ea typeface="Times New Roman"/>
                <a:cs typeface="Times New Roman"/>
                <a:sym typeface="Times New Roman"/>
              </a:rPr>
              <a:t> The capability to provide failure-free service.</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Functionality:</a:t>
            </a:r>
            <a:r>
              <a:rPr lang="en-US" sz="1800" b="0" i="0" u="none" strike="noStrike" cap="none" dirty="0">
                <a:solidFill>
                  <a:schemeClr val="dk1"/>
                </a:solidFill>
                <a:latin typeface="Times New Roman"/>
                <a:ea typeface="Times New Roman"/>
                <a:cs typeface="Times New Roman"/>
                <a:sym typeface="Times New Roman"/>
              </a:rPr>
              <a:t> The capability to provide functions that meet stated and implied needs when the software is used.</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Usability:</a:t>
            </a:r>
            <a:r>
              <a:rPr lang="en-US" sz="1800" b="0" i="0" u="none" strike="noStrike" cap="none" dirty="0">
                <a:solidFill>
                  <a:schemeClr val="dk1"/>
                </a:solidFill>
                <a:latin typeface="Times New Roman"/>
                <a:ea typeface="Times New Roman"/>
                <a:cs typeface="Times New Roman"/>
                <a:sym typeface="Times New Roman"/>
              </a:rPr>
              <a:t> The capability to be understood, learned, and used.</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Efficiency:</a:t>
            </a:r>
            <a:r>
              <a:rPr lang="en-US" sz="1800" b="0" i="0" u="none" strike="noStrike" cap="none" dirty="0">
                <a:solidFill>
                  <a:schemeClr val="dk1"/>
                </a:solidFill>
                <a:latin typeface="Times New Roman"/>
                <a:ea typeface="Times New Roman"/>
                <a:cs typeface="Times New Roman"/>
                <a:sym typeface="Times New Roman"/>
              </a:rPr>
              <a:t> The capability to provide appropriate performance relative to the number of resources used.</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Maintainability:</a:t>
            </a:r>
            <a:r>
              <a:rPr lang="en-US" sz="1800" b="0" i="0" u="none" strike="noStrike" cap="none" dirty="0">
                <a:solidFill>
                  <a:schemeClr val="dk1"/>
                </a:solidFill>
                <a:latin typeface="Times New Roman"/>
                <a:ea typeface="Times New Roman"/>
                <a:cs typeface="Times New Roman"/>
                <a:sym typeface="Times New Roman"/>
              </a:rPr>
              <a:t> the capability to be modified for purposes of making corrections, improvements, or adaptations.</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Portability:</a:t>
            </a:r>
            <a:r>
              <a:rPr lang="en-US" sz="1800" b="0" i="0" u="none" strike="noStrike" cap="none" dirty="0">
                <a:solidFill>
                  <a:schemeClr val="dk1"/>
                </a:solidFill>
                <a:latin typeface="Times New Roman"/>
                <a:ea typeface="Times New Roman"/>
                <a:cs typeface="Times New Roman"/>
                <a:sym typeface="Times New Roman"/>
              </a:rPr>
              <a:t> The capability to be adapted for different specified environments without applying actions or means other than those provided for this purpose in the product.</a:t>
            </a:r>
            <a:endParaRPr sz="1400" b="0" i="0" u="none" strike="noStrike" cap="none" dirty="0">
              <a:solidFill>
                <a:srgbClr val="000000"/>
              </a:solidFill>
              <a:latin typeface="Times New Roman"/>
              <a:ea typeface="Times New Roman"/>
              <a:cs typeface="Times New Roman"/>
              <a:sym typeface="Times New Roman"/>
            </a:endParaRPr>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48" name="Google Shape;148;p10"/>
          <p:cNvSpPr txBox="1"/>
          <p:nvPr/>
        </p:nvSpPr>
        <p:spPr>
          <a:xfrm>
            <a:off x="0" y="157293"/>
            <a:ext cx="5736773"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a:ea typeface="Times"/>
                <a:cs typeface="Times"/>
                <a:sym typeface="Times"/>
              </a:rPr>
              <a:t>Characteristics / Attributes of Software</a:t>
            </a:r>
            <a:endParaRPr sz="2400" b="0" i="0" u="none" strike="noStrike" cap="none">
              <a:solidFill>
                <a:srgbClr val="000000"/>
              </a:solidFill>
              <a:latin typeface="Times"/>
              <a:ea typeface="Times"/>
              <a:cs typeface="Times"/>
              <a:sym typeface="Time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grpSp>
        <p:nvGrpSpPr>
          <p:cNvPr id="153" name="Google Shape;153;p11"/>
          <p:cNvGrpSpPr/>
          <p:nvPr/>
        </p:nvGrpSpPr>
        <p:grpSpPr>
          <a:xfrm>
            <a:off x="1166648" y="1408387"/>
            <a:ext cx="6884276" cy="4030716"/>
            <a:chOff x="1166648" y="1408387"/>
            <a:chExt cx="6884276" cy="4030716"/>
          </a:xfrm>
        </p:grpSpPr>
        <p:grpSp>
          <p:nvGrpSpPr>
            <p:cNvPr id="154" name="Google Shape;154;p11"/>
            <p:cNvGrpSpPr/>
            <p:nvPr/>
          </p:nvGrpSpPr>
          <p:grpSpPr>
            <a:xfrm>
              <a:off x="1166648" y="1408387"/>
              <a:ext cx="6884276" cy="4030716"/>
              <a:chOff x="1166648" y="1408387"/>
              <a:chExt cx="6611008" cy="4030716"/>
            </a:xfrm>
          </p:grpSpPr>
          <p:sp>
            <p:nvSpPr>
              <p:cNvPr id="155" name="Google Shape;155;p11"/>
              <p:cNvSpPr/>
              <p:nvPr/>
            </p:nvSpPr>
            <p:spPr>
              <a:xfrm>
                <a:off x="3478925" y="1408387"/>
                <a:ext cx="1881351"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Application Software</a:t>
                </a:r>
                <a:endParaRPr sz="1400" b="0" i="0" u="none" strike="noStrike" cap="none">
                  <a:solidFill>
                    <a:schemeClr val="dk1"/>
                  </a:solidFill>
                  <a:latin typeface="Arial"/>
                  <a:ea typeface="Arial"/>
                  <a:cs typeface="Arial"/>
                  <a:sym typeface="Arial"/>
                </a:endParaRPr>
              </a:p>
            </p:txBody>
          </p:sp>
          <p:sp>
            <p:nvSpPr>
              <p:cNvPr id="156" name="Google Shape;156;p11"/>
              <p:cNvSpPr/>
              <p:nvPr/>
            </p:nvSpPr>
            <p:spPr>
              <a:xfrm>
                <a:off x="1166648" y="2475188"/>
                <a:ext cx="2653862"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Engineering and Scientific Software</a:t>
                </a:r>
                <a:endParaRPr sz="1400" b="0" i="0" u="none" strike="noStrike" cap="none">
                  <a:solidFill>
                    <a:schemeClr val="dk1"/>
                  </a:solidFill>
                  <a:latin typeface="Arial"/>
                  <a:ea typeface="Arial"/>
                  <a:cs typeface="Arial"/>
                  <a:sym typeface="Arial"/>
                </a:endParaRPr>
              </a:p>
            </p:txBody>
          </p:sp>
          <p:sp>
            <p:nvSpPr>
              <p:cNvPr id="157" name="Google Shape;157;p11"/>
              <p:cNvSpPr/>
              <p:nvPr/>
            </p:nvSpPr>
            <p:spPr>
              <a:xfrm>
                <a:off x="5323491" y="2459421"/>
                <a:ext cx="2454165"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System Software</a:t>
                </a:r>
                <a:endParaRPr sz="1400" b="0" i="0" u="none" strike="noStrike" cap="none">
                  <a:solidFill>
                    <a:schemeClr val="dk1"/>
                  </a:solidFill>
                  <a:latin typeface="Arial"/>
                  <a:ea typeface="Arial"/>
                  <a:cs typeface="Arial"/>
                  <a:sym typeface="Arial"/>
                </a:endParaRPr>
              </a:p>
            </p:txBody>
          </p:sp>
          <p:sp>
            <p:nvSpPr>
              <p:cNvPr id="158" name="Google Shape;158;p11"/>
              <p:cNvSpPr/>
              <p:nvPr/>
            </p:nvSpPr>
            <p:spPr>
              <a:xfrm>
                <a:off x="1939159" y="3605047"/>
                <a:ext cx="1881351"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Embedded Software</a:t>
                </a:r>
                <a:endParaRPr sz="1400" b="0" i="0" u="none" strike="noStrike" cap="none">
                  <a:solidFill>
                    <a:schemeClr val="dk1"/>
                  </a:solidFill>
                  <a:latin typeface="Arial"/>
                  <a:ea typeface="Arial"/>
                  <a:cs typeface="Arial"/>
                  <a:sym typeface="Arial"/>
                </a:endParaRPr>
              </a:p>
            </p:txBody>
          </p:sp>
          <p:sp>
            <p:nvSpPr>
              <p:cNvPr id="159" name="Google Shape;159;p11"/>
              <p:cNvSpPr/>
              <p:nvPr/>
            </p:nvSpPr>
            <p:spPr>
              <a:xfrm>
                <a:off x="4787463" y="3620813"/>
                <a:ext cx="1881351"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Product-line Software</a:t>
                </a:r>
                <a:endParaRPr sz="1400" b="0" i="0" u="none" strike="noStrike" cap="none">
                  <a:solidFill>
                    <a:schemeClr val="dk1"/>
                  </a:solidFill>
                  <a:latin typeface="Arial"/>
                  <a:ea typeface="Arial"/>
                  <a:cs typeface="Arial"/>
                  <a:sym typeface="Arial"/>
                </a:endParaRPr>
              </a:p>
            </p:txBody>
          </p:sp>
          <p:sp>
            <p:nvSpPr>
              <p:cNvPr id="160" name="Google Shape;160;p11"/>
              <p:cNvSpPr/>
              <p:nvPr/>
            </p:nvSpPr>
            <p:spPr>
              <a:xfrm>
                <a:off x="1387366" y="4776951"/>
                <a:ext cx="2580289"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Web Application Software </a:t>
                </a:r>
                <a:endParaRPr sz="1400" b="0" i="0" u="none" strike="noStrike" cap="none">
                  <a:solidFill>
                    <a:schemeClr val="dk1"/>
                  </a:solidFill>
                  <a:latin typeface="Arial"/>
                  <a:ea typeface="Arial"/>
                  <a:cs typeface="Arial"/>
                  <a:sym typeface="Arial"/>
                </a:endParaRPr>
              </a:p>
            </p:txBody>
          </p:sp>
        </p:grpSp>
        <p:sp>
          <p:nvSpPr>
            <p:cNvPr id="161" name="Google Shape;161;p11"/>
            <p:cNvSpPr/>
            <p:nvPr/>
          </p:nvSpPr>
          <p:spPr>
            <a:xfrm>
              <a:off x="5176345" y="4776951"/>
              <a:ext cx="2874579"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Artificial Intelligence Software</a:t>
              </a:r>
              <a:endParaRPr sz="1400" b="0" i="0" u="none" strike="noStrike" cap="none">
                <a:solidFill>
                  <a:schemeClr val="dk1"/>
                </a:solidFill>
                <a:latin typeface="Arial"/>
                <a:ea typeface="Arial"/>
                <a:cs typeface="Arial"/>
                <a:sym typeface="Arial"/>
              </a:endParaRPr>
            </a:p>
          </p:txBody>
        </p:sp>
      </p:grpSp>
      <p:sp>
        <p:nvSpPr>
          <p:cNvPr id="162" name="Google Shape;162;p11"/>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Changing Nature of Software</a:t>
            </a:r>
            <a:endParaRPr sz="3600" b="0" i="0" u="none" strike="noStrike" cap="none">
              <a:solidFill>
                <a:schemeClr val="dk1"/>
              </a:solidFill>
              <a:latin typeface="Times"/>
              <a:ea typeface="Times"/>
              <a:cs typeface="Times"/>
              <a:sym typeface="Times"/>
            </a:endParaRPr>
          </a:p>
        </p:txBody>
      </p:sp>
      <p:sp>
        <p:nvSpPr>
          <p:cNvPr id="163" name="Google Shape;163;p11"/>
          <p:cNvSpPr txBox="1"/>
          <p:nvPr/>
        </p:nvSpPr>
        <p:spPr>
          <a:xfrm>
            <a:off x="3190603" y="6043449"/>
            <a:ext cx="35044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Figure 2 : Changing Nature of Software</a:t>
            </a:r>
            <a:endParaRPr sz="14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2"/>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Changing Nature of Software</a:t>
            </a:r>
            <a:endParaRPr sz="3600" b="0" i="0" u="none" strike="noStrike" cap="none">
              <a:solidFill>
                <a:schemeClr val="dk1"/>
              </a:solidFill>
              <a:latin typeface="Times"/>
              <a:ea typeface="Times"/>
              <a:cs typeface="Times"/>
              <a:sym typeface="Times"/>
            </a:endParaRPr>
          </a:p>
        </p:txBody>
      </p:sp>
      <p:sp>
        <p:nvSpPr>
          <p:cNvPr id="169" name="Google Shape;169;p12"/>
          <p:cNvSpPr txBox="1"/>
          <p:nvPr/>
        </p:nvSpPr>
        <p:spPr>
          <a:xfrm>
            <a:off x="147145" y="791987"/>
            <a:ext cx="8395140" cy="477053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1600" b="1"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Application Software: </a:t>
            </a:r>
            <a:r>
              <a:rPr lang="en-US" sz="1600" b="0" i="0" u="none" strike="noStrike" cap="none">
                <a:solidFill>
                  <a:schemeClr val="dk1"/>
                </a:solidFill>
                <a:latin typeface="Times New Roman"/>
                <a:ea typeface="Times New Roman"/>
                <a:cs typeface="Times New Roman"/>
                <a:sym typeface="Times New Roman"/>
              </a:rPr>
              <a:t>Application software is defined as programs that solve a specific business need. Application in this area process business or technical data in a way that facilitates business operation or management technical decision making. In addition to convention data processing application, application software is used to control business function in real time.</a:t>
            </a:r>
            <a:endParaRPr sz="1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Engineering and Scientific Software: </a:t>
            </a:r>
            <a:r>
              <a:rPr lang="en-US" sz="1600" b="0" i="0" u="none" strike="noStrike" cap="none">
                <a:solidFill>
                  <a:schemeClr val="dk1"/>
                </a:solidFill>
                <a:latin typeface="Times New Roman"/>
                <a:ea typeface="Times New Roman"/>
                <a:cs typeface="Times New Roman"/>
                <a:sym typeface="Times New Roman"/>
              </a:rPr>
              <a:t>This software is used to facilitate the engineering function and task. however modern application within the engineering and scientific area are moving away from the conventional numerical algorithms. Computer-aided design, system simulation, and other interactive applications have begun to take a real-time and even system software characteristic. </a:t>
            </a:r>
            <a:endParaRPr sz="1400" b="0" i="0" u="none" strike="noStrike" cap="none">
              <a:solidFill>
                <a:srgbClr val="000000"/>
              </a:solidFill>
              <a:latin typeface="Times New Roman"/>
              <a:ea typeface="Times New Roman"/>
              <a:cs typeface="Times New Roman"/>
              <a:sym typeface="Times New Roman"/>
            </a:endParaRPr>
          </a:p>
          <a:p>
            <a:pPr marL="285750" marR="0" lvl="0" indent="-18415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System Software: </a:t>
            </a:r>
            <a:r>
              <a:rPr lang="en-US" sz="1600" b="0" i="0" u="none" strike="noStrike" cap="none">
                <a:solidFill>
                  <a:schemeClr val="dk1"/>
                </a:solidFill>
                <a:latin typeface="Times New Roman"/>
                <a:ea typeface="Times New Roman"/>
                <a:cs typeface="Times New Roman"/>
                <a:sym typeface="Times New Roman"/>
              </a:rPr>
              <a:t>System software is a collection of programs which are written to service other programs. Some system software processes complex but determinate, information structures. Other system application process largely indeterminate data. Sometimes when, the system software area is characterized by the heavy interaction with computer hardware that requires scheduling, resource sharing, and sophisticated process management.</a:t>
            </a:r>
            <a:endParaRPr sz="1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3"/>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Changing Nature of Software</a:t>
            </a:r>
            <a:endParaRPr sz="3600" b="0" i="0" u="none" strike="noStrike" cap="none">
              <a:solidFill>
                <a:schemeClr val="dk1"/>
              </a:solidFill>
              <a:latin typeface="Times"/>
              <a:ea typeface="Times"/>
              <a:cs typeface="Times"/>
              <a:sym typeface="Times"/>
            </a:endParaRPr>
          </a:p>
        </p:txBody>
      </p:sp>
      <p:sp>
        <p:nvSpPr>
          <p:cNvPr id="175" name="Google Shape;175;p13"/>
          <p:cNvSpPr txBox="1"/>
          <p:nvPr/>
        </p:nvSpPr>
        <p:spPr>
          <a:xfrm>
            <a:off x="251874" y="1148904"/>
            <a:ext cx="8466082" cy="492438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Embedded Software: </a:t>
            </a:r>
            <a:r>
              <a:rPr lang="en-US" sz="1600" b="0" i="0" u="none" strike="noStrike" cap="none">
                <a:solidFill>
                  <a:schemeClr val="dk1"/>
                </a:solidFill>
                <a:latin typeface="Times"/>
                <a:ea typeface="Times"/>
                <a:cs typeface="Times"/>
                <a:sym typeface="Times"/>
              </a:rPr>
              <a:t>Embedded software resides within the system or product and is used to implement and control feature and function for the end-user and for the system itself. Embedded software can perform the limited and esoteric function or provided significant function and control capability.</a:t>
            </a:r>
            <a:endParaRPr/>
          </a:p>
          <a:p>
            <a:pPr marL="0" marR="0" lvl="0" indent="0" algn="just"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Product-line Software: </a:t>
            </a:r>
            <a:r>
              <a:rPr lang="en-US" sz="1600" b="0" i="0" u="none" strike="noStrike" cap="none">
                <a:solidFill>
                  <a:schemeClr val="dk1"/>
                </a:solidFill>
                <a:latin typeface="Times"/>
                <a:ea typeface="Times"/>
                <a:cs typeface="Times"/>
                <a:sym typeface="Times"/>
              </a:rPr>
              <a:t>Designed to provide a specific capability for use by many different customers, product line software can focus on the limited and esoteric marketplace or address the mass consumer market.</a:t>
            </a:r>
            <a:endParaRPr/>
          </a:p>
          <a:p>
            <a:pPr marL="0" marR="0" lvl="0" indent="0" algn="just"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Web Application: </a:t>
            </a:r>
            <a:r>
              <a:rPr lang="en-US" sz="1600" b="0" i="0" u="none" strike="noStrike" cap="none">
                <a:solidFill>
                  <a:schemeClr val="dk1"/>
                </a:solidFill>
                <a:latin typeface="Times"/>
                <a:ea typeface="Times"/>
                <a:cs typeface="Times"/>
                <a:sym typeface="Times"/>
              </a:rPr>
              <a:t>It is a client-server computer program which the client runs on the web browser. In their simplest form, Web apps can be little more than a set of linked hypertext files that present information using text and limited graphics. However, as e-commerce and B2B application grow in importance. Web apps are evolving into a sophisticate computing environment that not only provides a standalone feature, computing function, and content to the end user.</a:t>
            </a:r>
            <a:endParaRPr/>
          </a:p>
          <a:p>
            <a:pPr marL="0" marR="0" lvl="0" indent="0" algn="just"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Artificial Intelligence Software: </a:t>
            </a:r>
            <a:r>
              <a:rPr lang="en-US" sz="1600" b="0" i="0" u="none" strike="noStrike" cap="none">
                <a:solidFill>
                  <a:schemeClr val="dk1"/>
                </a:solidFill>
                <a:latin typeface="Times"/>
                <a:ea typeface="Times"/>
                <a:cs typeface="Times"/>
                <a:sym typeface="Times"/>
              </a:rPr>
              <a:t>Artificial intelligence software makes use of a nonnumerical algorithm to solve a complex problem that is not amenable to computation or straightforward analysis. Application within this area includes robotics, expert system, pattern recognition, artificial neural network, theorem proving and game playing.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4"/>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Classification of the Software</a:t>
            </a:r>
            <a:endParaRPr sz="3600" b="0" i="0" u="none" strike="noStrike" cap="none">
              <a:solidFill>
                <a:schemeClr val="dk1"/>
              </a:solidFill>
              <a:latin typeface="Times"/>
              <a:ea typeface="Times"/>
              <a:cs typeface="Times"/>
              <a:sym typeface="Times"/>
            </a:endParaRPr>
          </a:p>
        </p:txBody>
      </p:sp>
      <p:sp>
        <p:nvSpPr>
          <p:cNvPr id="181" name="Google Shape;181;p14"/>
          <p:cNvSpPr txBox="1"/>
          <p:nvPr/>
        </p:nvSpPr>
        <p:spPr>
          <a:xfrm>
            <a:off x="147145" y="905645"/>
            <a:ext cx="8466083" cy="6463267"/>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50000"/>
              </a:lnSpc>
              <a:spcBef>
                <a:spcPts val="0"/>
              </a:spcBef>
              <a:spcAft>
                <a:spcPts val="0"/>
              </a:spcAft>
              <a:buClr>
                <a:srgbClr val="000000"/>
              </a:buClr>
              <a:buSzPts val="20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Purpose:</a:t>
            </a:r>
            <a:r>
              <a:rPr lang="en-US" sz="1800" b="0" i="0" u="none" strike="noStrike" cap="none">
                <a:solidFill>
                  <a:schemeClr val="dk1"/>
                </a:solidFill>
                <a:latin typeface="Times New Roman"/>
                <a:ea typeface="Times New Roman"/>
                <a:cs typeface="Times New Roman"/>
                <a:sym typeface="Times New Roman"/>
              </a:rPr>
              <a:t> Software can be classified as system software (e.g., operating systems, device drivers) or application software (e.g., word processors, games).</a:t>
            </a:r>
            <a:endParaRPr/>
          </a:p>
          <a:p>
            <a:pPr marL="457200" marR="0" lvl="0" indent="-457200" algn="just" rtl="0">
              <a:lnSpc>
                <a:spcPct val="150000"/>
              </a:lnSpc>
              <a:spcBef>
                <a:spcPts val="0"/>
              </a:spcBef>
              <a:spcAft>
                <a:spcPts val="0"/>
              </a:spcAft>
              <a:buClr>
                <a:srgbClr val="000000"/>
              </a:buClr>
              <a:buSzPts val="20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Platform:</a:t>
            </a:r>
            <a:r>
              <a:rPr lang="en-US" sz="1800" b="0" i="0" u="none" strike="noStrike" cap="none">
                <a:solidFill>
                  <a:schemeClr val="dk1"/>
                </a:solidFill>
                <a:latin typeface="Times New Roman"/>
                <a:ea typeface="Times New Roman"/>
                <a:cs typeface="Times New Roman"/>
                <a:sym typeface="Times New Roman"/>
              </a:rPr>
              <a:t> Software can be classified as native software (designed for a specific operating system) or cross-platform software (designed to run on multiple operating systems).</a:t>
            </a:r>
            <a:endParaRPr sz="1800" b="0" i="0" u="none" strike="noStrike" cap="none">
              <a:solidFill>
                <a:srgbClr val="000000"/>
              </a:solidFill>
              <a:latin typeface="Times New Roman"/>
              <a:ea typeface="Times New Roman"/>
              <a:cs typeface="Times New Roman"/>
              <a:sym typeface="Times New Roman"/>
            </a:endParaRPr>
          </a:p>
          <a:p>
            <a:pPr marL="457200" marR="0" lvl="0" indent="-457200" algn="just" rtl="0">
              <a:lnSpc>
                <a:spcPct val="150000"/>
              </a:lnSpc>
              <a:spcBef>
                <a:spcPts val="0"/>
              </a:spcBef>
              <a:spcAft>
                <a:spcPts val="0"/>
              </a:spcAft>
              <a:buClr>
                <a:srgbClr val="000000"/>
              </a:buClr>
              <a:buSzPts val="20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Deployment:</a:t>
            </a:r>
            <a:r>
              <a:rPr lang="en-US" sz="1800" b="0" i="0" u="none" strike="noStrike" cap="none">
                <a:solidFill>
                  <a:schemeClr val="dk1"/>
                </a:solidFill>
                <a:latin typeface="Times New Roman"/>
                <a:ea typeface="Times New Roman"/>
                <a:cs typeface="Times New Roman"/>
                <a:sym typeface="Times New Roman"/>
              </a:rPr>
              <a:t> Software can be classified as installed software (installed on the user’s device) or cloud-based software (hosted on remote servers and accessed via the internet).</a:t>
            </a:r>
            <a:endParaRPr sz="1800" b="0" i="0" u="none" strike="noStrike" cap="none">
              <a:solidFill>
                <a:srgbClr val="000000"/>
              </a:solidFill>
              <a:latin typeface="Times New Roman"/>
              <a:ea typeface="Times New Roman"/>
              <a:cs typeface="Times New Roman"/>
              <a:sym typeface="Times New Roman"/>
            </a:endParaRPr>
          </a:p>
          <a:p>
            <a:pPr marL="457200" marR="0" lvl="0" indent="-457200" algn="just" rtl="0">
              <a:lnSpc>
                <a:spcPct val="150000"/>
              </a:lnSpc>
              <a:spcBef>
                <a:spcPts val="0"/>
              </a:spcBef>
              <a:spcAft>
                <a:spcPts val="0"/>
              </a:spcAft>
              <a:buClr>
                <a:srgbClr val="000000"/>
              </a:buClr>
              <a:buSzPts val="20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License:</a:t>
            </a:r>
            <a:r>
              <a:rPr lang="en-US" sz="1800" b="0" i="0" u="none" strike="noStrike" cap="none">
                <a:solidFill>
                  <a:schemeClr val="dk1"/>
                </a:solidFill>
                <a:latin typeface="Times New Roman"/>
                <a:ea typeface="Times New Roman"/>
                <a:cs typeface="Times New Roman"/>
                <a:sym typeface="Times New Roman"/>
              </a:rPr>
              <a:t> Software can be classified as proprietary software (owned by a single entity) or open-source software (available for free with the source code accessible to the public).</a:t>
            </a:r>
            <a:endParaRPr/>
          </a:p>
          <a:p>
            <a:pPr marL="457200" marR="0" lvl="0" indent="-457200" algn="just" rtl="0">
              <a:lnSpc>
                <a:spcPct val="150000"/>
              </a:lnSpc>
              <a:spcBef>
                <a:spcPts val="0"/>
              </a:spcBef>
              <a:spcAft>
                <a:spcPts val="0"/>
              </a:spcAft>
              <a:buClr>
                <a:srgbClr val="000000"/>
              </a:buClr>
              <a:buSzPts val="20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Development Model: </a:t>
            </a:r>
            <a:r>
              <a:rPr lang="en-US" sz="1800" b="0" i="0" u="none" strike="noStrike" cap="none">
                <a:solidFill>
                  <a:schemeClr val="dk1"/>
                </a:solidFill>
                <a:latin typeface="Times New Roman"/>
                <a:ea typeface="Times New Roman"/>
                <a:cs typeface="Times New Roman"/>
                <a:sym typeface="Times New Roman"/>
              </a:rPr>
              <a:t>Software can be classified as traditional software (developed using a waterfall model) or agile software (developed using an iterative and adaptive approach).</a:t>
            </a:r>
            <a:endParaRPr sz="18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5"/>
          <p:cNvSpPr txBox="1"/>
          <p:nvPr/>
        </p:nvSpPr>
        <p:spPr>
          <a:xfrm>
            <a:off x="468085" y="1108524"/>
            <a:ext cx="8207830" cy="175428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0" i="0" u="none" strike="noStrike" cap="none">
                <a:solidFill>
                  <a:schemeClr val="dk1"/>
                </a:solidFill>
                <a:latin typeface="Times"/>
                <a:ea typeface="Times"/>
                <a:cs typeface="Times"/>
                <a:sym typeface="Times"/>
              </a:rPr>
              <a:t>6. </a:t>
            </a:r>
            <a:r>
              <a:rPr lang="en-US" sz="1800" b="1" i="0" u="none" strike="noStrike" cap="none">
                <a:solidFill>
                  <a:schemeClr val="dk1"/>
                </a:solidFill>
                <a:latin typeface="Times"/>
                <a:ea typeface="Times"/>
                <a:cs typeface="Times"/>
                <a:sym typeface="Times"/>
              </a:rPr>
              <a:t>Size:</a:t>
            </a:r>
            <a:r>
              <a:rPr lang="en-US" sz="1800" b="0" i="0" u="none" strike="noStrike" cap="none">
                <a:solidFill>
                  <a:schemeClr val="dk1"/>
                </a:solidFill>
                <a:latin typeface="Times"/>
                <a:ea typeface="Times"/>
                <a:cs typeface="Times"/>
                <a:sym typeface="Times"/>
              </a:rPr>
              <a:t> Software can be classified as small-scale software (designed for a single user or small group) or enterprise software (designed for large organizations).</a:t>
            </a:r>
            <a:endParaRPr sz="18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None/>
            </a:pPr>
            <a:r>
              <a:rPr lang="en-US" sz="1800" b="1" i="0" u="none" strike="noStrike" cap="none">
                <a:solidFill>
                  <a:schemeClr val="dk1"/>
                </a:solidFill>
                <a:latin typeface="Times"/>
                <a:ea typeface="Times"/>
                <a:cs typeface="Times"/>
                <a:sym typeface="Times"/>
              </a:rPr>
              <a:t>7. User Interface:</a:t>
            </a:r>
            <a:r>
              <a:rPr lang="en-US" sz="1800" b="0" i="0" u="none" strike="noStrike" cap="none">
                <a:solidFill>
                  <a:schemeClr val="dk1"/>
                </a:solidFill>
                <a:latin typeface="Times"/>
                <a:ea typeface="Times"/>
                <a:cs typeface="Times"/>
                <a:sym typeface="Times"/>
              </a:rPr>
              <a:t> Software can be </a:t>
            </a:r>
            <a:r>
              <a:rPr lang="en-US" sz="1800" b="0" i="0" u="none" strike="noStrike" cap="none">
                <a:solidFill>
                  <a:schemeClr val="dk1"/>
                </a:solidFill>
                <a:latin typeface="Times New Roman"/>
                <a:ea typeface="Times New Roman"/>
                <a:cs typeface="Times New Roman"/>
                <a:sym typeface="Times New Roman"/>
              </a:rPr>
              <a:t>classified</a:t>
            </a:r>
            <a:r>
              <a:rPr lang="en-US" sz="1800" b="0" i="0" u="none" strike="noStrike" cap="none">
                <a:solidFill>
                  <a:schemeClr val="dk1"/>
                </a:solidFill>
                <a:latin typeface="Times"/>
                <a:ea typeface="Times"/>
                <a:cs typeface="Times"/>
                <a:sym typeface="Times"/>
              </a:rPr>
              <a:t> as Graphical User Interface (GUI) software or Command-Line Interface (CLI) software.</a:t>
            </a:r>
            <a:endParaRPr sz="1800" b="0" i="0" u="none" strike="noStrike" cap="none">
              <a:solidFill>
                <a:srgbClr val="000000"/>
              </a:solidFill>
              <a:latin typeface="Arial"/>
              <a:ea typeface="Arial"/>
              <a:cs typeface="Arial"/>
              <a:sym typeface="Arial"/>
            </a:endParaRPr>
          </a:p>
        </p:txBody>
      </p:sp>
      <p:sp>
        <p:nvSpPr>
          <p:cNvPr id="187" name="Google Shape;187;p15"/>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Classification of the Software</a:t>
            </a:r>
            <a:endParaRPr sz="3600" b="0" i="0" u="none" strike="noStrike" cap="none">
              <a:solidFill>
                <a:schemeClr val="dk1"/>
              </a:solidFill>
              <a:latin typeface="Times"/>
              <a:ea typeface="Times"/>
              <a:cs typeface="Times"/>
              <a:sym typeface="Time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p:nvPr/>
        </p:nvSpPr>
        <p:spPr>
          <a:xfrm>
            <a:off x="312682" y="1074509"/>
            <a:ext cx="8518635" cy="507827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Software engineering includes a variety of techniques, tools, and methodologies, including requirements analysis, design, testing, and maintenance.</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It is a rapidly evolving field, and new tools and technologies are constantly being developed to improve the software development process.</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By following the principles of software engineering and using the appropriate tools and methodologies, software developers can create high-quality, reliable, and maintainable software that meets the needs of its users.</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Software Engineering is mainly used for large projects based on software systems rather than single programs or applications.</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The main goal of Software Engineering is to develop software applications for improving quality,  budget, and time efficiency.</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Software Engineering ensures that the software that has to be built should be consistent, correct, also on budget, on time, and within the required requirements.</a:t>
            </a:r>
            <a:endParaRPr sz="1800" b="0" i="0" u="none" strike="noStrike" cap="none">
              <a:solidFill>
                <a:srgbClr val="000000"/>
              </a:solidFill>
              <a:latin typeface="Arial"/>
              <a:ea typeface="Arial"/>
              <a:cs typeface="Arial"/>
              <a:sym typeface="Arial"/>
            </a:endParaRPr>
          </a:p>
        </p:txBody>
      </p:sp>
      <p:sp>
        <p:nvSpPr>
          <p:cNvPr id="193" name="Google Shape;193;p16"/>
          <p:cNvSpPr txBox="1"/>
          <p:nvPr/>
        </p:nvSpPr>
        <p:spPr>
          <a:xfrm>
            <a:off x="120869" y="103614"/>
            <a:ext cx="6374524"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What is Software Engineering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7"/>
          <p:cNvSpPr txBox="1"/>
          <p:nvPr/>
        </p:nvSpPr>
        <p:spPr>
          <a:xfrm>
            <a:off x="435429" y="1188682"/>
            <a:ext cx="8169166" cy="455505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dirty="0">
                <a:solidFill>
                  <a:schemeClr val="dk1"/>
                </a:solidFill>
                <a:latin typeface="Times"/>
                <a:ea typeface="Times"/>
                <a:cs typeface="Times"/>
                <a:sym typeface="Times"/>
              </a:rPr>
              <a:t>Modularity</a:t>
            </a:r>
            <a:r>
              <a:rPr lang="en-US" sz="2000" b="0" i="0" u="none" strike="noStrike" cap="none" dirty="0">
                <a:solidFill>
                  <a:schemeClr val="dk1"/>
                </a:solidFill>
                <a:latin typeface="Times"/>
                <a:ea typeface="Times"/>
                <a:cs typeface="Times"/>
                <a:sym typeface="Times"/>
              </a:rPr>
              <a:t>: Breaking the software into smaller, reusable components that can be developed and tested independently.</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pPr>
            <a:r>
              <a:rPr lang="en-US" sz="2000" dirty="0">
                <a:solidFill>
                  <a:schemeClr val="dk1"/>
                </a:solidFill>
                <a:latin typeface="Times"/>
                <a:ea typeface="Times"/>
                <a:cs typeface="Times"/>
                <a:sym typeface="Times"/>
              </a:rPr>
              <a:t>2.</a:t>
            </a:r>
            <a:r>
              <a:rPr lang="en-US" sz="2000" b="1" i="0" u="none" strike="noStrike" cap="none" dirty="0">
                <a:solidFill>
                  <a:schemeClr val="dk1"/>
                </a:solidFill>
                <a:latin typeface="Times"/>
                <a:ea typeface="Times"/>
                <a:cs typeface="Times"/>
                <a:sym typeface="Times"/>
              </a:rPr>
              <a:t>Abstraction</a:t>
            </a:r>
            <a:r>
              <a:rPr lang="en-US" sz="2000" b="0" i="0" u="none" strike="noStrike" cap="none" dirty="0">
                <a:solidFill>
                  <a:schemeClr val="dk1"/>
                </a:solidFill>
                <a:latin typeface="Times"/>
                <a:ea typeface="Times"/>
                <a:cs typeface="Times"/>
                <a:sym typeface="Times"/>
              </a:rPr>
              <a:t>: Hiding the implementation details of a component and exposing only the necessary functionality to other parts of the software.</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pPr>
            <a:r>
              <a:rPr lang="en-US" sz="2000" dirty="0">
                <a:solidFill>
                  <a:schemeClr val="dk1"/>
                </a:solidFill>
                <a:latin typeface="Times"/>
                <a:ea typeface="Times"/>
                <a:cs typeface="Times"/>
                <a:sym typeface="Times"/>
              </a:rPr>
              <a:t>3.</a:t>
            </a:r>
            <a:r>
              <a:rPr lang="en-US" sz="2000" b="1" i="0" u="none" strike="noStrike" cap="none" dirty="0">
                <a:solidFill>
                  <a:schemeClr val="dk1"/>
                </a:solidFill>
                <a:latin typeface="Times"/>
                <a:ea typeface="Times"/>
                <a:cs typeface="Times"/>
                <a:sym typeface="Times"/>
              </a:rPr>
              <a:t>Encapsulation</a:t>
            </a:r>
            <a:r>
              <a:rPr lang="en-US" sz="2000" b="0" i="0" u="none" strike="noStrike" cap="none" dirty="0">
                <a:solidFill>
                  <a:schemeClr val="dk1"/>
                </a:solidFill>
                <a:latin typeface="Times"/>
                <a:ea typeface="Times"/>
                <a:cs typeface="Times"/>
                <a:sym typeface="Times"/>
              </a:rPr>
              <a:t>: Wrapping up the data and functions of an object into a single unit and protecting the internal state of an object from external modifications.</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pPr>
            <a:r>
              <a:rPr lang="en-US" sz="2000" dirty="0">
                <a:solidFill>
                  <a:schemeClr val="dk1"/>
                </a:solidFill>
                <a:latin typeface="Times"/>
                <a:ea typeface="Times"/>
                <a:cs typeface="Times"/>
                <a:sym typeface="Times"/>
              </a:rPr>
              <a:t>4.</a:t>
            </a:r>
            <a:r>
              <a:rPr lang="en-US" sz="2000" b="1" i="0" u="none" strike="noStrike" cap="none" dirty="0">
                <a:solidFill>
                  <a:schemeClr val="dk1"/>
                </a:solidFill>
                <a:latin typeface="Times"/>
                <a:ea typeface="Times"/>
                <a:cs typeface="Times"/>
                <a:sym typeface="Times"/>
              </a:rPr>
              <a:t>Reusability</a:t>
            </a:r>
            <a:r>
              <a:rPr lang="en-US" sz="2000" b="0" i="0" u="none" strike="noStrike" cap="none" dirty="0">
                <a:solidFill>
                  <a:schemeClr val="dk1"/>
                </a:solidFill>
                <a:latin typeface="Times"/>
                <a:ea typeface="Times"/>
                <a:cs typeface="Times"/>
                <a:sym typeface="Times"/>
              </a:rPr>
              <a:t>: Creating components that can be used in multiple projects, which can save time and resources.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a:ea typeface="Times"/>
              <a:cs typeface="Times"/>
              <a:sym typeface="Times"/>
            </a:endParaRPr>
          </a:p>
        </p:txBody>
      </p:sp>
      <p:sp>
        <p:nvSpPr>
          <p:cNvPr id="199" name="Google Shape;199;p17"/>
          <p:cNvSpPr txBox="1"/>
          <p:nvPr/>
        </p:nvSpPr>
        <p:spPr>
          <a:xfrm>
            <a:off x="77326" y="158042"/>
            <a:ext cx="637452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a:ea typeface="Times"/>
                <a:cs typeface="Times"/>
                <a:sym typeface="Times"/>
              </a:rPr>
              <a:t>Key Principles of Software Engineering</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8"/>
          <p:cNvSpPr txBox="1"/>
          <p:nvPr/>
        </p:nvSpPr>
        <p:spPr>
          <a:xfrm>
            <a:off x="289034" y="1074529"/>
            <a:ext cx="8310680" cy="3831778"/>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Maintenance</a:t>
            </a:r>
            <a:r>
              <a:rPr lang="en-US" sz="1800" b="0" i="0" u="none" strike="noStrike" cap="none" dirty="0">
                <a:solidFill>
                  <a:schemeClr val="dk1"/>
                </a:solidFill>
                <a:latin typeface="Times"/>
                <a:ea typeface="Times"/>
                <a:cs typeface="Times"/>
                <a:sym typeface="Times"/>
              </a:rPr>
              <a:t>: Regularly updating and improving the software to fix bugs, add new features, and address security vulnerabilities.</a:t>
            </a:r>
            <a:endParaRPr lang="en-US" sz="1800" dirty="0">
              <a:ea typeface="Times"/>
            </a:endParaRPr>
          </a:p>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Testing</a:t>
            </a:r>
            <a:r>
              <a:rPr lang="en-US" sz="1800" b="0" i="0" u="none" strike="noStrike" cap="none" dirty="0">
                <a:solidFill>
                  <a:schemeClr val="dk1"/>
                </a:solidFill>
                <a:latin typeface="Times"/>
                <a:ea typeface="Times"/>
                <a:cs typeface="Times"/>
                <a:sym typeface="Times"/>
              </a:rPr>
              <a:t>: Verifying that the software meets its requirements and is free of bugs.</a:t>
            </a:r>
            <a:endParaRPr lang="en-US" sz="1800" dirty="0">
              <a:ea typeface="Times"/>
            </a:endParaRPr>
          </a:p>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Design Patterns</a:t>
            </a:r>
            <a:r>
              <a:rPr lang="en-US" sz="1800" b="0" i="0" u="none" strike="noStrike" cap="none" dirty="0">
                <a:solidFill>
                  <a:schemeClr val="dk1"/>
                </a:solidFill>
                <a:latin typeface="Times"/>
                <a:ea typeface="Times"/>
                <a:cs typeface="Times"/>
                <a:sym typeface="Times"/>
              </a:rPr>
              <a:t>: Solving recurring problems in software design by providing templates for solving them.</a:t>
            </a:r>
            <a:endParaRPr lang="en-US" sz="1800" dirty="0">
              <a:ea typeface="Times"/>
            </a:endParaRPr>
          </a:p>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Agile methodologies: </a:t>
            </a:r>
            <a:r>
              <a:rPr lang="en-US" sz="1800" b="0" i="0" u="none" strike="noStrike" cap="none" dirty="0">
                <a:solidFill>
                  <a:schemeClr val="dk1"/>
                </a:solidFill>
                <a:latin typeface="Times"/>
                <a:ea typeface="Times"/>
                <a:cs typeface="Times"/>
                <a:sym typeface="Times"/>
              </a:rPr>
              <a:t>Using iterative and incremental development processes that focus on customer satisfaction, rapid delivery, and flexibility.</a:t>
            </a:r>
            <a:endParaRPr lang="en-US" sz="1800" dirty="0">
              <a:ea typeface="Times"/>
            </a:endParaRPr>
          </a:p>
          <a:p>
            <a:pPr marL="457200" marR="0" lvl="0" indent="-457200" algn="just" rtl="0">
              <a:lnSpc>
                <a:spcPct val="15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Continuous Integration &amp; Deployment:</a:t>
            </a:r>
            <a:r>
              <a:rPr lang="en-US" sz="1800" b="0" i="0" u="none" strike="noStrike" cap="none" dirty="0">
                <a:solidFill>
                  <a:schemeClr val="dk1"/>
                </a:solidFill>
                <a:latin typeface="Times"/>
                <a:ea typeface="Times"/>
                <a:cs typeface="Times"/>
                <a:sym typeface="Times"/>
              </a:rPr>
              <a:t> Continuously integrating the code changes and deploying them into the production environment</a:t>
            </a:r>
            <a:endParaRPr sz="1800" b="0" i="0" u="none" strike="noStrike" cap="none" dirty="0">
              <a:solidFill>
                <a:srgbClr val="000000"/>
              </a:solidFill>
              <a:latin typeface="Times"/>
              <a:ea typeface="Times"/>
              <a:cs typeface="Times"/>
              <a:sym typeface="Times"/>
            </a:endParaRPr>
          </a:p>
        </p:txBody>
      </p:sp>
      <p:sp>
        <p:nvSpPr>
          <p:cNvPr id="205" name="Google Shape;205;p18"/>
          <p:cNvSpPr txBox="1"/>
          <p:nvPr/>
        </p:nvSpPr>
        <p:spPr>
          <a:xfrm>
            <a:off x="144272" y="127592"/>
            <a:ext cx="666855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a:ea typeface="Times"/>
                <a:cs typeface="Times"/>
                <a:sym typeface="Times"/>
              </a:rPr>
              <a:t>Key Principles of Software Engineering</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
          <p:cNvSpPr txBox="1"/>
          <p:nvPr/>
        </p:nvSpPr>
        <p:spPr>
          <a:xfrm>
            <a:off x="391886" y="1040130"/>
            <a:ext cx="8088085" cy="465251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Common Services Provided by Operating System</a:t>
            </a:r>
            <a:endParaRPr dirty="0"/>
          </a:p>
          <a:p>
            <a:pPr marL="0" marR="0" lvl="0" indent="0" algn="just" rtl="0">
              <a:lnSpc>
                <a:spcPct val="100000"/>
              </a:lnSpc>
              <a:spcBef>
                <a:spcPts val="400"/>
              </a:spcBef>
              <a:spcAft>
                <a:spcPts val="0"/>
              </a:spcAft>
              <a:buNone/>
            </a:pPr>
            <a:r>
              <a:rPr lang="en-US" sz="1800" b="0" i="0" u="none" strike="noStrike" cap="none" dirty="0">
                <a:solidFill>
                  <a:srgbClr val="000000"/>
                </a:solidFill>
                <a:latin typeface="Times New Roman"/>
                <a:ea typeface="Times New Roman"/>
                <a:cs typeface="Times New Roman"/>
                <a:sym typeface="Times New Roman"/>
              </a:rPr>
              <a:t>Common services that are provided by the operating system are as follows:</a:t>
            </a:r>
          </a:p>
          <a:p>
            <a:pPr marL="0" marR="0" lvl="0" indent="0" algn="just" rtl="0">
              <a:lnSpc>
                <a:spcPct val="100000"/>
              </a:lnSpc>
              <a:spcBef>
                <a:spcPts val="400"/>
              </a:spcBef>
              <a:spcAft>
                <a:spcPts val="0"/>
              </a:spcAft>
              <a:buNone/>
            </a:pPr>
            <a:endParaRPr dirty="0"/>
          </a:p>
          <a:p>
            <a:pPr marL="0" marR="0" lvl="0" indent="-114300" algn="just" rtl="0">
              <a:lnSpc>
                <a:spcPct val="100000"/>
              </a:lnSpc>
              <a:spcBef>
                <a:spcPts val="10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Program Execution:</a:t>
            </a:r>
            <a:r>
              <a:rPr lang="en-US" sz="1800" b="0" i="0" u="none" strike="noStrike" cap="none" dirty="0">
                <a:solidFill>
                  <a:srgbClr val="000000"/>
                </a:solidFill>
                <a:latin typeface="Times New Roman"/>
                <a:ea typeface="Times New Roman"/>
                <a:cs typeface="Times New Roman"/>
                <a:sym typeface="Times New Roman"/>
              </a:rPr>
              <a:t> Operating systems help in handling a lot of activities from user programs to system programs. </a:t>
            </a:r>
            <a:endParaRPr dirty="0"/>
          </a:p>
          <a:p>
            <a:pPr marL="0" marR="0" lvl="0" indent="-114300" algn="just" rtl="0">
              <a:lnSpc>
                <a:spcPct val="100000"/>
              </a:lnSpc>
              <a:spcBef>
                <a:spcPts val="10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I/O Operation:</a:t>
            </a:r>
            <a:r>
              <a:rPr lang="en-US" sz="1800" b="0" i="0" u="none" strike="noStrike" cap="none" dirty="0">
                <a:solidFill>
                  <a:srgbClr val="000000"/>
                </a:solidFill>
                <a:latin typeface="Times New Roman"/>
                <a:ea typeface="Times New Roman"/>
                <a:cs typeface="Times New Roman"/>
                <a:sym typeface="Times New Roman"/>
              </a:rPr>
              <a:t> An I/O subsystem consists of </a:t>
            </a:r>
            <a:r>
              <a:rPr lang="en-US" sz="1800" b="1" i="0" u="none" strike="noStrike" cap="none" dirty="0">
                <a:solidFill>
                  <a:srgbClr val="000000"/>
                </a:solidFill>
                <a:latin typeface="Times New Roman"/>
                <a:ea typeface="Times New Roman"/>
                <a:cs typeface="Times New Roman"/>
                <a:sym typeface="Times New Roman"/>
              </a:rPr>
              <a:t>I/O devices</a:t>
            </a:r>
            <a:r>
              <a:rPr lang="en-US" sz="1800" b="0" i="0" u="none" strike="noStrike" cap="none" dirty="0">
                <a:solidFill>
                  <a:srgbClr val="000000"/>
                </a:solidFill>
                <a:latin typeface="Times New Roman"/>
                <a:ea typeface="Times New Roman"/>
                <a:cs typeface="Times New Roman"/>
                <a:sym typeface="Times New Roman"/>
              </a:rPr>
              <a:t> and their corresponding driver software. The operating system helps in managing the communication between the user and the device drivers.</a:t>
            </a:r>
            <a:endParaRPr dirty="0"/>
          </a:p>
          <a:p>
            <a:pPr marL="0" marR="0" lvl="0" indent="-114300" algn="just" rtl="0">
              <a:lnSpc>
                <a:spcPct val="100000"/>
              </a:lnSpc>
              <a:spcBef>
                <a:spcPts val="10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File System Manipulation:</a:t>
            </a:r>
            <a:r>
              <a:rPr lang="en-US" sz="1800" b="0" i="0" u="none" strike="noStrike" cap="none" dirty="0">
                <a:solidFill>
                  <a:srgbClr val="000000"/>
                </a:solidFill>
                <a:latin typeface="Times New Roman"/>
                <a:ea typeface="Times New Roman"/>
                <a:cs typeface="Times New Roman"/>
                <a:sym typeface="Times New Roman"/>
              </a:rPr>
              <a:t> Computers can store the data or the files (Collection of data) in its secondary storage for long-term storage purposes. Operating system provides a program to read or write the information.</a:t>
            </a:r>
            <a:endParaRPr dirty="0"/>
          </a:p>
          <a:p>
            <a:pPr marL="0" marR="0" lvl="0" indent="-114300" algn="just" rtl="0">
              <a:lnSpc>
                <a:spcPct val="100000"/>
              </a:lnSpc>
              <a:spcBef>
                <a:spcPts val="10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Communication:</a:t>
            </a:r>
            <a:r>
              <a:rPr lang="en-US" sz="1800" b="0" i="0" u="none" strike="noStrike" cap="none" dirty="0">
                <a:solidFill>
                  <a:srgbClr val="000000"/>
                </a:solidFill>
                <a:latin typeface="Times New Roman"/>
                <a:ea typeface="Times New Roman"/>
                <a:cs typeface="Times New Roman"/>
                <a:sym typeface="Times New Roman"/>
              </a:rPr>
              <a:t> The Operating System handles the routes and the connecting strategies, and the problems of security.</a:t>
            </a:r>
            <a:endParaRPr dirty="0"/>
          </a:p>
          <a:p>
            <a:pPr marL="0" marR="0" lvl="0" indent="0" algn="l" rtl="0">
              <a:lnSpc>
                <a:spcPct val="100000"/>
              </a:lnSpc>
              <a:spcBef>
                <a:spcPts val="100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11" name="Google Shape;211;p3"/>
          <p:cNvSpPr txBox="1"/>
          <p:nvPr/>
        </p:nvSpPr>
        <p:spPr>
          <a:xfrm>
            <a:off x="137160" y="91440"/>
            <a:ext cx="475488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chemeClr val="dk1"/>
                </a:solidFill>
                <a:latin typeface="Times New Roman"/>
                <a:ea typeface="Times New Roman"/>
                <a:cs typeface="Times New Roman"/>
                <a:sym typeface="Times New Roman"/>
              </a:rPr>
              <a:t>Functions of the Software</a:t>
            </a:r>
            <a:endParaRPr sz="32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5"/>
          <p:cNvSpPr txBox="1"/>
          <p:nvPr/>
        </p:nvSpPr>
        <p:spPr>
          <a:xfrm>
            <a:off x="582929" y="1257300"/>
            <a:ext cx="7711985" cy="2564805"/>
          </a:xfrm>
          <a:prstGeom prst="rect">
            <a:avLst/>
          </a:prstGeom>
          <a:noFill/>
          <a:ln>
            <a:noFill/>
          </a:ln>
        </p:spPr>
        <p:txBody>
          <a:bodyPr spcFirstLastPara="1" wrap="square" lIns="91425" tIns="45700" rIns="91425" bIns="45700" anchor="t" anchorCtr="0">
            <a:spAutoFit/>
          </a:bodyPr>
          <a:lstStyle/>
          <a:p>
            <a:pPr marL="0" marR="0" lvl="0" indent="-114300" algn="just"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Error Handling:</a:t>
            </a:r>
            <a:r>
              <a:rPr lang="en-US" sz="1800" b="0" i="0" u="none" strike="noStrike" cap="none">
                <a:solidFill>
                  <a:srgbClr val="000000"/>
                </a:solidFill>
                <a:latin typeface="Times New Roman"/>
                <a:ea typeface="Times New Roman"/>
                <a:cs typeface="Times New Roman"/>
                <a:sym typeface="Times New Roman"/>
              </a:rPr>
              <a:t> The operating system constantly keeps on looking for any possible errors. It also takes an appropriate measure to correct the error and ensure consistent computing.</a:t>
            </a:r>
            <a:endParaRPr/>
          </a:p>
          <a:p>
            <a:pPr marL="0" marR="0" lvl="0" indent="-114300" algn="just" rtl="0">
              <a:lnSpc>
                <a:spcPct val="100000"/>
              </a:lnSpc>
              <a:spcBef>
                <a:spcPts val="1000"/>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Resource Management:</a:t>
            </a:r>
            <a:r>
              <a:rPr lang="en-US" sz="1800" b="0" i="0" u="none" strike="noStrike" cap="none">
                <a:solidFill>
                  <a:srgbClr val="000000"/>
                </a:solidFill>
                <a:latin typeface="Times New Roman"/>
                <a:ea typeface="Times New Roman"/>
                <a:cs typeface="Times New Roman"/>
                <a:sym typeface="Times New Roman"/>
              </a:rPr>
              <a:t> The Operating  System is responsible for managing all kinds of resources using schedulers. </a:t>
            </a:r>
            <a:endParaRPr/>
          </a:p>
          <a:p>
            <a:pPr marL="0" marR="0" lvl="0" indent="-114300" algn="just" rtl="0">
              <a:lnSpc>
                <a:spcPct val="100000"/>
              </a:lnSpc>
              <a:spcBef>
                <a:spcPts val="1000"/>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Protection:</a:t>
            </a:r>
            <a:r>
              <a:rPr lang="en-US" sz="1800" b="0" i="0" u="none" strike="noStrike" cap="none">
                <a:solidFill>
                  <a:srgbClr val="000000"/>
                </a:solidFill>
                <a:latin typeface="Times New Roman"/>
                <a:ea typeface="Times New Roman"/>
                <a:cs typeface="Times New Roman"/>
                <a:sym typeface="Times New Roman"/>
              </a:rPr>
              <a:t> The operating system ensures that all the access to the systems’ resources is controlled. It also provides authentication facilities like passwords.</a:t>
            </a:r>
            <a:endParaRPr/>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p:txBody>
      </p:sp>
      <p:sp>
        <p:nvSpPr>
          <p:cNvPr id="217" name="Google Shape;217;p5"/>
          <p:cNvSpPr txBox="1"/>
          <p:nvPr/>
        </p:nvSpPr>
        <p:spPr>
          <a:xfrm>
            <a:off x="104501" y="211183"/>
            <a:ext cx="592618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Functions of the Software (contd.)</a:t>
            </a:r>
            <a:endParaRPr sz="28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0"/>
          <p:cNvSpPr txBox="1"/>
          <p:nvPr/>
        </p:nvSpPr>
        <p:spPr>
          <a:xfrm>
            <a:off x="89554" y="275717"/>
            <a:ext cx="73953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Bibliography</a:t>
            </a:r>
            <a:endParaRPr sz="1400" b="0" i="0" u="none" strike="noStrike" cap="none">
              <a:solidFill>
                <a:srgbClr val="000000"/>
              </a:solidFill>
              <a:latin typeface="Arial"/>
              <a:ea typeface="Arial"/>
              <a:cs typeface="Arial"/>
              <a:sym typeface="Arial"/>
            </a:endParaRPr>
          </a:p>
        </p:txBody>
      </p:sp>
      <p:sp>
        <p:nvSpPr>
          <p:cNvPr id="223" name="Google Shape;223;p20"/>
          <p:cNvSpPr txBox="1"/>
          <p:nvPr/>
        </p:nvSpPr>
        <p:spPr>
          <a:xfrm>
            <a:off x="349914" y="1164324"/>
            <a:ext cx="7395327" cy="286232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http://www.itinfo.am/eng/software-development-methodologies/</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https://www.tutorialspoint.com/software_engineering/software_design_strategies.htm</a:t>
            </a:r>
            <a:r>
              <a:rPr lang="en-US" sz="18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https://www.softwaretestinghelp.com/types-of-software-testing/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https://www.tutorialspoint.com/software_testing_dictionary/alpha_testing.htm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https://www.tutorialspoint.com/software_testing_dictionary/validation_testing.htm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https://www.tutorialspoint.com/software_testing_dictionary/acceptance_testing.htm</a:t>
            </a: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9"/>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Practice Questions</a:t>
            </a:r>
            <a:endParaRPr sz="3600" b="0" i="0" u="none" strike="noStrike" cap="none">
              <a:solidFill>
                <a:schemeClr val="dk1"/>
              </a:solidFill>
              <a:latin typeface="Times"/>
              <a:ea typeface="Times"/>
              <a:cs typeface="Times"/>
              <a:sym typeface="Times"/>
            </a:endParaRPr>
          </a:p>
        </p:txBody>
      </p:sp>
      <p:sp>
        <p:nvSpPr>
          <p:cNvPr id="229" name="Google Shape;229;p19"/>
          <p:cNvSpPr txBox="1"/>
          <p:nvPr/>
        </p:nvSpPr>
        <p:spPr>
          <a:xfrm>
            <a:off x="438807" y="1159155"/>
            <a:ext cx="7556938" cy="304698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How is Software classified?</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are the five functions of the Software?</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is the main difference between a computer program and computer software?</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is computer software?</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is mean by software scope?</a:t>
            </a:r>
            <a:endParaRPr sz="1400" b="0" i="0" u="none" strike="noStrike" cap="none">
              <a:solidFill>
                <a:srgbClr val="000000"/>
              </a:solidFill>
              <a:latin typeface="Arial"/>
              <a:ea typeface="Arial"/>
              <a:cs typeface="Arial"/>
              <a:sym typeface="Arial"/>
            </a:endParaRPr>
          </a:p>
          <a:p>
            <a:pPr marL="285750" marR="0" lvl="0" indent="-13335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a:ea typeface="Times"/>
              <a:cs typeface="Times"/>
              <a:sym typeface="Times"/>
            </a:endParaRPr>
          </a:p>
          <a:p>
            <a:pPr marL="285750" marR="0" lvl="0" indent="-13335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a:ea typeface="Times"/>
              <a:cs typeface="Times"/>
              <a:sym typeface="Time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sp>
        <p:nvSpPr>
          <p:cNvPr id="235" name="Google Shape;235;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id="236" name="Google Shape;236;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2525</Words>
  <Application>Microsoft Office PowerPoint</Application>
  <PresentationFormat>On-screen Show (4:3)</PresentationFormat>
  <Paragraphs>203</Paragraphs>
  <Slides>23</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jashan preet</cp:lastModifiedBy>
  <cp:revision>5</cp:revision>
  <dcterms:created xsi:type="dcterms:W3CDTF">2010-04-09T07:36:15Z</dcterms:created>
  <dcterms:modified xsi:type="dcterms:W3CDTF">2025-02-01T03:47:49Z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